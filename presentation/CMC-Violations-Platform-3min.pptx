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عرض" id="{1123d616-5a77-fc66-8712-990681ef3cf5}">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منصة إدارة المخالفات: نظام إلكتروني واحد يتابع المخالفة من رصدها حتى إغلاقها، ويحفظ أثر كل إجراء.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[0:10–0:30] أربعة أهداف: ملف واحد، مدد لا تفوت، مساءلة، رؤية فورية. والأرقام من النظام نفسه: 24 مرحلة، 9 أدوار، 53 صلاحية، 20 تقريراً، تغطي 19 محافظة بثلاثة مستويات اطلاع.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[0:30–1:10] الصف الأول مسار المصادقات حتى إصدار الإنذار: تسجيل، مصادقة رئيس الهيئة، موقف فني، رأي قانوني يصادقه شخص ثانٍ، موافقة الإصدار، ثم الإنذار من قالب معتمد. الصف الثاني بعد التبليغ: وصل الاستلام يبدأ المدة آلياً، ثم استجابة أو اعتراض أو عدم استجابة، ثم تحقق نهائي وإغلاق يعتمده غير طالبه. لا انتقال تلقائي دون قرار: انتهاء المدة لا يفتح دعوى، وقبول الاستجابة لا يغلق الملف.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[1:10–1:45] تسعة أدوار تطابق الهيكل الإداري. موظف التسجيل يبدأ الملف، والفني والقانوني يعدّان الموقف والرأي، ورئيس الهيئة يملك القرارات العليا: المصادقة، والإنذار، والتمديد، والإغلاق. المالي للتسديدات، والتبليغات للوصولات، والإدارة العليا للاطلاع والتقارير. ومدير النظام تقني فقط بلا أي صلاحية مصادقة.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[1:45–2:10] المدد تستند إلى قواعد بسندها ولا تتغير بأثر رجعي. سجل التدقيق متسلسل يكشف أي عبث. والحماية في قاعدة البيانات نفسها لا في الواجهة فقط. النسخ الاحتياطي مشفّر واستعادته مختبرة، وكل الاختبارات ناجحة.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[2:10–2:25] المنصة منشورة وتعمل الآن: قائمة المخالفات بالبحث والفلاتر، والإنذار بهوية الهيئة، والتقارير. يمكن تجربتها بالحسابات التجريبية.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[2:25–2:45] المنصة جاهزة تقنياً. نطلب أربعة قرارات: مكان الاستضافة، وتكليف الدائرة القانونية بقواعد المدد والقوالب، وتجربة لمدة شهر واحد في مكتب ذي قار، وتسمية مسؤول المنصة.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[2:45–3:00] نختم بالشكر للسيد رئيس الجهاز التنفيذي الأستاذ بليغ أبو الكلل على رعايته لمسيرة التحول الرقمي، وللقائمين على دورة الذكاء الاصطناعي، فهذه المنصة ثمرة مما تعلّمناه معهم. شكراً لحسن استماعكم.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A314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0" y="6400800"/>
            <a:ext cx="7848295" cy="274320"/>
          </a:xfrm>
          <a:prstGeom prst="rect">
            <a:avLst/>
          </a:prstGeom>
          <a:noFill/>
          <a:ln/>
        </p:spPr>
        <p:txBody>
          <a:bodyPr wrap="square" lIns="0" tIns="0" rIns="0" bIns="0" rtlCol="0" anchor="ctr"/>
          <a:lstStyle/>
          <a:p>
            <a:pPr algn="r" indent="0" marL="0">
              <a:buNone/>
            </a:pPr>
            <a:r>
              <a:rPr lang="ar-IQ" altLang="en-US" sz="1000" dirty="0">
                <a:solidFill>
                  <a:schemeClr val="accent5"/>
                </a:solidFill>
              </a:rPr>
              <a:t>هيئة الإعلام والاتصالات — منصة إدارة المخالفات</a:t>
            </a:r>
            <a:endParaRPr lang="ar-IQ" sz="1000" dirty="0"/>
          </a:p>
        </p:txBody>
      </p:sp>
      <p:pic>
        <p:nvPicPr>
          <p:cNvPr id="3" name="Image 0" descr="/tmp/claude-0/-home-user-my-platform/8a9348b8-66ad-54f5-9996-cada56976f34/scratchpad/deck-assets/cmc-emblem.png">    </p:cNvPr>
          <p:cNvPicPr>
            <a:picLocks noChangeAspect="1"/>
          </p:cNvPicPr>
          <p:nvPr/>
        </p:nvPicPr>
        <p:blipFill>
          <a:blip r:embed="rId1"/>
          <a:stretch>
            <a:fillRect/>
          </a:stretch>
        </p:blipFill>
        <p:spPr>
          <a:xfrm>
            <a:off x="11304727" y="292608"/>
            <a:ext cx="384048" cy="384048"/>
          </a:xfrm>
          <a:prstGeom prst="rect">
            <a:avLst/>
          </a:prstGeom>
        </p:spPr>
      </p:pic>
      <p:sp>
        <p:nvSpPr>
          <p:cNvPr id="4" name="Text 1"/>
          <p:cNvSpPr/>
          <p:nvPr>
            <p:ph idx="102" type="title" hasCustomPrompt="1"/>
          </p:nvPr>
        </p:nvSpPr>
        <p:spPr>
          <a:xfrm>
            <a:off x="502920" y="228600"/>
            <a:ext cx="10682935" cy="548640"/>
          </a:xfrm>
          <a:prstGeom prst="rect">
            <a:avLst/>
          </a:prstGeom>
          <a:noFill/>
          <a:ln/>
        </p:spPr>
        <p:txBody>
          <a:bodyPr wrap="square" rtlCol="0"/>
          <a:lstStyle>
            <a:lvl1pPr rtl="1" algn="r" indent="0" marL="0">
              <a:buNone/>
              <a:defRPr lang="ar-IQ" altLang="en-US" sz="2800" b="1" dirty="0">
                <a:solidFill>
                  <a:schemeClr val="tx1"/>
                </a:solidFill>
              </a:defRPr>
            </a:lvl1pPr>
          </a:lstStyle>
          <a:p>
            <a:pPr algn="r" indent="0" marL="0">
              <a:buNone/>
            </a:pPr>
            <a:endParaRPr lang="ar-IQ" sz="2800" dirty="0"/>
          </a:p>
        </p:txBody>
      </p:sp>
      <p:sp>
        <p:nvSpPr>
          <p:cNvPr id="5" name="Text 1"/>
          <p:cNvSpPr/>
          <p:nvPr>
            <p:ph idx="103" type="body" hasCustomPrompt="1"/>
          </p:nvPr>
        </p:nvSpPr>
        <p:spPr>
          <a:xfrm>
            <a:off x="502920" y="777240"/>
            <a:ext cx="10682935" cy="274320"/>
          </a:xfrm>
          <a:prstGeom prst="rect">
            <a:avLst/>
          </a:prstGeom>
          <a:noFill/>
          <a:ln/>
        </p:spPr>
        <p:txBody>
          <a:bodyPr wrap="square" rtlCol="0"/>
          <a:lstStyle>
            <a:lvl1pPr rtl="1" algn="r" indent="0" marL="0">
              <a:buNone/>
              <a:defRPr lang="ar-IQ" altLang="en-US" sz="1200" dirty="0">
                <a:solidFill>
                  <a:schemeClr val="accent5"/>
                </a:solidFill>
              </a:defRPr>
            </a:lvl1pPr>
          </a:lstStyle>
          <a:p>
            <a:pPr algn="r" indent="0" marL="0">
              <a:buNone/>
            </a:pPr>
            <a:endParaRPr lang="ar-IQ" sz="1200" dirty="0"/>
          </a:p>
        </p:txBody>
      </p:sp>
      <p:sp>
        <p:nvSpPr>
          <p:cNvPr id="25" name="Slide Number Placeholder 0"/>
          <p:cNvSpPr>
            <a:spLocks noGrp="1"/>
          </p:cNvSpPr>
          <p:nvPr>
            <p:ph type="sldNum" sz="quarter" idx="4294967295"/>
          </p:nvPr>
        </p:nvSpPr>
        <p:spPr>
          <a:xfrm>
            <a:off x="5029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068"/>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2A314D"/>
        </a:solidFill>
      </p:bgPr>
    </p:bg>
    <p:spTree>
      <p:nvGrpSpPr>
        <p:cNvPr id="1" name=""/>
        <p:cNvGrpSpPr/>
        <p:nvPr/>
      </p:nvGrpSpPr>
      <p:grpSpPr>
        <a:xfrm>
          <a:off x="0" y="0"/>
          <a:ext cx="0" cy="0"/>
          <a:chOff x="0" y="0"/>
          <a:chExt cx="0" cy="0"/>
        </a:xfrm>
      </p:grpSpPr>
      <p:sp>
        <p:nvSpPr>
          <p:cNvPr id="2" name="Text 0"/>
          <p:cNvSpPr/>
          <p:nvPr/>
        </p:nvSpPr>
        <p:spPr>
          <a:xfrm>
            <a:off x="3840480" y="6400800"/>
            <a:ext cx="7848295" cy="274320"/>
          </a:xfrm>
          <a:prstGeom prst="rect">
            <a:avLst/>
          </a:prstGeom>
          <a:noFill/>
          <a:ln/>
        </p:spPr>
        <p:txBody>
          <a:bodyPr wrap="square" lIns="0" tIns="0" rIns="0" bIns="0" rtlCol="0" anchor="ctr"/>
          <a:lstStyle/>
          <a:p>
            <a:pPr algn="r" indent="0" marL="0">
              <a:buNone/>
            </a:pPr>
            <a:r>
              <a:rPr lang="ar-IQ" altLang="en-US" sz="1000" dirty="0">
                <a:solidFill>
                  <a:schemeClr val="accent3"/>
                </a:solidFill>
              </a:rPr>
              <a:t>هيئة الإعلام والاتصالات — منصة إدارة المخالفات</a:t>
            </a:r>
            <a:endParaRPr lang="ar-IQ" sz="1000" dirty="0"/>
          </a:p>
        </p:txBody>
      </p:sp>
      <p:pic>
        <p:nvPicPr>
          <p:cNvPr id="3" name="Image 0" descr="/tmp/claude-0/-home-user-my-platform/8a9348b8-66ad-54f5-9996-cada56976f34/scratchpad/deck-assets/cmc-emblem.png">    </p:cNvPr>
          <p:cNvPicPr>
            <a:picLocks noChangeAspect="1"/>
          </p:cNvPicPr>
          <p:nvPr/>
        </p:nvPicPr>
        <p:blipFill>
          <a:blip r:embed="rId1"/>
          <a:stretch>
            <a:fillRect/>
          </a:stretch>
        </p:blipFill>
        <p:spPr>
          <a:xfrm>
            <a:off x="11304727" y="292608"/>
            <a:ext cx="384048" cy="384048"/>
          </a:xfrm>
          <a:prstGeom prst="rect">
            <a:avLst/>
          </a:prstGeom>
        </p:spPr>
      </p:pic>
      <p:sp>
        <p:nvSpPr>
          <p:cNvPr id="4" name="Text 1"/>
          <p:cNvSpPr/>
          <p:nvPr>
            <p:ph idx="102" type="title" hasCustomPrompt="1"/>
          </p:nvPr>
        </p:nvSpPr>
        <p:spPr>
          <a:xfrm>
            <a:off x="502920" y="228600"/>
            <a:ext cx="10682935" cy="548640"/>
          </a:xfrm>
          <a:prstGeom prst="rect">
            <a:avLst/>
          </a:prstGeom>
          <a:noFill/>
          <a:ln/>
        </p:spPr>
        <p:txBody>
          <a:bodyPr wrap="square" rtlCol="0"/>
          <a:lstStyle>
            <a:lvl1pPr rtl="1" algn="r" indent="0" marL="0">
              <a:buNone/>
              <a:defRPr lang="ar-IQ" altLang="en-US" sz="2800" b="1" dirty="0">
                <a:solidFill>
                  <a:schemeClr val="bg1"/>
                </a:solidFill>
              </a:defRPr>
            </a:lvl1pPr>
          </a:lstStyle>
          <a:p>
            <a:pPr algn="r" indent="0" marL="0">
              <a:buNone/>
            </a:pPr>
            <a:endParaRPr lang="ar-IQ" sz="2800" dirty="0"/>
          </a:p>
        </p:txBody>
      </p:sp>
      <p:sp>
        <p:nvSpPr>
          <p:cNvPr id="5" name="Text 1"/>
          <p:cNvSpPr/>
          <p:nvPr>
            <p:ph idx="103" type="body" hasCustomPrompt="1"/>
          </p:nvPr>
        </p:nvSpPr>
        <p:spPr>
          <a:xfrm>
            <a:off x="502920" y="777240"/>
            <a:ext cx="10682935" cy="274320"/>
          </a:xfrm>
          <a:prstGeom prst="rect">
            <a:avLst/>
          </a:prstGeom>
          <a:noFill/>
          <a:ln/>
        </p:spPr>
        <p:txBody>
          <a:bodyPr wrap="square" rtlCol="0"/>
          <a:lstStyle>
            <a:lvl1pPr rtl="1" algn="r" indent="0" marL="0">
              <a:buNone/>
              <a:defRPr lang="ar-IQ" altLang="en-US" sz="1200" dirty="0">
                <a:solidFill>
                  <a:schemeClr val="accent3"/>
                </a:solidFill>
              </a:defRPr>
            </a:lvl1pPr>
          </a:lstStyle>
          <a:p>
            <a:pPr algn="r" indent="0" marL="0">
              <a:buNone/>
            </a:pPr>
            <a:endParaRPr lang="ar-IQ" sz="1200" dirty="0"/>
          </a:p>
        </p:txBody>
      </p:sp>
      <p:sp>
        <p:nvSpPr>
          <p:cNvPr id="25" name="Slide Number Placeholder 0"/>
          <p:cNvSpPr>
            <a:spLocks noGrp="1"/>
          </p:cNvSpPr>
          <p:nvPr>
            <p:ph type="sldNum" sz="quarter" idx="4294967295"/>
          </p:nvPr>
        </p:nvSpPr>
        <p:spPr>
          <a:xfrm>
            <a:off x="5029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5D9E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06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hyperlink" Target="https://my-platform-0l1t.netlify.app"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disc"/>
          <p:cNvSpPr/>
          <p:nvPr/>
        </p:nvSpPr>
        <p:spPr>
          <a:xfrm>
            <a:off x="9859975" y="914400"/>
            <a:ext cx="1828800" cy="1828800"/>
          </a:xfrm>
          <a:prstGeom prst="ellipse">
            <a:avLst/>
          </a:prstGeom>
          <a:solidFill>
            <a:schemeClr val="bg1"/>
          </a:solidFill>
          <a:ln/>
        </p:spPr>
      </p:sp>
      <p:pic>
        <p:nvPicPr>
          <p:cNvPr id="3" name="logo" descr="شعار هيئة الإعلام والاتصالات">    </p:cNvPr>
          <p:cNvPicPr>
            <a:picLocks noChangeAspect="1"/>
          </p:cNvPicPr>
          <p:nvPr/>
        </p:nvPicPr>
        <p:blipFill>
          <a:blip r:embed="rId1"/>
          <a:stretch>
            <a:fillRect/>
          </a:stretch>
        </p:blipFill>
        <p:spPr>
          <a:xfrm>
            <a:off x="9923983" y="978408"/>
            <a:ext cx="1700784" cy="1700784"/>
          </a:xfrm>
          <a:prstGeom prst="rect">
            <a:avLst/>
          </a:prstGeom>
        </p:spPr>
      </p:pic>
      <p:pic>
        <p:nvPicPr>
          <p:cNvPr id="4" name="wordmark" descr="جمهورية العراق — هيئة الإعلام والاتصالات">    </p:cNvPr>
          <p:cNvPicPr>
            <a:picLocks noChangeAspect="1"/>
          </p:cNvPicPr>
          <p:nvPr/>
        </p:nvPicPr>
        <p:blipFill>
          <a:blip r:embed="rId2"/>
          <a:stretch>
            <a:fillRect/>
          </a:stretch>
        </p:blipFill>
        <p:spPr>
          <a:xfrm>
            <a:off x="4373575" y="960120"/>
            <a:ext cx="5120640" cy="1764792"/>
          </a:xfrm>
          <a:prstGeom prst="rect">
            <a:avLst/>
          </a:prstGeom>
        </p:spPr>
      </p:pic>
      <p:sp>
        <p:nvSpPr>
          <p:cNvPr id="5" name="Text 1"/>
          <p:cNvSpPr txBox="1"/>
          <p:nvPr/>
        </p:nvSpPr>
        <p:spPr>
          <a:xfrm>
            <a:off x="502920" y="3246120"/>
            <a:ext cx="11185855" cy="1005840"/>
          </a:xfrm>
          <a:prstGeom prst="rect">
            <a:avLst/>
          </a:prstGeom>
          <a:noFill/>
          <a:ln/>
        </p:spPr>
        <p:txBody>
          <a:bodyPr wrap="square" lIns="0" tIns="0" rIns="0" bIns="0" rtlCol="0" anchor="t"/>
          <a:lstStyle/>
          <a:p>
            <a:pPr rtl="1" algn="r" indent="0" marL="0">
              <a:buNone/>
            </a:pPr>
            <a:r>
              <a:rPr lang="ar-IQ" altLang="en-US" sz="5400" b="1" dirty="0">
                <a:solidFill>
                  <a:schemeClr val="bg1"/>
                </a:solidFill>
              </a:rPr>
              <a:t>منصة إدارة المخالفات</a:t>
            </a:r>
            <a:endParaRPr lang="ar-IQ" sz="5400" dirty="0"/>
          </a:p>
        </p:txBody>
      </p:sp>
      <p:sp>
        <p:nvSpPr>
          <p:cNvPr id="6" name="Text 2"/>
          <p:cNvSpPr txBox="1"/>
          <p:nvPr/>
        </p:nvSpPr>
        <p:spPr>
          <a:xfrm>
            <a:off x="502920" y="4343400"/>
            <a:ext cx="11185855" cy="548640"/>
          </a:xfrm>
          <a:prstGeom prst="rect">
            <a:avLst/>
          </a:prstGeom>
          <a:noFill/>
          <a:ln/>
        </p:spPr>
        <p:txBody>
          <a:bodyPr wrap="square" lIns="0" tIns="0" rIns="0" bIns="0" rtlCol="0" anchor="t"/>
          <a:lstStyle/>
          <a:p>
            <a:pPr rtl="1" algn="r" indent="0" marL="0">
              <a:buNone/>
            </a:pPr>
            <a:r>
              <a:rPr lang="ar-IQ" altLang="en-US" sz="2200" dirty="0">
                <a:solidFill>
                  <a:srgbClr val="D5D9E6"/>
                </a:solidFill>
              </a:rPr>
              <a:t>نظام موحّد يدير دورة المخالفة كاملة، من رصدها حتى إغلاقها الموثّق</a:t>
            </a:r>
            <a:endParaRPr lang="ar-IQ" sz="2200" dirty="0"/>
          </a:p>
        </p:txBody>
      </p:sp>
      <p:sp>
        <p:nvSpPr>
          <p:cNvPr id="7" name="Text 3"/>
          <p:cNvSpPr txBox="1"/>
          <p:nvPr/>
        </p:nvSpPr>
        <p:spPr>
          <a:xfrm>
            <a:off x="502920" y="6217920"/>
            <a:ext cx="11185855" cy="365760"/>
          </a:xfrm>
          <a:prstGeom prst="rect">
            <a:avLst/>
          </a:prstGeom>
          <a:noFill/>
          <a:ln/>
        </p:spPr>
        <p:txBody>
          <a:bodyPr wrap="square" lIns="0" tIns="0" rIns="0" bIns="0" rtlCol="0" anchor="t"/>
          <a:lstStyle/>
          <a:p>
            <a:pPr rtl="1" algn="r" indent="0" marL="0">
              <a:buNone/>
            </a:pPr>
            <a:r>
              <a:rPr lang="ar-IQ" altLang="en-US" sz="1400" dirty="0">
                <a:solidFill>
                  <a:srgbClr val="D5D9E6"/>
                </a:solidFill>
              </a:rPr>
              <a:t>عرض مختصر — تشرين الأول 2026</a:t>
            </a:r>
            <a:endParaRPr lang="ar-IQ"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02920" y="228600"/>
            <a:ext cx="10682935" cy="548640"/>
          </a:xfrm>
          <a:prstGeom prst="rect">
            <a:avLst/>
          </a:prstGeom>
          <a:noFill/>
          <a:ln/>
        </p:spPr>
        <p:txBody>
          <a:bodyPr wrap="square" lIns="0" tIns="0" rIns="0" bIns="0" rtlCol="0" anchor="ctr"/>
          <a:lstStyle/>
          <a:p>
            <a:pPr rtl="1" algn="r" indent="0" marL="0">
              <a:buNone/>
            </a:pPr>
            <a:r>
              <a:rPr lang="ar-IQ" altLang="en-US" sz="2800" b="1" dirty="0">
                <a:solidFill>
                  <a:schemeClr val="tx1"/>
                </a:solidFill>
              </a:rPr>
              <a:t>المنصة في سطور</a:t>
            </a:r>
            <a:endParaRPr lang="ar-IQ" sz="2800" dirty="0"/>
          </a:p>
        </p:txBody>
      </p:sp>
      <p:sp>
        <p:nvSpPr>
          <p:cNvPr id="3" name="Text 1"/>
          <p:cNvSpPr/>
          <p:nvPr>
            <p:ph idx="103" type="body" hasCustomPrompt="1"/>
          </p:nvPr>
        </p:nvSpPr>
        <p:spPr>
          <a:xfrm>
            <a:off x="502920" y="777240"/>
            <a:ext cx="10682935" cy="274320"/>
          </a:xfrm>
          <a:prstGeom prst="rect">
            <a:avLst/>
          </a:prstGeom>
          <a:noFill/>
          <a:ln/>
        </p:spPr>
        <p:txBody>
          <a:bodyPr wrap="square" lIns="0" tIns="0" rIns="0" bIns="0" rtlCol="0"/>
          <a:lstStyle/>
          <a:p>
            <a:pPr rtl="1" algn="r" indent="0" marL="0">
              <a:buNone/>
            </a:pPr>
            <a:r>
              <a:rPr lang="ar-IQ" altLang="en-US" sz="1200" dirty="0">
                <a:solidFill>
                  <a:schemeClr val="accent5"/>
                </a:solidFill>
              </a:rPr>
              <a:t>ماذا تقدّم</a:t>
            </a:r>
            <a:endParaRPr lang="ar-IQ" sz="1200" dirty="0"/>
          </a:p>
        </p:txBody>
      </p:sp>
      <p:sp>
        <p:nvSpPr>
          <p:cNvPr id="4" name="pillar-1"/>
          <p:cNvSpPr/>
          <p:nvPr/>
        </p:nvSpPr>
        <p:spPr>
          <a:xfrm>
            <a:off x="9063761" y="1280160"/>
            <a:ext cx="2625014" cy="2331720"/>
          </a:xfrm>
          <a:prstGeom prst="roundRect">
            <a:avLst>
              <a:gd name="adj" fmla="val 3922"/>
            </a:avLst>
          </a:prstGeom>
          <a:solidFill>
            <a:schemeClr val="bg2"/>
          </a:solidFill>
          <a:ln/>
        </p:spPr>
      </p:sp>
      <p:sp>
        <p:nvSpPr>
          <p:cNvPr id="5" name="pillar-icon-1-circle"/>
          <p:cNvSpPr/>
          <p:nvPr/>
        </p:nvSpPr>
        <p:spPr>
          <a:xfrm>
            <a:off x="10957255" y="1508760"/>
            <a:ext cx="502920" cy="502920"/>
          </a:xfrm>
          <a:prstGeom prst="ellipse">
            <a:avLst/>
          </a:prstGeom>
          <a:solidFill>
            <a:schemeClr val="accent1"/>
          </a:solidFill>
          <a:ln/>
        </p:spPr>
      </p:sp>
      <p:pic>
        <p:nvPicPr>
          <p:cNvPr id="6" name="pillar-icon-1" descr="preencoded.png">    </p:cNvPr>
          <p:cNvPicPr>
            <a:picLocks noChangeAspect="1"/>
          </p:cNvPicPr>
          <p:nvPr/>
        </p:nvPicPr>
        <p:blipFill>
          <a:blip r:embed="rId1"/>
          <a:stretch>
            <a:fillRect/>
          </a:stretch>
        </p:blipFill>
        <p:spPr>
          <a:xfrm>
            <a:off x="11067898" y="1619402"/>
            <a:ext cx="281635" cy="281635"/>
          </a:xfrm>
          <a:prstGeom prst="rect">
            <a:avLst/>
          </a:prstGeom>
        </p:spPr>
      </p:pic>
      <p:sp>
        <p:nvSpPr>
          <p:cNvPr id="7" name="Text 4"/>
          <p:cNvSpPr txBox="1"/>
          <p:nvPr/>
        </p:nvSpPr>
        <p:spPr>
          <a:xfrm>
            <a:off x="9292361" y="1481328"/>
            <a:ext cx="1573454" cy="594360"/>
          </a:xfrm>
          <a:prstGeom prst="rect">
            <a:avLst/>
          </a:prstGeom>
          <a:noFill/>
          <a:ln/>
        </p:spPr>
        <p:txBody>
          <a:bodyPr wrap="square" lIns="0" tIns="0" rIns="0" bIns="0" rtlCol="0" anchor="ctr"/>
          <a:lstStyle/>
          <a:p>
            <a:pPr rtl="1" algn="r" indent="0" marL="0">
              <a:buNone/>
            </a:pPr>
            <a:r>
              <a:rPr lang="ar-IQ" altLang="en-US" sz="1600" b="1" dirty="0">
                <a:solidFill>
                  <a:schemeClr val="tx1"/>
                </a:solidFill>
              </a:rPr>
              <a:t>ملف واحد لكل مخالفة</a:t>
            </a:r>
            <a:endParaRPr lang="ar-IQ" sz="1600" dirty="0"/>
          </a:p>
        </p:txBody>
      </p:sp>
      <p:sp>
        <p:nvSpPr>
          <p:cNvPr id="8" name="Text 5"/>
          <p:cNvSpPr txBox="1"/>
          <p:nvPr/>
        </p:nvSpPr>
        <p:spPr>
          <a:xfrm>
            <a:off x="9292361" y="2194560"/>
            <a:ext cx="2167814" cy="1280160"/>
          </a:xfrm>
          <a:prstGeom prst="rect">
            <a:avLst/>
          </a:prstGeom>
          <a:noFill/>
          <a:ln/>
        </p:spPr>
        <p:txBody>
          <a:bodyPr wrap="square" lIns="0" tIns="0" rIns="0" bIns="0" rtlCol="0" anchor="t"/>
          <a:lstStyle/>
          <a:p>
            <a:pPr rtl="1" algn="r" indent="0" marL="0">
              <a:lnSpc>
                <a:spcPct val="120000"/>
              </a:lnSpc>
              <a:buNone/>
            </a:pPr>
            <a:r>
              <a:rPr lang="ar-IQ" altLang="en-US" sz="1300" dirty="0">
                <a:solidFill>
                  <a:schemeClr val="accent2"/>
                </a:solidFill>
              </a:rPr>
              <a:t>المحضر والقرارات والإنذار والمراسلات والمرفقات بإصداراتها في مكان واحد.</a:t>
            </a:r>
            <a:endParaRPr lang="ar-IQ" sz="1300" dirty="0"/>
          </a:p>
        </p:txBody>
      </p:sp>
      <p:sp>
        <p:nvSpPr>
          <p:cNvPr id="9" name="pillar-2"/>
          <p:cNvSpPr/>
          <p:nvPr/>
        </p:nvSpPr>
        <p:spPr>
          <a:xfrm>
            <a:off x="6210148" y="1280160"/>
            <a:ext cx="2625014" cy="2331720"/>
          </a:xfrm>
          <a:prstGeom prst="roundRect">
            <a:avLst>
              <a:gd name="adj" fmla="val 3922"/>
            </a:avLst>
          </a:prstGeom>
          <a:solidFill>
            <a:schemeClr val="bg2"/>
          </a:solidFill>
          <a:ln/>
        </p:spPr>
      </p:sp>
      <p:sp>
        <p:nvSpPr>
          <p:cNvPr id="10" name="pillar-icon-2-circle"/>
          <p:cNvSpPr/>
          <p:nvPr/>
        </p:nvSpPr>
        <p:spPr>
          <a:xfrm>
            <a:off x="8103641" y="1508760"/>
            <a:ext cx="502920" cy="502920"/>
          </a:xfrm>
          <a:prstGeom prst="ellipse">
            <a:avLst/>
          </a:prstGeom>
          <a:solidFill>
            <a:schemeClr val="accent1"/>
          </a:solidFill>
          <a:ln/>
        </p:spPr>
      </p:sp>
      <p:pic>
        <p:nvPicPr>
          <p:cNvPr id="11" name="pillar-icon-2" descr="preencoded.png">    </p:cNvPr>
          <p:cNvPicPr>
            <a:picLocks noChangeAspect="1"/>
          </p:cNvPicPr>
          <p:nvPr/>
        </p:nvPicPr>
        <p:blipFill>
          <a:blip r:embed="rId2"/>
          <a:stretch>
            <a:fillRect/>
          </a:stretch>
        </p:blipFill>
        <p:spPr>
          <a:xfrm>
            <a:off x="8214284" y="1619402"/>
            <a:ext cx="281635" cy="281635"/>
          </a:xfrm>
          <a:prstGeom prst="rect">
            <a:avLst/>
          </a:prstGeom>
        </p:spPr>
      </p:pic>
      <p:sp>
        <p:nvSpPr>
          <p:cNvPr id="12" name="Text 8"/>
          <p:cNvSpPr txBox="1"/>
          <p:nvPr/>
        </p:nvSpPr>
        <p:spPr>
          <a:xfrm>
            <a:off x="6438748" y="1481328"/>
            <a:ext cx="1573454" cy="594360"/>
          </a:xfrm>
          <a:prstGeom prst="rect">
            <a:avLst/>
          </a:prstGeom>
          <a:noFill/>
          <a:ln/>
        </p:spPr>
        <p:txBody>
          <a:bodyPr wrap="square" lIns="0" tIns="0" rIns="0" bIns="0" rtlCol="0" anchor="ctr"/>
          <a:lstStyle/>
          <a:p>
            <a:pPr rtl="1" algn="r" indent="0" marL="0">
              <a:buNone/>
            </a:pPr>
            <a:r>
              <a:rPr lang="ar-IQ" altLang="en-US" sz="1600" b="1" dirty="0">
                <a:solidFill>
                  <a:schemeClr val="tx1"/>
                </a:solidFill>
              </a:rPr>
              <a:t>مدد لا تفوت</a:t>
            </a:r>
            <a:endParaRPr lang="ar-IQ" sz="1600" dirty="0"/>
          </a:p>
        </p:txBody>
      </p:sp>
      <p:sp>
        <p:nvSpPr>
          <p:cNvPr id="13" name="Text 9"/>
          <p:cNvSpPr txBox="1"/>
          <p:nvPr/>
        </p:nvSpPr>
        <p:spPr>
          <a:xfrm>
            <a:off x="6438748" y="2194560"/>
            <a:ext cx="2167814" cy="1280160"/>
          </a:xfrm>
          <a:prstGeom prst="rect">
            <a:avLst/>
          </a:prstGeom>
          <a:noFill/>
          <a:ln/>
        </p:spPr>
        <p:txBody>
          <a:bodyPr wrap="square" lIns="0" tIns="0" rIns="0" bIns="0" rtlCol="0" anchor="t"/>
          <a:lstStyle/>
          <a:p>
            <a:pPr rtl="1" algn="r" indent="0" marL="0">
              <a:lnSpc>
                <a:spcPct val="120000"/>
              </a:lnSpc>
              <a:buNone/>
            </a:pPr>
            <a:r>
              <a:rPr lang="ar-IQ" altLang="en-US" sz="1300" dirty="0">
                <a:solidFill>
                  <a:schemeClr val="accent2"/>
                </a:solidFill>
              </a:rPr>
              <a:t>احتساب من تاريخ الاستلام الفعلي بقاعدة مسندة، وتنبيه قبل الانتهاء وعنده.</a:t>
            </a:r>
            <a:endParaRPr lang="ar-IQ" sz="1300" dirty="0"/>
          </a:p>
        </p:txBody>
      </p:sp>
      <p:sp>
        <p:nvSpPr>
          <p:cNvPr id="14" name="pillar-3"/>
          <p:cNvSpPr/>
          <p:nvPr/>
        </p:nvSpPr>
        <p:spPr>
          <a:xfrm>
            <a:off x="3356534" y="1280160"/>
            <a:ext cx="2625014" cy="2331720"/>
          </a:xfrm>
          <a:prstGeom prst="roundRect">
            <a:avLst>
              <a:gd name="adj" fmla="val 3922"/>
            </a:avLst>
          </a:prstGeom>
          <a:solidFill>
            <a:schemeClr val="bg2"/>
          </a:solidFill>
          <a:ln/>
        </p:spPr>
      </p:sp>
      <p:sp>
        <p:nvSpPr>
          <p:cNvPr id="15" name="pillar-icon-3-circle"/>
          <p:cNvSpPr/>
          <p:nvPr/>
        </p:nvSpPr>
        <p:spPr>
          <a:xfrm>
            <a:off x="5250028" y="1508760"/>
            <a:ext cx="502920" cy="502920"/>
          </a:xfrm>
          <a:prstGeom prst="ellipse">
            <a:avLst/>
          </a:prstGeom>
          <a:solidFill>
            <a:schemeClr val="accent1"/>
          </a:solidFill>
          <a:ln/>
        </p:spPr>
      </p:sp>
      <p:pic>
        <p:nvPicPr>
          <p:cNvPr id="16" name="pillar-icon-3" descr="preencoded.png">    </p:cNvPr>
          <p:cNvPicPr>
            <a:picLocks noChangeAspect="1"/>
          </p:cNvPicPr>
          <p:nvPr/>
        </p:nvPicPr>
        <p:blipFill>
          <a:blip r:embed="rId3"/>
          <a:stretch>
            <a:fillRect/>
          </a:stretch>
        </p:blipFill>
        <p:spPr>
          <a:xfrm>
            <a:off x="5360670" y="1619402"/>
            <a:ext cx="281635" cy="281635"/>
          </a:xfrm>
          <a:prstGeom prst="rect">
            <a:avLst/>
          </a:prstGeom>
        </p:spPr>
      </p:pic>
      <p:sp>
        <p:nvSpPr>
          <p:cNvPr id="17" name="Text 12"/>
          <p:cNvSpPr txBox="1"/>
          <p:nvPr/>
        </p:nvSpPr>
        <p:spPr>
          <a:xfrm>
            <a:off x="3585134" y="1481328"/>
            <a:ext cx="1573454" cy="594360"/>
          </a:xfrm>
          <a:prstGeom prst="rect">
            <a:avLst/>
          </a:prstGeom>
          <a:noFill/>
          <a:ln/>
        </p:spPr>
        <p:txBody>
          <a:bodyPr wrap="square" lIns="0" tIns="0" rIns="0" bIns="0" rtlCol="0" anchor="ctr"/>
          <a:lstStyle/>
          <a:p>
            <a:pPr rtl="1" algn="r" indent="0" marL="0">
              <a:buNone/>
            </a:pPr>
            <a:r>
              <a:rPr lang="ar-IQ" altLang="en-US" sz="1600" b="1" dirty="0">
                <a:solidFill>
                  <a:schemeClr val="tx1"/>
                </a:solidFill>
              </a:rPr>
              <a:t>مساءلة كاملة</a:t>
            </a:r>
            <a:endParaRPr lang="ar-IQ" sz="1600" dirty="0"/>
          </a:p>
        </p:txBody>
      </p:sp>
      <p:sp>
        <p:nvSpPr>
          <p:cNvPr id="18" name="Text 13"/>
          <p:cNvSpPr txBox="1"/>
          <p:nvPr/>
        </p:nvSpPr>
        <p:spPr>
          <a:xfrm>
            <a:off x="3585134" y="2194560"/>
            <a:ext cx="2167814" cy="1280160"/>
          </a:xfrm>
          <a:prstGeom prst="rect">
            <a:avLst/>
          </a:prstGeom>
          <a:noFill/>
          <a:ln/>
        </p:spPr>
        <p:txBody>
          <a:bodyPr wrap="square" lIns="0" tIns="0" rIns="0" bIns="0" rtlCol="0" anchor="t"/>
          <a:lstStyle/>
          <a:p>
            <a:pPr rtl="1" algn="r" indent="0" marL="0">
              <a:lnSpc>
                <a:spcPct val="120000"/>
              </a:lnSpc>
              <a:buNone/>
            </a:pPr>
            <a:r>
              <a:rPr lang="ar-IQ" altLang="en-US" sz="1300" dirty="0">
                <a:solidFill>
                  <a:schemeClr val="accent2"/>
                </a:solidFill>
              </a:rPr>
              <a:t>كل إجراء مسجَّل بمنفّذه ووقته وسببه في سجل لا يُعدَّل ولا يُحذف.</a:t>
            </a:r>
            <a:endParaRPr lang="ar-IQ" sz="1300" dirty="0"/>
          </a:p>
        </p:txBody>
      </p:sp>
      <p:sp>
        <p:nvSpPr>
          <p:cNvPr id="19" name="pillar-4"/>
          <p:cNvSpPr/>
          <p:nvPr/>
        </p:nvSpPr>
        <p:spPr>
          <a:xfrm>
            <a:off x="502920" y="1280160"/>
            <a:ext cx="2625014" cy="2331720"/>
          </a:xfrm>
          <a:prstGeom prst="roundRect">
            <a:avLst>
              <a:gd name="adj" fmla="val 3922"/>
            </a:avLst>
          </a:prstGeom>
          <a:solidFill>
            <a:schemeClr val="bg2"/>
          </a:solidFill>
          <a:ln/>
        </p:spPr>
      </p:sp>
      <p:sp>
        <p:nvSpPr>
          <p:cNvPr id="20" name="pillar-icon-4-circle"/>
          <p:cNvSpPr/>
          <p:nvPr/>
        </p:nvSpPr>
        <p:spPr>
          <a:xfrm>
            <a:off x="2396414" y="1508760"/>
            <a:ext cx="502920" cy="502920"/>
          </a:xfrm>
          <a:prstGeom prst="ellipse">
            <a:avLst/>
          </a:prstGeom>
          <a:solidFill>
            <a:schemeClr val="accent1"/>
          </a:solidFill>
          <a:ln/>
        </p:spPr>
      </p:sp>
      <p:pic>
        <p:nvPicPr>
          <p:cNvPr id="21" name="pillar-icon-4" descr="preencoded.png">    </p:cNvPr>
          <p:cNvPicPr>
            <a:picLocks noChangeAspect="1"/>
          </p:cNvPicPr>
          <p:nvPr/>
        </p:nvPicPr>
        <p:blipFill>
          <a:blip r:embed="rId4"/>
          <a:stretch>
            <a:fillRect/>
          </a:stretch>
        </p:blipFill>
        <p:spPr>
          <a:xfrm>
            <a:off x="2507056" y="1619402"/>
            <a:ext cx="281635" cy="281635"/>
          </a:xfrm>
          <a:prstGeom prst="rect">
            <a:avLst/>
          </a:prstGeom>
        </p:spPr>
      </p:pic>
      <p:sp>
        <p:nvSpPr>
          <p:cNvPr id="22" name="Text 16"/>
          <p:cNvSpPr txBox="1"/>
          <p:nvPr/>
        </p:nvSpPr>
        <p:spPr>
          <a:xfrm>
            <a:off x="731520" y="1481328"/>
            <a:ext cx="1573454" cy="594360"/>
          </a:xfrm>
          <a:prstGeom prst="rect">
            <a:avLst/>
          </a:prstGeom>
          <a:noFill/>
          <a:ln/>
        </p:spPr>
        <p:txBody>
          <a:bodyPr wrap="square" lIns="0" tIns="0" rIns="0" bIns="0" rtlCol="0" anchor="ctr"/>
          <a:lstStyle/>
          <a:p>
            <a:pPr rtl="1" algn="r" indent="0" marL="0">
              <a:buNone/>
            </a:pPr>
            <a:r>
              <a:rPr lang="ar-IQ" altLang="en-US" sz="1600" b="1" dirty="0">
                <a:solidFill>
                  <a:schemeClr val="tx1"/>
                </a:solidFill>
              </a:rPr>
              <a:t>رؤية فورية</a:t>
            </a:r>
            <a:endParaRPr lang="ar-IQ" sz="1600" dirty="0"/>
          </a:p>
        </p:txBody>
      </p:sp>
      <p:sp>
        <p:nvSpPr>
          <p:cNvPr id="23" name="Text 17"/>
          <p:cNvSpPr txBox="1"/>
          <p:nvPr/>
        </p:nvSpPr>
        <p:spPr>
          <a:xfrm>
            <a:off x="731520" y="2194560"/>
            <a:ext cx="2167814" cy="1280160"/>
          </a:xfrm>
          <a:prstGeom prst="rect">
            <a:avLst/>
          </a:prstGeom>
          <a:noFill/>
          <a:ln/>
        </p:spPr>
        <p:txBody>
          <a:bodyPr wrap="square" lIns="0" tIns="0" rIns="0" bIns="0" rtlCol="0" anchor="t"/>
          <a:lstStyle/>
          <a:p>
            <a:pPr rtl="1" algn="r" indent="0" marL="0">
              <a:lnSpc>
                <a:spcPct val="120000"/>
              </a:lnSpc>
              <a:buNone/>
            </a:pPr>
            <a:r>
              <a:rPr lang="ar-IQ" altLang="en-US" sz="1300" dirty="0">
                <a:solidFill>
                  <a:schemeClr val="accent2"/>
                </a:solidFill>
              </a:rPr>
              <a:t>لوحة معلومات و20 تقريراً بتصدير Excel وWord وPDF.</a:t>
            </a:r>
            <a:endParaRPr lang="ar-IQ" sz="1300" dirty="0"/>
          </a:p>
        </p:txBody>
      </p:sp>
      <p:sp>
        <p:nvSpPr>
          <p:cNvPr id="24" name="stat-1"/>
          <p:cNvSpPr/>
          <p:nvPr/>
        </p:nvSpPr>
        <p:spPr>
          <a:xfrm>
            <a:off x="10014966" y="3886200"/>
            <a:ext cx="1673809" cy="1325880"/>
          </a:xfrm>
          <a:prstGeom prst="roundRect">
            <a:avLst>
              <a:gd name="adj" fmla="val 6897"/>
            </a:avLst>
          </a:prstGeom>
          <a:solidFill>
            <a:schemeClr val="tx1"/>
          </a:solidFill>
          <a:ln/>
        </p:spPr>
      </p:sp>
      <p:sp>
        <p:nvSpPr>
          <p:cNvPr id="25" name="Text 19"/>
          <p:cNvSpPr txBox="1"/>
          <p:nvPr/>
        </p:nvSpPr>
        <p:spPr>
          <a:xfrm>
            <a:off x="10197846" y="3995928"/>
            <a:ext cx="1308049" cy="731520"/>
          </a:xfrm>
          <a:prstGeom prst="rect">
            <a:avLst/>
          </a:prstGeom>
          <a:noFill/>
          <a:ln/>
        </p:spPr>
        <p:txBody>
          <a:bodyPr wrap="square" lIns="0" tIns="0" rIns="0" bIns="0" rtlCol="0" anchor="ctr"/>
          <a:lstStyle/>
          <a:p>
            <a:pPr rtl="1" algn="r" indent="0" marL="0">
              <a:buNone/>
            </a:pPr>
            <a:r>
              <a:rPr lang="ar-IQ" altLang="en-US" sz="3800" b="1" dirty="0">
                <a:solidFill>
                  <a:schemeClr val="accent1"/>
                </a:solidFill>
              </a:rPr>
              <a:t>24</a:t>
            </a:r>
            <a:endParaRPr lang="ar-IQ" sz="3800" dirty="0"/>
          </a:p>
        </p:txBody>
      </p:sp>
      <p:sp>
        <p:nvSpPr>
          <p:cNvPr id="26" name="Text 20"/>
          <p:cNvSpPr txBox="1"/>
          <p:nvPr/>
        </p:nvSpPr>
        <p:spPr>
          <a:xfrm>
            <a:off x="10197846" y="4754880"/>
            <a:ext cx="1308049" cy="365760"/>
          </a:xfrm>
          <a:prstGeom prst="rect">
            <a:avLst/>
          </a:prstGeom>
          <a:noFill/>
          <a:ln/>
        </p:spPr>
        <p:txBody>
          <a:bodyPr wrap="square" lIns="0" tIns="0" rIns="0" bIns="0" rtlCol="0" anchor="t"/>
          <a:lstStyle/>
          <a:p>
            <a:pPr rtl="1" algn="r" indent="0" marL="0">
              <a:buNone/>
            </a:pPr>
            <a:r>
              <a:rPr lang="ar-IQ" altLang="en-US" sz="1300" dirty="0">
                <a:solidFill>
                  <a:schemeClr val="bg1"/>
                </a:solidFill>
              </a:rPr>
              <a:t>مرحلة إجرائية</a:t>
            </a:r>
            <a:endParaRPr lang="ar-IQ" sz="1300" dirty="0"/>
          </a:p>
        </p:txBody>
      </p:sp>
      <p:sp>
        <p:nvSpPr>
          <p:cNvPr id="27" name="stat-2"/>
          <p:cNvSpPr/>
          <p:nvPr/>
        </p:nvSpPr>
        <p:spPr>
          <a:xfrm>
            <a:off x="8112557" y="3886200"/>
            <a:ext cx="1673809" cy="1325880"/>
          </a:xfrm>
          <a:prstGeom prst="roundRect">
            <a:avLst>
              <a:gd name="adj" fmla="val 6897"/>
            </a:avLst>
          </a:prstGeom>
          <a:solidFill>
            <a:schemeClr val="tx1"/>
          </a:solidFill>
          <a:ln/>
        </p:spPr>
      </p:sp>
      <p:sp>
        <p:nvSpPr>
          <p:cNvPr id="28" name="Text 22"/>
          <p:cNvSpPr txBox="1"/>
          <p:nvPr/>
        </p:nvSpPr>
        <p:spPr>
          <a:xfrm>
            <a:off x="8295437" y="3995928"/>
            <a:ext cx="1308049" cy="731520"/>
          </a:xfrm>
          <a:prstGeom prst="rect">
            <a:avLst/>
          </a:prstGeom>
          <a:noFill/>
          <a:ln/>
        </p:spPr>
        <p:txBody>
          <a:bodyPr wrap="square" lIns="0" tIns="0" rIns="0" bIns="0" rtlCol="0" anchor="ctr"/>
          <a:lstStyle/>
          <a:p>
            <a:pPr rtl="1" algn="r" indent="0" marL="0">
              <a:buNone/>
            </a:pPr>
            <a:r>
              <a:rPr lang="ar-IQ" altLang="en-US" sz="3800" b="1" dirty="0">
                <a:solidFill>
                  <a:schemeClr val="accent1"/>
                </a:solidFill>
              </a:rPr>
              <a:t>9</a:t>
            </a:r>
            <a:endParaRPr lang="ar-IQ" sz="3800" dirty="0"/>
          </a:p>
        </p:txBody>
      </p:sp>
      <p:sp>
        <p:nvSpPr>
          <p:cNvPr id="29" name="Text 23"/>
          <p:cNvSpPr txBox="1"/>
          <p:nvPr/>
        </p:nvSpPr>
        <p:spPr>
          <a:xfrm>
            <a:off x="8295437" y="4754880"/>
            <a:ext cx="1308049" cy="365760"/>
          </a:xfrm>
          <a:prstGeom prst="rect">
            <a:avLst/>
          </a:prstGeom>
          <a:noFill/>
          <a:ln/>
        </p:spPr>
        <p:txBody>
          <a:bodyPr wrap="square" lIns="0" tIns="0" rIns="0" bIns="0" rtlCol="0" anchor="t"/>
          <a:lstStyle/>
          <a:p>
            <a:pPr rtl="1" algn="r" indent="0" marL="0">
              <a:buNone/>
            </a:pPr>
            <a:r>
              <a:rPr lang="ar-IQ" altLang="en-US" sz="1300" dirty="0">
                <a:solidFill>
                  <a:schemeClr val="bg1"/>
                </a:solidFill>
              </a:rPr>
              <a:t>أدوار وظيفية</a:t>
            </a:r>
            <a:endParaRPr lang="ar-IQ" sz="1300" dirty="0"/>
          </a:p>
        </p:txBody>
      </p:sp>
      <p:sp>
        <p:nvSpPr>
          <p:cNvPr id="30" name="stat-3"/>
          <p:cNvSpPr/>
          <p:nvPr/>
        </p:nvSpPr>
        <p:spPr>
          <a:xfrm>
            <a:off x="6210148" y="3886200"/>
            <a:ext cx="1673809" cy="1325880"/>
          </a:xfrm>
          <a:prstGeom prst="roundRect">
            <a:avLst>
              <a:gd name="adj" fmla="val 6897"/>
            </a:avLst>
          </a:prstGeom>
          <a:solidFill>
            <a:schemeClr val="tx1"/>
          </a:solidFill>
          <a:ln/>
        </p:spPr>
      </p:sp>
      <p:sp>
        <p:nvSpPr>
          <p:cNvPr id="31" name="Text 25"/>
          <p:cNvSpPr txBox="1"/>
          <p:nvPr/>
        </p:nvSpPr>
        <p:spPr>
          <a:xfrm>
            <a:off x="6393028" y="3995928"/>
            <a:ext cx="1308049" cy="731520"/>
          </a:xfrm>
          <a:prstGeom prst="rect">
            <a:avLst/>
          </a:prstGeom>
          <a:noFill/>
          <a:ln/>
        </p:spPr>
        <p:txBody>
          <a:bodyPr wrap="square" lIns="0" tIns="0" rIns="0" bIns="0" rtlCol="0" anchor="ctr"/>
          <a:lstStyle/>
          <a:p>
            <a:pPr rtl="1" algn="r" indent="0" marL="0">
              <a:buNone/>
            </a:pPr>
            <a:r>
              <a:rPr lang="ar-IQ" altLang="en-US" sz="3800" b="1" dirty="0">
                <a:solidFill>
                  <a:schemeClr val="accent1"/>
                </a:solidFill>
              </a:rPr>
              <a:t>53</a:t>
            </a:r>
            <a:endParaRPr lang="ar-IQ" sz="3800" dirty="0"/>
          </a:p>
        </p:txBody>
      </p:sp>
      <p:sp>
        <p:nvSpPr>
          <p:cNvPr id="32" name="Text 26"/>
          <p:cNvSpPr txBox="1"/>
          <p:nvPr/>
        </p:nvSpPr>
        <p:spPr>
          <a:xfrm>
            <a:off x="6393028" y="4754880"/>
            <a:ext cx="1308049" cy="365760"/>
          </a:xfrm>
          <a:prstGeom prst="rect">
            <a:avLst/>
          </a:prstGeom>
          <a:noFill/>
          <a:ln/>
        </p:spPr>
        <p:txBody>
          <a:bodyPr wrap="square" lIns="0" tIns="0" rIns="0" bIns="0" rtlCol="0" anchor="t"/>
          <a:lstStyle/>
          <a:p>
            <a:pPr rtl="1" algn="r" indent="0" marL="0">
              <a:buNone/>
            </a:pPr>
            <a:r>
              <a:rPr lang="ar-IQ" altLang="en-US" sz="1300" dirty="0">
                <a:solidFill>
                  <a:schemeClr val="bg1"/>
                </a:solidFill>
              </a:rPr>
              <a:t>صلاحية دقيقة</a:t>
            </a:r>
            <a:endParaRPr lang="ar-IQ" sz="1300" dirty="0"/>
          </a:p>
        </p:txBody>
      </p:sp>
      <p:sp>
        <p:nvSpPr>
          <p:cNvPr id="33" name="stat-4"/>
          <p:cNvSpPr/>
          <p:nvPr/>
        </p:nvSpPr>
        <p:spPr>
          <a:xfrm>
            <a:off x="4307738" y="3886200"/>
            <a:ext cx="1673809" cy="1325880"/>
          </a:xfrm>
          <a:prstGeom prst="roundRect">
            <a:avLst>
              <a:gd name="adj" fmla="val 6897"/>
            </a:avLst>
          </a:prstGeom>
          <a:solidFill>
            <a:schemeClr val="tx1"/>
          </a:solidFill>
          <a:ln/>
        </p:spPr>
      </p:sp>
      <p:sp>
        <p:nvSpPr>
          <p:cNvPr id="34" name="Text 28"/>
          <p:cNvSpPr txBox="1"/>
          <p:nvPr/>
        </p:nvSpPr>
        <p:spPr>
          <a:xfrm>
            <a:off x="4490618" y="3995928"/>
            <a:ext cx="1308049" cy="731520"/>
          </a:xfrm>
          <a:prstGeom prst="rect">
            <a:avLst/>
          </a:prstGeom>
          <a:noFill/>
          <a:ln/>
        </p:spPr>
        <p:txBody>
          <a:bodyPr wrap="square" lIns="0" tIns="0" rIns="0" bIns="0" rtlCol="0" anchor="ctr"/>
          <a:lstStyle/>
          <a:p>
            <a:pPr rtl="1" algn="r" indent="0" marL="0">
              <a:buNone/>
            </a:pPr>
            <a:r>
              <a:rPr lang="ar-IQ" altLang="en-US" sz="3800" b="1" dirty="0">
                <a:solidFill>
                  <a:schemeClr val="accent1"/>
                </a:solidFill>
              </a:rPr>
              <a:t>20</a:t>
            </a:r>
            <a:endParaRPr lang="ar-IQ" sz="3800" dirty="0"/>
          </a:p>
        </p:txBody>
      </p:sp>
      <p:sp>
        <p:nvSpPr>
          <p:cNvPr id="35" name="Text 29"/>
          <p:cNvSpPr txBox="1"/>
          <p:nvPr/>
        </p:nvSpPr>
        <p:spPr>
          <a:xfrm>
            <a:off x="4490618" y="4754880"/>
            <a:ext cx="1308049" cy="365760"/>
          </a:xfrm>
          <a:prstGeom prst="rect">
            <a:avLst/>
          </a:prstGeom>
          <a:noFill/>
          <a:ln/>
        </p:spPr>
        <p:txBody>
          <a:bodyPr wrap="square" lIns="0" tIns="0" rIns="0" bIns="0" rtlCol="0" anchor="t"/>
          <a:lstStyle/>
          <a:p>
            <a:pPr rtl="1" algn="r" indent="0" marL="0">
              <a:buNone/>
            </a:pPr>
            <a:r>
              <a:rPr lang="ar-IQ" altLang="en-US" sz="1300" dirty="0">
                <a:solidFill>
                  <a:schemeClr val="bg1"/>
                </a:solidFill>
              </a:rPr>
              <a:t>تقريراً جاهزاً</a:t>
            </a:r>
            <a:endParaRPr lang="ar-IQ" sz="1300" dirty="0"/>
          </a:p>
        </p:txBody>
      </p:sp>
      <p:sp>
        <p:nvSpPr>
          <p:cNvPr id="36" name="stat-5"/>
          <p:cNvSpPr/>
          <p:nvPr/>
        </p:nvSpPr>
        <p:spPr>
          <a:xfrm>
            <a:off x="2405329" y="3886200"/>
            <a:ext cx="1673809" cy="1325880"/>
          </a:xfrm>
          <a:prstGeom prst="roundRect">
            <a:avLst>
              <a:gd name="adj" fmla="val 6897"/>
            </a:avLst>
          </a:prstGeom>
          <a:solidFill>
            <a:schemeClr val="tx1"/>
          </a:solidFill>
          <a:ln/>
        </p:spPr>
      </p:sp>
      <p:sp>
        <p:nvSpPr>
          <p:cNvPr id="37" name="Text 31"/>
          <p:cNvSpPr txBox="1"/>
          <p:nvPr/>
        </p:nvSpPr>
        <p:spPr>
          <a:xfrm>
            <a:off x="2588209" y="3995928"/>
            <a:ext cx="1308049" cy="731520"/>
          </a:xfrm>
          <a:prstGeom prst="rect">
            <a:avLst/>
          </a:prstGeom>
          <a:noFill/>
          <a:ln/>
        </p:spPr>
        <p:txBody>
          <a:bodyPr wrap="square" lIns="0" tIns="0" rIns="0" bIns="0" rtlCol="0" anchor="ctr"/>
          <a:lstStyle/>
          <a:p>
            <a:pPr rtl="1" algn="r" indent="0" marL="0">
              <a:buNone/>
            </a:pPr>
            <a:r>
              <a:rPr lang="ar-IQ" altLang="en-US" sz="3800" b="1" dirty="0">
                <a:solidFill>
                  <a:schemeClr val="accent1"/>
                </a:solidFill>
              </a:rPr>
              <a:t>19</a:t>
            </a:r>
            <a:endParaRPr lang="ar-IQ" sz="3800" dirty="0"/>
          </a:p>
        </p:txBody>
      </p:sp>
      <p:sp>
        <p:nvSpPr>
          <p:cNvPr id="38" name="Text 32"/>
          <p:cNvSpPr txBox="1"/>
          <p:nvPr/>
        </p:nvSpPr>
        <p:spPr>
          <a:xfrm>
            <a:off x="2588209" y="4754880"/>
            <a:ext cx="1308049" cy="365760"/>
          </a:xfrm>
          <a:prstGeom prst="rect">
            <a:avLst/>
          </a:prstGeom>
          <a:noFill/>
          <a:ln/>
        </p:spPr>
        <p:txBody>
          <a:bodyPr wrap="square" lIns="0" tIns="0" rIns="0" bIns="0" rtlCol="0" anchor="t"/>
          <a:lstStyle/>
          <a:p>
            <a:pPr rtl="1" algn="r" indent="0" marL="0">
              <a:buNone/>
            </a:pPr>
            <a:r>
              <a:rPr lang="ar-IQ" altLang="en-US" sz="1300" dirty="0">
                <a:solidFill>
                  <a:schemeClr val="bg1"/>
                </a:solidFill>
              </a:rPr>
              <a:t>محافظة</a:t>
            </a:r>
            <a:endParaRPr lang="ar-IQ" sz="1300" dirty="0"/>
          </a:p>
        </p:txBody>
      </p:sp>
      <p:sp>
        <p:nvSpPr>
          <p:cNvPr id="39" name="stat-6"/>
          <p:cNvSpPr/>
          <p:nvPr/>
        </p:nvSpPr>
        <p:spPr>
          <a:xfrm>
            <a:off x="502920" y="3886200"/>
            <a:ext cx="1673809" cy="1325880"/>
          </a:xfrm>
          <a:prstGeom prst="roundRect">
            <a:avLst>
              <a:gd name="adj" fmla="val 6897"/>
            </a:avLst>
          </a:prstGeom>
          <a:solidFill>
            <a:schemeClr val="tx1"/>
          </a:solidFill>
          <a:ln/>
        </p:spPr>
      </p:sp>
      <p:sp>
        <p:nvSpPr>
          <p:cNvPr id="40" name="Text 34"/>
          <p:cNvSpPr txBox="1"/>
          <p:nvPr/>
        </p:nvSpPr>
        <p:spPr>
          <a:xfrm>
            <a:off x="685800" y="3995928"/>
            <a:ext cx="1308049" cy="731520"/>
          </a:xfrm>
          <a:prstGeom prst="rect">
            <a:avLst/>
          </a:prstGeom>
          <a:noFill/>
          <a:ln/>
        </p:spPr>
        <p:txBody>
          <a:bodyPr wrap="square" lIns="0" tIns="0" rIns="0" bIns="0" rtlCol="0" anchor="ctr"/>
          <a:lstStyle/>
          <a:p>
            <a:pPr rtl="1" algn="r" indent="0" marL="0">
              <a:buNone/>
            </a:pPr>
            <a:r>
              <a:rPr lang="ar-IQ" altLang="en-US" sz="3800" b="1" dirty="0">
                <a:solidFill>
                  <a:schemeClr val="accent1"/>
                </a:solidFill>
              </a:rPr>
              <a:t>3</a:t>
            </a:r>
            <a:endParaRPr lang="ar-IQ" sz="3800" dirty="0"/>
          </a:p>
        </p:txBody>
      </p:sp>
      <p:sp>
        <p:nvSpPr>
          <p:cNvPr id="41" name="Text 35"/>
          <p:cNvSpPr txBox="1"/>
          <p:nvPr/>
        </p:nvSpPr>
        <p:spPr>
          <a:xfrm>
            <a:off x="685800" y="4754880"/>
            <a:ext cx="1308049" cy="365760"/>
          </a:xfrm>
          <a:prstGeom prst="rect">
            <a:avLst/>
          </a:prstGeom>
          <a:noFill/>
          <a:ln/>
        </p:spPr>
        <p:txBody>
          <a:bodyPr wrap="square" lIns="0" tIns="0" rIns="0" bIns="0" rtlCol="0" anchor="t"/>
          <a:lstStyle/>
          <a:p>
            <a:pPr rtl="1" algn="r" indent="0" marL="0">
              <a:buNone/>
            </a:pPr>
            <a:r>
              <a:rPr lang="ar-IQ" altLang="en-US" sz="1300" dirty="0">
                <a:solidFill>
                  <a:schemeClr val="bg1"/>
                </a:solidFill>
              </a:rPr>
              <a:t>مستويات اطلاع</a:t>
            </a:r>
            <a:endParaRPr lang="ar-IQ" sz="1300" dirty="0"/>
          </a:p>
        </p:txBody>
      </p:sp>
      <p:sp>
        <p:nvSpPr>
          <p:cNvPr id="42" name="Text 36"/>
          <p:cNvSpPr txBox="1"/>
          <p:nvPr/>
        </p:nvSpPr>
        <p:spPr>
          <a:xfrm>
            <a:off x="502920" y="5440680"/>
            <a:ext cx="11185855" cy="640080"/>
          </a:xfrm>
          <a:prstGeom prst="rect">
            <a:avLst/>
          </a:prstGeom>
          <a:noFill/>
          <a:ln/>
        </p:spPr>
        <p:txBody>
          <a:bodyPr wrap="square" lIns="0" tIns="0" rIns="0" bIns="0" rtlCol="0" anchor="t"/>
          <a:lstStyle/>
          <a:p>
            <a:pPr rtl="1" algn="r" indent="0" marL="0">
              <a:buNone/>
            </a:pPr>
            <a:r>
              <a:rPr lang="ar-IQ" altLang="en-US" sz="1400" b="1" dirty="0">
                <a:solidFill>
                  <a:schemeClr val="accent2"/>
                </a:solidFill>
              </a:rPr>
              <a:t>نطاق الاطلاع: </a:t>
            </a:r>
            <a:pPr rtl="1" algn="r" indent="0" marL="0">
              <a:buNone/>
            </a:pPr>
            <a:r>
              <a:rPr lang="ar-IQ" altLang="en-US" sz="1400" dirty="0">
                <a:solidFill>
                  <a:schemeClr val="accent2"/>
                </a:solidFill>
              </a:rPr>
              <a:t>كل موظف يرى مكتبه، أو محافظته، أو كل المحافظات للمستوى المركزي، ويُطبَّق ذلك في كل استعلام لا في الواجهة فقط.</a:t>
            </a:r>
            <a:endParaRPr lang="ar-IQ" sz="1400" dirty="0"/>
          </a:p>
        </p:txBody>
      </p:sp>
      <p:sp>
        <p:nvSpPr>
          <p:cNvPr id="25" name="Slide Number Placeholder 0"/>
          <p:cNvSpPr>
            <a:spLocks noGrp="1"/>
          </p:cNvSpPr>
          <p:nvPr>
            <p:ph type="sldNum" sz="quarter" idx="4294967295"/>
          </p:nvPr>
        </p:nvSpPr>
        <p:spPr>
          <a:xfrm>
            <a:off x="5029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06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02920" y="228600"/>
            <a:ext cx="10682935" cy="548640"/>
          </a:xfrm>
          <a:prstGeom prst="rect">
            <a:avLst/>
          </a:prstGeom>
          <a:noFill/>
          <a:ln/>
        </p:spPr>
        <p:txBody>
          <a:bodyPr wrap="square" lIns="0" tIns="0" rIns="0" bIns="0" rtlCol="0" anchor="ctr"/>
          <a:lstStyle/>
          <a:p>
            <a:pPr rtl="1" algn="r" indent="0" marL="0">
              <a:buNone/>
            </a:pPr>
            <a:r>
              <a:rPr lang="ar-IQ" altLang="en-US" sz="2800" b="1" dirty="0">
                <a:solidFill>
                  <a:schemeClr val="tx1"/>
                </a:solidFill>
              </a:rPr>
              <a:t>سير عمل المعاملة: من يفعل ماذا</a:t>
            </a:r>
            <a:endParaRPr lang="ar-IQ" sz="2800" dirty="0"/>
          </a:p>
        </p:txBody>
      </p:sp>
      <p:sp>
        <p:nvSpPr>
          <p:cNvPr id="3" name="Text 1"/>
          <p:cNvSpPr/>
          <p:nvPr>
            <p:ph idx="103" type="body" hasCustomPrompt="1"/>
          </p:nvPr>
        </p:nvSpPr>
        <p:spPr>
          <a:xfrm>
            <a:off x="502920" y="777240"/>
            <a:ext cx="10682935" cy="274320"/>
          </a:xfrm>
          <a:prstGeom prst="rect">
            <a:avLst/>
          </a:prstGeom>
          <a:noFill/>
          <a:ln/>
        </p:spPr>
        <p:txBody>
          <a:bodyPr wrap="square" lIns="0" tIns="0" rIns="0" bIns="0" rtlCol="0"/>
          <a:lstStyle/>
          <a:p>
            <a:pPr rtl="1" algn="r" indent="0" marL="0">
              <a:buNone/>
            </a:pPr>
            <a:r>
              <a:rPr lang="ar-IQ" altLang="en-US" sz="1200" dirty="0">
                <a:solidFill>
                  <a:schemeClr val="accent5"/>
                </a:solidFill>
              </a:rPr>
              <a:t>دورة الملف خطوة بخطوة</a:t>
            </a:r>
            <a:endParaRPr lang="ar-IQ" sz="1200" dirty="0"/>
          </a:p>
        </p:txBody>
      </p:sp>
      <p:sp>
        <p:nvSpPr>
          <p:cNvPr id="4" name="step-1"/>
          <p:cNvSpPr/>
          <p:nvPr/>
        </p:nvSpPr>
        <p:spPr>
          <a:xfrm>
            <a:off x="9946386" y="1234440"/>
            <a:ext cx="1742389" cy="1481328"/>
          </a:xfrm>
          <a:prstGeom prst="roundRect">
            <a:avLst>
              <a:gd name="adj" fmla="val 6173"/>
            </a:avLst>
          </a:prstGeom>
          <a:solidFill>
            <a:schemeClr val="tx1"/>
          </a:solidFill>
          <a:ln/>
        </p:spPr>
      </p:sp>
      <p:sp>
        <p:nvSpPr>
          <p:cNvPr id="5" name="Text 3"/>
          <p:cNvSpPr txBox="1"/>
          <p:nvPr/>
        </p:nvSpPr>
        <p:spPr>
          <a:xfrm>
            <a:off x="11121847" y="1307592"/>
            <a:ext cx="457200" cy="274320"/>
          </a:xfrm>
          <a:prstGeom prst="rect">
            <a:avLst/>
          </a:prstGeom>
          <a:noFill/>
          <a:ln/>
        </p:spPr>
        <p:txBody>
          <a:bodyPr wrap="square" lIns="0" tIns="0" rIns="0" bIns="0" rtlCol="0" anchor="t"/>
          <a:lstStyle/>
          <a:p>
            <a:pPr rtl="1" algn="r" indent="0" marL="0">
              <a:buNone/>
            </a:pPr>
            <a:r>
              <a:rPr lang="ar-IQ" altLang="en-US" sz="1300" b="1" dirty="0">
                <a:solidFill>
                  <a:schemeClr val="accent1"/>
                </a:solidFill>
              </a:rPr>
              <a:t>1</a:t>
            </a:r>
            <a:endParaRPr lang="ar-IQ" sz="1300" dirty="0"/>
          </a:p>
        </p:txBody>
      </p:sp>
      <p:sp>
        <p:nvSpPr>
          <p:cNvPr id="6" name="Text 4"/>
          <p:cNvSpPr txBox="1"/>
          <p:nvPr/>
        </p:nvSpPr>
        <p:spPr>
          <a:xfrm>
            <a:off x="10056114" y="1581912"/>
            <a:ext cx="1522933" cy="713232"/>
          </a:xfrm>
          <a:prstGeom prst="rect">
            <a:avLst/>
          </a:prstGeom>
          <a:noFill/>
          <a:ln/>
        </p:spPr>
        <p:txBody>
          <a:bodyPr wrap="square" lIns="0" tIns="0" rIns="0" bIns="0" rtlCol="0" anchor="t"/>
          <a:lstStyle/>
          <a:p>
            <a:pPr rtl="1" algn="r" indent="0" marL="0">
              <a:lnSpc>
                <a:spcPct val="105000"/>
              </a:lnSpc>
              <a:buNone/>
            </a:pPr>
            <a:r>
              <a:rPr lang="ar-IQ" altLang="en-US" sz="1150" b="1" dirty="0">
                <a:solidFill>
                  <a:schemeClr val="bg1"/>
                </a:solidFill>
              </a:rPr>
              <a:t>تسجيل المخالفة ورفع المحضر، فيُمنح الرقم الرسمي</a:t>
            </a:r>
            <a:endParaRPr lang="ar-IQ" sz="1150" dirty="0"/>
          </a:p>
        </p:txBody>
      </p:sp>
      <p:sp>
        <p:nvSpPr>
          <p:cNvPr id="7" name="role-chip-1"/>
          <p:cNvSpPr/>
          <p:nvPr/>
        </p:nvSpPr>
        <p:spPr>
          <a:xfrm>
            <a:off x="10037826" y="2331720"/>
            <a:ext cx="1559509" cy="292608"/>
          </a:xfrm>
          <a:prstGeom prst="roundRect">
            <a:avLst>
              <a:gd name="adj" fmla="val 25000"/>
            </a:avLst>
          </a:prstGeom>
          <a:solidFill>
            <a:srgbClr val="3D4566"/>
          </a:solidFill>
          <a:ln/>
        </p:spPr>
      </p:sp>
      <p:sp>
        <p:nvSpPr>
          <p:cNvPr id="8" name="Text 6"/>
          <p:cNvSpPr txBox="1"/>
          <p:nvPr/>
        </p:nvSpPr>
        <p:spPr>
          <a:xfrm>
            <a:off x="10074402" y="2340864"/>
            <a:ext cx="1486357" cy="274320"/>
          </a:xfrm>
          <a:prstGeom prst="rect">
            <a:avLst/>
          </a:prstGeom>
          <a:noFill/>
          <a:ln/>
        </p:spPr>
        <p:txBody>
          <a:bodyPr wrap="square" lIns="0" tIns="0" rIns="0" bIns="0" rtlCol="0" anchor="ctr">
            <a:normAutofit/>
          </a:bodyPr>
          <a:lstStyle/>
          <a:p>
            <a:pPr rtl="1" algn="r" indent="0" marL="0">
              <a:buNone/>
            </a:pPr>
            <a:r>
              <a:rPr lang="ar-IQ" altLang="en-US" sz="950" dirty="0">
                <a:solidFill>
                  <a:srgbClr val="D5D9E6"/>
                </a:solidFill>
              </a:rPr>
              <a:t>موظف التسجيل / مدير الفرع</a:t>
            </a:r>
            <a:endParaRPr lang="ar-IQ" sz="950" dirty="0"/>
          </a:p>
        </p:txBody>
      </p:sp>
      <p:sp>
        <p:nvSpPr>
          <p:cNvPr id="9" name="step-2"/>
          <p:cNvSpPr/>
          <p:nvPr/>
        </p:nvSpPr>
        <p:spPr>
          <a:xfrm>
            <a:off x="8057693" y="1234440"/>
            <a:ext cx="1742389" cy="1481328"/>
          </a:xfrm>
          <a:prstGeom prst="roundRect">
            <a:avLst>
              <a:gd name="adj" fmla="val 6173"/>
            </a:avLst>
          </a:prstGeom>
          <a:solidFill>
            <a:schemeClr val="tx1"/>
          </a:solidFill>
          <a:ln/>
        </p:spPr>
      </p:sp>
      <p:sp>
        <p:nvSpPr>
          <p:cNvPr id="10" name="Text 8"/>
          <p:cNvSpPr txBox="1"/>
          <p:nvPr/>
        </p:nvSpPr>
        <p:spPr>
          <a:xfrm>
            <a:off x="9233154" y="1307592"/>
            <a:ext cx="457200" cy="274320"/>
          </a:xfrm>
          <a:prstGeom prst="rect">
            <a:avLst/>
          </a:prstGeom>
          <a:noFill/>
          <a:ln/>
        </p:spPr>
        <p:txBody>
          <a:bodyPr wrap="square" lIns="0" tIns="0" rIns="0" bIns="0" rtlCol="0" anchor="t"/>
          <a:lstStyle/>
          <a:p>
            <a:pPr rtl="1" algn="r" indent="0" marL="0">
              <a:buNone/>
            </a:pPr>
            <a:r>
              <a:rPr lang="ar-IQ" altLang="en-US" sz="1300" b="1" dirty="0">
                <a:solidFill>
                  <a:schemeClr val="accent1"/>
                </a:solidFill>
              </a:rPr>
              <a:t>2</a:t>
            </a:r>
            <a:endParaRPr lang="ar-IQ" sz="1300" dirty="0"/>
          </a:p>
        </p:txBody>
      </p:sp>
      <p:sp>
        <p:nvSpPr>
          <p:cNvPr id="11" name="Text 9"/>
          <p:cNvSpPr txBox="1"/>
          <p:nvPr/>
        </p:nvSpPr>
        <p:spPr>
          <a:xfrm>
            <a:off x="8167421" y="1581912"/>
            <a:ext cx="1522933" cy="713232"/>
          </a:xfrm>
          <a:prstGeom prst="rect">
            <a:avLst/>
          </a:prstGeom>
          <a:noFill/>
          <a:ln/>
        </p:spPr>
        <p:txBody>
          <a:bodyPr wrap="square" lIns="0" tIns="0" rIns="0" bIns="0" rtlCol="0" anchor="t"/>
          <a:lstStyle/>
          <a:p>
            <a:pPr rtl="1" algn="r" indent="0" marL="0">
              <a:lnSpc>
                <a:spcPct val="105000"/>
              </a:lnSpc>
              <a:buNone/>
            </a:pPr>
            <a:r>
              <a:rPr lang="ar-IQ" altLang="en-US" sz="1150" b="1" dirty="0">
                <a:solidFill>
                  <a:schemeClr val="bg1"/>
                </a:solidFill>
              </a:rPr>
              <a:t>المصادقة النهائية: موافقة أو إعادة أو رفض بسبب</a:t>
            </a:r>
            <a:endParaRPr lang="ar-IQ" sz="1150" dirty="0"/>
          </a:p>
        </p:txBody>
      </p:sp>
      <p:sp>
        <p:nvSpPr>
          <p:cNvPr id="12" name="role-chip-2"/>
          <p:cNvSpPr/>
          <p:nvPr/>
        </p:nvSpPr>
        <p:spPr>
          <a:xfrm>
            <a:off x="8149133" y="2331720"/>
            <a:ext cx="1559509" cy="292608"/>
          </a:xfrm>
          <a:prstGeom prst="roundRect">
            <a:avLst>
              <a:gd name="adj" fmla="val 25000"/>
            </a:avLst>
          </a:prstGeom>
          <a:solidFill>
            <a:srgbClr val="3D4566"/>
          </a:solidFill>
          <a:ln/>
        </p:spPr>
      </p:sp>
      <p:sp>
        <p:nvSpPr>
          <p:cNvPr id="13" name="Text 11"/>
          <p:cNvSpPr txBox="1"/>
          <p:nvPr/>
        </p:nvSpPr>
        <p:spPr>
          <a:xfrm>
            <a:off x="8185709" y="2340864"/>
            <a:ext cx="1486357" cy="274320"/>
          </a:xfrm>
          <a:prstGeom prst="rect">
            <a:avLst/>
          </a:prstGeom>
          <a:noFill/>
          <a:ln/>
        </p:spPr>
        <p:txBody>
          <a:bodyPr wrap="square" lIns="0" tIns="0" rIns="0" bIns="0" rtlCol="0" anchor="ctr">
            <a:normAutofit/>
          </a:bodyPr>
          <a:lstStyle/>
          <a:p>
            <a:pPr rtl="1" algn="r" indent="0" marL="0">
              <a:buNone/>
            </a:pPr>
            <a:r>
              <a:rPr lang="ar-IQ" altLang="en-US" sz="950" dirty="0">
                <a:solidFill>
                  <a:srgbClr val="D5D9E6"/>
                </a:solidFill>
              </a:rPr>
              <a:t>رئيس الهيئة</a:t>
            </a:r>
            <a:endParaRPr lang="ar-IQ" sz="950" dirty="0"/>
          </a:p>
        </p:txBody>
      </p:sp>
      <p:sp>
        <p:nvSpPr>
          <p:cNvPr id="14" name="step-3"/>
          <p:cNvSpPr/>
          <p:nvPr/>
        </p:nvSpPr>
        <p:spPr>
          <a:xfrm>
            <a:off x="6169000" y="1234440"/>
            <a:ext cx="1742389" cy="1481328"/>
          </a:xfrm>
          <a:prstGeom prst="roundRect">
            <a:avLst>
              <a:gd name="adj" fmla="val 6173"/>
            </a:avLst>
          </a:prstGeom>
          <a:solidFill>
            <a:schemeClr val="tx1"/>
          </a:solidFill>
          <a:ln/>
        </p:spPr>
      </p:sp>
      <p:sp>
        <p:nvSpPr>
          <p:cNvPr id="15" name="Text 13"/>
          <p:cNvSpPr txBox="1"/>
          <p:nvPr/>
        </p:nvSpPr>
        <p:spPr>
          <a:xfrm>
            <a:off x="7344461" y="1307592"/>
            <a:ext cx="457200" cy="274320"/>
          </a:xfrm>
          <a:prstGeom prst="rect">
            <a:avLst/>
          </a:prstGeom>
          <a:noFill/>
          <a:ln/>
        </p:spPr>
        <p:txBody>
          <a:bodyPr wrap="square" lIns="0" tIns="0" rIns="0" bIns="0" rtlCol="0" anchor="t"/>
          <a:lstStyle/>
          <a:p>
            <a:pPr rtl="1" algn="r" indent="0" marL="0">
              <a:buNone/>
            </a:pPr>
            <a:r>
              <a:rPr lang="ar-IQ" altLang="en-US" sz="1300" b="1" dirty="0">
                <a:solidFill>
                  <a:schemeClr val="accent1"/>
                </a:solidFill>
              </a:rPr>
              <a:t>3</a:t>
            </a:r>
            <a:endParaRPr lang="ar-IQ" sz="1300" dirty="0"/>
          </a:p>
        </p:txBody>
      </p:sp>
      <p:sp>
        <p:nvSpPr>
          <p:cNvPr id="16" name="Text 14"/>
          <p:cNvSpPr txBox="1"/>
          <p:nvPr/>
        </p:nvSpPr>
        <p:spPr>
          <a:xfrm>
            <a:off x="6278728" y="1581912"/>
            <a:ext cx="1522933" cy="713232"/>
          </a:xfrm>
          <a:prstGeom prst="rect">
            <a:avLst/>
          </a:prstGeom>
          <a:noFill/>
          <a:ln/>
        </p:spPr>
        <p:txBody>
          <a:bodyPr wrap="square" lIns="0" tIns="0" rIns="0" bIns="0" rtlCol="0" anchor="t"/>
          <a:lstStyle/>
          <a:p>
            <a:pPr rtl="1" algn="r" indent="0" marL="0">
              <a:lnSpc>
                <a:spcPct val="105000"/>
              </a:lnSpc>
              <a:buNone/>
            </a:pPr>
            <a:r>
              <a:rPr lang="ar-IQ" altLang="en-US" sz="1150" b="1" dirty="0">
                <a:solidFill>
                  <a:schemeClr val="bg1"/>
                </a:solidFill>
              </a:rPr>
              <a:t>الموقف الفني وربط المواد القانونية</a:t>
            </a:r>
            <a:endParaRPr lang="ar-IQ" sz="1150" dirty="0"/>
          </a:p>
        </p:txBody>
      </p:sp>
      <p:sp>
        <p:nvSpPr>
          <p:cNvPr id="17" name="role-chip-3"/>
          <p:cNvSpPr/>
          <p:nvPr/>
        </p:nvSpPr>
        <p:spPr>
          <a:xfrm>
            <a:off x="6260440" y="2331720"/>
            <a:ext cx="1559509" cy="292608"/>
          </a:xfrm>
          <a:prstGeom prst="roundRect">
            <a:avLst>
              <a:gd name="adj" fmla="val 25000"/>
            </a:avLst>
          </a:prstGeom>
          <a:solidFill>
            <a:srgbClr val="3D4566"/>
          </a:solidFill>
          <a:ln/>
        </p:spPr>
      </p:sp>
      <p:sp>
        <p:nvSpPr>
          <p:cNvPr id="18" name="Text 16"/>
          <p:cNvSpPr txBox="1"/>
          <p:nvPr/>
        </p:nvSpPr>
        <p:spPr>
          <a:xfrm>
            <a:off x="6297016" y="2340864"/>
            <a:ext cx="1486357" cy="274320"/>
          </a:xfrm>
          <a:prstGeom prst="rect">
            <a:avLst/>
          </a:prstGeom>
          <a:noFill/>
          <a:ln/>
        </p:spPr>
        <p:txBody>
          <a:bodyPr wrap="square" lIns="0" tIns="0" rIns="0" bIns="0" rtlCol="0" anchor="ctr">
            <a:normAutofit/>
          </a:bodyPr>
          <a:lstStyle/>
          <a:p>
            <a:pPr rtl="1" algn="r" indent="0" marL="0">
              <a:buNone/>
            </a:pPr>
            <a:r>
              <a:rPr lang="ar-IQ" altLang="en-US" sz="950" dirty="0">
                <a:solidFill>
                  <a:srgbClr val="D5D9E6"/>
                </a:solidFill>
              </a:rPr>
              <a:t>القسم الفني</a:t>
            </a:r>
            <a:endParaRPr lang="ar-IQ" sz="950" dirty="0"/>
          </a:p>
        </p:txBody>
      </p:sp>
      <p:sp>
        <p:nvSpPr>
          <p:cNvPr id="19" name="step-4"/>
          <p:cNvSpPr/>
          <p:nvPr/>
        </p:nvSpPr>
        <p:spPr>
          <a:xfrm>
            <a:off x="4280306" y="1234440"/>
            <a:ext cx="1742389" cy="1481328"/>
          </a:xfrm>
          <a:prstGeom prst="roundRect">
            <a:avLst>
              <a:gd name="adj" fmla="val 6173"/>
            </a:avLst>
          </a:prstGeom>
          <a:solidFill>
            <a:schemeClr val="tx1"/>
          </a:solidFill>
          <a:ln/>
        </p:spPr>
      </p:sp>
      <p:sp>
        <p:nvSpPr>
          <p:cNvPr id="20" name="Text 18"/>
          <p:cNvSpPr txBox="1"/>
          <p:nvPr/>
        </p:nvSpPr>
        <p:spPr>
          <a:xfrm>
            <a:off x="5455768" y="1307592"/>
            <a:ext cx="457200" cy="274320"/>
          </a:xfrm>
          <a:prstGeom prst="rect">
            <a:avLst/>
          </a:prstGeom>
          <a:noFill/>
          <a:ln/>
        </p:spPr>
        <p:txBody>
          <a:bodyPr wrap="square" lIns="0" tIns="0" rIns="0" bIns="0" rtlCol="0" anchor="t"/>
          <a:lstStyle/>
          <a:p>
            <a:pPr rtl="1" algn="r" indent="0" marL="0">
              <a:buNone/>
            </a:pPr>
            <a:r>
              <a:rPr lang="ar-IQ" altLang="en-US" sz="1300" b="1" dirty="0">
                <a:solidFill>
                  <a:schemeClr val="accent1"/>
                </a:solidFill>
              </a:rPr>
              <a:t>4</a:t>
            </a:r>
            <a:endParaRPr lang="ar-IQ" sz="1300" dirty="0"/>
          </a:p>
        </p:txBody>
      </p:sp>
      <p:sp>
        <p:nvSpPr>
          <p:cNvPr id="21" name="Text 19"/>
          <p:cNvSpPr txBox="1"/>
          <p:nvPr/>
        </p:nvSpPr>
        <p:spPr>
          <a:xfrm>
            <a:off x="4390034" y="1581912"/>
            <a:ext cx="1522933" cy="713232"/>
          </a:xfrm>
          <a:prstGeom prst="rect">
            <a:avLst/>
          </a:prstGeom>
          <a:noFill/>
          <a:ln/>
        </p:spPr>
        <p:txBody>
          <a:bodyPr wrap="square" lIns="0" tIns="0" rIns="0" bIns="0" rtlCol="0" anchor="t"/>
          <a:lstStyle/>
          <a:p>
            <a:pPr rtl="1" algn="r" indent="0" marL="0">
              <a:lnSpc>
                <a:spcPct val="105000"/>
              </a:lnSpc>
              <a:buNone/>
            </a:pPr>
            <a:r>
              <a:rPr lang="ar-IQ" altLang="en-US" sz="1150" b="1" dirty="0">
                <a:solidFill>
                  <a:schemeClr val="bg1"/>
                </a:solidFill>
              </a:rPr>
              <a:t>الرأي القانوني ثم مصادقته من غير معدّه</a:t>
            </a:r>
            <a:endParaRPr lang="ar-IQ" sz="1150" dirty="0"/>
          </a:p>
        </p:txBody>
      </p:sp>
      <p:sp>
        <p:nvSpPr>
          <p:cNvPr id="22" name="role-chip-4"/>
          <p:cNvSpPr/>
          <p:nvPr/>
        </p:nvSpPr>
        <p:spPr>
          <a:xfrm>
            <a:off x="4371746" y="2331720"/>
            <a:ext cx="1559509" cy="292608"/>
          </a:xfrm>
          <a:prstGeom prst="roundRect">
            <a:avLst>
              <a:gd name="adj" fmla="val 25000"/>
            </a:avLst>
          </a:prstGeom>
          <a:solidFill>
            <a:srgbClr val="3D4566"/>
          </a:solidFill>
          <a:ln/>
        </p:spPr>
      </p:sp>
      <p:sp>
        <p:nvSpPr>
          <p:cNvPr id="23" name="Text 21"/>
          <p:cNvSpPr txBox="1"/>
          <p:nvPr/>
        </p:nvSpPr>
        <p:spPr>
          <a:xfrm>
            <a:off x="4408322" y="2340864"/>
            <a:ext cx="1486357" cy="274320"/>
          </a:xfrm>
          <a:prstGeom prst="rect">
            <a:avLst/>
          </a:prstGeom>
          <a:noFill/>
          <a:ln/>
        </p:spPr>
        <p:txBody>
          <a:bodyPr wrap="square" lIns="0" tIns="0" rIns="0" bIns="0" rtlCol="0" anchor="ctr">
            <a:normAutofit/>
          </a:bodyPr>
          <a:lstStyle/>
          <a:p>
            <a:pPr rtl="1" algn="r" indent="0" marL="0">
              <a:buNone/>
            </a:pPr>
            <a:r>
              <a:rPr lang="ar-IQ" altLang="en-US" sz="950" dirty="0">
                <a:solidFill>
                  <a:srgbClr val="D5D9E6"/>
                </a:solidFill>
              </a:rPr>
              <a:t>الدائرة القانونية</a:t>
            </a:r>
            <a:endParaRPr lang="ar-IQ" sz="950" dirty="0"/>
          </a:p>
        </p:txBody>
      </p:sp>
      <p:sp>
        <p:nvSpPr>
          <p:cNvPr id="24" name="step-5"/>
          <p:cNvSpPr/>
          <p:nvPr/>
        </p:nvSpPr>
        <p:spPr>
          <a:xfrm>
            <a:off x="2391613" y="1234440"/>
            <a:ext cx="1742389" cy="1481328"/>
          </a:xfrm>
          <a:prstGeom prst="roundRect">
            <a:avLst>
              <a:gd name="adj" fmla="val 6173"/>
            </a:avLst>
          </a:prstGeom>
          <a:solidFill>
            <a:schemeClr val="tx1"/>
          </a:solidFill>
          <a:ln/>
        </p:spPr>
      </p:sp>
      <p:sp>
        <p:nvSpPr>
          <p:cNvPr id="25" name="Text 23"/>
          <p:cNvSpPr txBox="1"/>
          <p:nvPr/>
        </p:nvSpPr>
        <p:spPr>
          <a:xfrm>
            <a:off x="3567074" y="1307592"/>
            <a:ext cx="457200" cy="274320"/>
          </a:xfrm>
          <a:prstGeom prst="rect">
            <a:avLst/>
          </a:prstGeom>
          <a:noFill/>
          <a:ln/>
        </p:spPr>
        <p:txBody>
          <a:bodyPr wrap="square" lIns="0" tIns="0" rIns="0" bIns="0" rtlCol="0" anchor="t"/>
          <a:lstStyle/>
          <a:p>
            <a:pPr rtl="1" algn="r" indent="0" marL="0">
              <a:buNone/>
            </a:pPr>
            <a:r>
              <a:rPr lang="ar-IQ" altLang="en-US" sz="1300" b="1" dirty="0">
                <a:solidFill>
                  <a:schemeClr val="accent1"/>
                </a:solidFill>
              </a:rPr>
              <a:t>5</a:t>
            </a:r>
            <a:endParaRPr lang="ar-IQ" sz="1300" dirty="0"/>
          </a:p>
        </p:txBody>
      </p:sp>
      <p:sp>
        <p:nvSpPr>
          <p:cNvPr id="26" name="Text 24"/>
          <p:cNvSpPr txBox="1"/>
          <p:nvPr/>
        </p:nvSpPr>
        <p:spPr>
          <a:xfrm>
            <a:off x="2501341" y="1581912"/>
            <a:ext cx="1522933" cy="713232"/>
          </a:xfrm>
          <a:prstGeom prst="rect">
            <a:avLst/>
          </a:prstGeom>
          <a:noFill/>
          <a:ln/>
        </p:spPr>
        <p:txBody>
          <a:bodyPr wrap="square" lIns="0" tIns="0" rIns="0" bIns="0" rtlCol="0" anchor="t"/>
          <a:lstStyle/>
          <a:p>
            <a:pPr rtl="1" algn="r" indent="0" marL="0">
              <a:lnSpc>
                <a:spcPct val="105000"/>
              </a:lnSpc>
              <a:buNone/>
            </a:pPr>
            <a:r>
              <a:rPr lang="ar-IQ" altLang="en-US" sz="1150" b="1" dirty="0">
                <a:solidFill>
                  <a:schemeClr val="bg1"/>
                </a:solidFill>
              </a:rPr>
              <a:t>الموافقة على إصدار الإنذار</a:t>
            </a:r>
            <a:endParaRPr lang="ar-IQ" sz="1150" dirty="0"/>
          </a:p>
        </p:txBody>
      </p:sp>
      <p:sp>
        <p:nvSpPr>
          <p:cNvPr id="27" name="role-chip-5"/>
          <p:cNvSpPr/>
          <p:nvPr/>
        </p:nvSpPr>
        <p:spPr>
          <a:xfrm>
            <a:off x="2483053" y="2331720"/>
            <a:ext cx="1559509" cy="292608"/>
          </a:xfrm>
          <a:prstGeom prst="roundRect">
            <a:avLst>
              <a:gd name="adj" fmla="val 25000"/>
            </a:avLst>
          </a:prstGeom>
          <a:solidFill>
            <a:srgbClr val="3D4566"/>
          </a:solidFill>
          <a:ln/>
        </p:spPr>
      </p:sp>
      <p:sp>
        <p:nvSpPr>
          <p:cNvPr id="28" name="Text 26"/>
          <p:cNvSpPr txBox="1"/>
          <p:nvPr/>
        </p:nvSpPr>
        <p:spPr>
          <a:xfrm>
            <a:off x="2519629" y="2340864"/>
            <a:ext cx="1486357" cy="274320"/>
          </a:xfrm>
          <a:prstGeom prst="rect">
            <a:avLst/>
          </a:prstGeom>
          <a:noFill/>
          <a:ln/>
        </p:spPr>
        <p:txBody>
          <a:bodyPr wrap="square" lIns="0" tIns="0" rIns="0" bIns="0" rtlCol="0" anchor="ctr">
            <a:normAutofit/>
          </a:bodyPr>
          <a:lstStyle/>
          <a:p>
            <a:pPr rtl="1" algn="r" indent="0" marL="0">
              <a:buNone/>
            </a:pPr>
            <a:r>
              <a:rPr lang="ar-IQ" altLang="en-US" sz="950" dirty="0">
                <a:solidFill>
                  <a:srgbClr val="D5D9E6"/>
                </a:solidFill>
              </a:rPr>
              <a:t>رئيس الهيئة</a:t>
            </a:r>
            <a:endParaRPr lang="ar-IQ" sz="950" dirty="0"/>
          </a:p>
        </p:txBody>
      </p:sp>
      <p:sp>
        <p:nvSpPr>
          <p:cNvPr id="29" name="step-6"/>
          <p:cNvSpPr/>
          <p:nvPr/>
        </p:nvSpPr>
        <p:spPr>
          <a:xfrm>
            <a:off x="502920" y="1234440"/>
            <a:ext cx="1742389" cy="1481328"/>
          </a:xfrm>
          <a:prstGeom prst="roundRect">
            <a:avLst>
              <a:gd name="adj" fmla="val 6173"/>
            </a:avLst>
          </a:prstGeom>
          <a:solidFill>
            <a:schemeClr val="tx1"/>
          </a:solidFill>
          <a:ln/>
        </p:spPr>
      </p:sp>
      <p:sp>
        <p:nvSpPr>
          <p:cNvPr id="30" name="Text 28"/>
          <p:cNvSpPr txBox="1"/>
          <p:nvPr/>
        </p:nvSpPr>
        <p:spPr>
          <a:xfrm>
            <a:off x="1678381" y="1307592"/>
            <a:ext cx="457200" cy="274320"/>
          </a:xfrm>
          <a:prstGeom prst="rect">
            <a:avLst/>
          </a:prstGeom>
          <a:noFill/>
          <a:ln/>
        </p:spPr>
        <p:txBody>
          <a:bodyPr wrap="square" lIns="0" tIns="0" rIns="0" bIns="0" rtlCol="0" anchor="t"/>
          <a:lstStyle/>
          <a:p>
            <a:pPr rtl="1" algn="r" indent="0" marL="0">
              <a:buNone/>
            </a:pPr>
            <a:r>
              <a:rPr lang="ar-IQ" altLang="en-US" sz="1300" b="1" dirty="0">
                <a:solidFill>
                  <a:schemeClr val="accent1"/>
                </a:solidFill>
              </a:rPr>
              <a:t>6</a:t>
            </a:r>
            <a:endParaRPr lang="ar-IQ" sz="1300" dirty="0"/>
          </a:p>
        </p:txBody>
      </p:sp>
      <p:sp>
        <p:nvSpPr>
          <p:cNvPr id="31" name="Text 29"/>
          <p:cNvSpPr txBox="1"/>
          <p:nvPr/>
        </p:nvSpPr>
        <p:spPr>
          <a:xfrm>
            <a:off x="612648" y="1581912"/>
            <a:ext cx="1522933" cy="713232"/>
          </a:xfrm>
          <a:prstGeom prst="rect">
            <a:avLst/>
          </a:prstGeom>
          <a:noFill/>
          <a:ln/>
        </p:spPr>
        <p:txBody>
          <a:bodyPr wrap="square" lIns="0" tIns="0" rIns="0" bIns="0" rtlCol="0" anchor="t"/>
          <a:lstStyle/>
          <a:p>
            <a:pPr rtl="1" algn="r" indent="0" marL="0">
              <a:lnSpc>
                <a:spcPct val="105000"/>
              </a:lnSpc>
              <a:buNone/>
            </a:pPr>
            <a:r>
              <a:rPr lang="ar-IQ" altLang="en-US" sz="1150" b="1" dirty="0">
                <a:solidFill>
                  <a:schemeClr val="bg1"/>
                </a:solidFill>
              </a:rPr>
              <a:t>إعداد الإنذار من قالب معتمد وطباعته</a:t>
            </a:r>
            <a:endParaRPr lang="ar-IQ" sz="1150" dirty="0"/>
          </a:p>
        </p:txBody>
      </p:sp>
      <p:sp>
        <p:nvSpPr>
          <p:cNvPr id="32" name="role-chip-6"/>
          <p:cNvSpPr/>
          <p:nvPr/>
        </p:nvSpPr>
        <p:spPr>
          <a:xfrm>
            <a:off x="594360" y="2331720"/>
            <a:ext cx="1559509" cy="292608"/>
          </a:xfrm>
          <a:prstGeom prst="roundRect">
            <a:avLst>
              <a:gd name="adj" fmla="val 25000"/>
            </a:avLst>
          </a:prstGeom>
          <a:solidFill>
            <a:srgbClr val="3D4566"/>
          </a:solidFill>
          <a:ln/>
        </p:spPr>
      </p:sp>
      <p:sp>
        <p:nvSpPr>
          <p:cNvPr id="33" name="Text 31"/>
          <p:cNvSpPr txBox="1"/>
          <p:nvPr/>
        </p:nvSpPr>
        <p:spPr>
          <a:xfrm>
            <a:off x="630936" y="2340864"/>
            <a:ext cx="1486357" cy="274320"/>
          </a:xfrm>
          <a:prstGeom prst="rect">
            <a:avLst/>
          </a:prstGeom>
          <a:noFill/>
          <a:ln/>
        </p:spPr>
        <p:txBody>
          <a:bodyPr wrap="square" lIns="0" tIns="0" rIns="0" bIns="0" rtlCol="0" anchor="ctr">
            <a:normAutofit/>
          </a:bodyPr>
          <a:lstStyle/>
          <a:p>
            <a:pPr rtl="1" algn="r" indent="0" marL="0">
              <a:buNone/>
            </a:pPr>
            <a:r>
              <a:rPr lang="ar-IQ" altLang="en-US" sz="950" dirty="0">
                <a:solidFill>
                  <a:srgbClr val="D5D9E6"/>
                </a:solidFill>
              </a:rPr>
              <a:t>الدائرة القانونية</a:t>
            </a:r>
            <a:endParaRPr lang="ar-IQ" sz="950" dirty="0"/>
          </a:p>
        </p:txBody>
      </p:sp>
      <p:sp>
        <p:nvSpPr>
          <p:cNvPr id="34" name="step-7"/>
          <p:cNvSpPr/>
          <p:nvPr/>
        </p:nvSpPr>
        <p:spPr>
          <a:xfrm>
            <a:off x="9946386" y="2916936"/>
            <a:ext cx="1742389" cy="1481328"/>
          </a:xfrm>
          <a:prstGeom prst="roundRect">
            <a:avLst>
              <a:gd name="adj" fmla="val 6173"/>
            </a:avLst>
          </a:prstGeom>
          <a:solidFill>
            <a:schemeClr val="bg2"/>
          </a:solidFill>
          <a:ln/>
        </p:spPr>
      </p:sp>
      <p:sp>
        <p:nvSpPr>
          <p:cNvPr id="35" name="Text 33"/>
          <p:cNvSpPr txBox="1"/>
          <p:nvPr/>
        </p:nvSpPr>
        <p:spPr>
          <a:xfrm>
            <a:off x="11121847" y="2990088"/>
            <a:ext cx="457200" cy="274320"/>
          </a:xfrm>
          <a:prstGeom prst="rect">
            <a:avLst/>
          </a:prstGeom>
          <a:noFill/>
          <a:ln/>
        </p:spPr>
        <p:txBody>
          <a:bodyPr wrap="square" lIns="0" tIns="0" rIns="0" bIns="0" rtlCol="0" anchor="t"/>
          <a:lstStyle/>
          <a:p>
            <a:pPr rtl="1" algn="r" indent="0" marL="0">
              <a:buNone/>
            </a:pPr>
            <a:r>
              <a:rPr lang="ar-IQ" altLang="en-US" sz="1300" b="1" dirty="0">
                <a:solidFill>
                  <a:schemeClr val="accent4"/>
                </a:solidFill>
              </a:rPr>
              <a:t>7</a:t>
            </a:r>
            <a:endParaRPr lang="ar-IQ" sz="1300" dirty="0"/>
          </a:p>
        </p:txBody>
      </p:sp>
      <p:sp>
        <p:nvSpPr>
          <p:cNvPr id="36" name="Text 34"/>
          <p:cNvSpPr txBox="1"/>
          <p:nvPr/>
        </p:nvSpPr>
        <p:spPr>
          <a:xfrm>
            <a:off x="10056114" y="3264408"/>
            <a:ext cx="1522933" cy="713232"/>
          </a:xfrm>
          <a:prstGeom prst="rect">
            <a:avLst/>
          </a:prstGeom>
          <a:noFill/>
          <a:ln/>
        </p:spPr>
        <p:txBody>
          <a:bodyPr wrap="square" lIns="0" tIns="0" rIns="0" bIns="0" rtlCol="0" anchor="t"/>
          <a:lstStyle/>
          <a:p>
            <a:pPr rtl="1" algn="r" indent="0" marL="0">
              <a:lnSpc>
                <a:spcPct val="105000"/>
              </a:lnSpc>
              <a:buNone/>
            </a:pPr>
            <a:r>
              <a:rPr lang="ar-IQ" altLang="en-US" sz="1150" b="1" dirty="0">
                <a:solidFill>
                  <a:schemeClr val="tx1"/>
                </a:solidFill>
              </a:rPr>
              <a:t>رفع النسخة الموقعة، والإرسال، ووصل الاستلام</a:t>
            </a:r>
            <a:endParaRPr lang="ar-IQ" sz="1150" dirty="0"/>
          </a:p>
        </p:txBody>
      </p:sp>
      <p:sp>
        <p:nvSpPr>
          <p:cNvPr id="37" name="role-chip-7"/>
          <p:cNvSpPr/>
          <p:nvPr/>
        </p:nvSpPr>
        <p:spPr>
          <a:xfrm>
            <a:off x="10037826" y="4014216"/>
            <a:ext cx="1559509" cy="292608"/>
          </a:xfrm>
          <a:prstGeom prst="roundRect">
            <a:avLst>
              <a:gd name="adj" fmla="val 25000"/>
            </a:avLst>
          </a:prstGeom>
          <a:solidFill>
            <a:srgbClr val="FFFFFF"/>
          </a:solidFill>
          <a:ln/>
        </p:spPr>
      </p:sp>
      <p:sp>
        <p:nvSpPr>
          <p:cNvPr id="38" name="Text 36"/>
          <p:cNvSpPr txBox="1"/>
          <p:nvPr/>
        </p:nvSpPr>
        <p:spPr>
          <a:xfrm>
            <a:off x="10074402" y="4023360"/>
            <a:ext cx="1486357" cy="274320"/>
          </a:xfrm>
          <a:prstGeom prst="rect">
            <a:avLst/>
          </a:prstGeom>
          <a:noFill/>
          <a:ln/>
        </p:spPr>
        <p:txBody>
          <a:bodyPr wrap="square" lIns="0" tIns="0" rIns="0" bIns="0" rtlCol="0" anchor="ctr">
            <a:normAutofit/>
          </a:bodyPr>
          <a:lstStyle/>
          <a:p>
            <a:pPr rtl="1" algn="r" indent="0" marL="0">
              <a:buNone/>
            </a:pPr>
            <a:r>
              <a:rPr lang="ar-IQ" altLang="en-US" sz="950" dirty="0">
                <a:solidFill>
                  <a:srgbClr val="4A5068"/>
                </a:solidFill>
              </a:rPr>
              <a:t>شعبة التبليغات</a:t>
            </a:r>
            <a:endParaRPr lang="ar-IQ" sz="950" dirty="0"/>
          </a:p>
        </p:txBody>
      </p:sp>
      <p:sp>
        <p:nvSpPr>
          <p:cNvPr id="39" name="step-8"/>
          <p:cNvSpPr/>
          <p:nvPr/>
        </p:nvSpPr>
        <p:spPr>
          <a:xfrm>
            <a:off x="8057693" y="2916936"/>
            <a:ext cx="1742389" cy="1481328"/>
          </a:xfrm>
          <a:prstGeom prst="roundRect">
            <a:avLst>
              <a:gd name="adj" fmla="val 6173"/>
            </a:avLst>
          </a:prstGeom>
          <a:solidFill>
            <a:schemeClr val="bg2"/>
          </a:solidFill>
          <a:ln/>
        </p:spPr>
      </p:sp>
      <p:sp>
        <p:nvSpPr>
          <p:cNvPr id="40" name="Text 38"/>
          <p:cNvSpPr txBox="1"/>
          <p:nvPr/>
        </p:nvSpPr>
        <p:spPr>
          <a:xfrm>
            <a:off x="9233154" y="2990088"/>
            <a:ext cx="457200" cy="274320"/>
          </a:xfrm>
          <a:prstGeom prst="rect">
            <a:avLst/>
          </a:prstGeom>
          <a:noFill/>
          <a:ln/>
        </p:spPr>
        <p:txBody>
          <a:bodyPr wrap="square" lIns="0" tIns="0" rIns="0" bIns="0" rtlCol="0" anchor="t"/>
          <a:lstStyle/>
          <a:p>
            <a:pPr rtl="1" algn="r" indent="0" marL="0">
              <a:buNone/>
            </a:pPr>
            <a:r>
              <a:rPr lang="ar-IQ" altLang="en-US" sz="1300" b="1" dirty="0">
                <a:solidFill>
                  <a:schemeClr val="accent4"/>
                </a:solidFill>
              </a:rPr>
              <a:t>8</a:t>
            </a:r>
            <a:endParaRPr lang="ar-IQ" sz="1300" dirty="0"/>
          </a:p>
        </p:txBody>
      </p:sp>
      <p:sp>
        <p:nvSpPr>
          <p:cNvPr id="41" name="Text 39"/>
          <p:cNvSpPr txBox="1"/>
          <p:nvPr/>
        </p:nvSpPr>
        <p:spPr>
          <a:xfrm>
            <a:off x="8167421" y="3264408"/>
            <a:ext cx="1522933" cy="713232"/>
          </a:xfrm>
          <a:prstGeom prst="rect">
            <a:avLst/>
          </a:prstGeom>
          <a:noFill/>
          <a:ln/>
        </p:spPr>
        <p:txBody>
          <a:bodyPr wrap="square" lIns="0" tIns="0" rIns="0" bIns="0" rtlCol="0" anchor="t"/>
          <a:lstStyle/>
          <a:p>
            <a:pPr rtl="1" algn="r" indent="0" marL="0">
              <a:lnSpc>
                <a:spcPct val="105000"/>
              </a:lnSpc>
              <a:buNone/>
            </a:pPr>
            <a:r>
              <a:rPr lang="ar-IQ" altLang="en-US" sz="1150" b="1" dirty="0">
                <a:solidFill>
                  <a:schemeClr val="tx1"/>
                </a:solidFill>
              </a:rPr>
              <a:t>تبدأ المدة القانونية آلياً مع تنبيهات، والتمديد بقرار</a:t>
            </a:r>
            <a:endParaRPr lang="ar-IQ" sz="1150" dirty="0"/>
          </a:p>
        </p:txBody>
      </p:sp>
      <p:sp>
        <p:nvSpPr>
          <p:cNvPr id="42" name="role-chip-8"/>
          <p:cNvSpPr/>
          <p:nvPr/>
        </p:nvSpPr>
        <p:spPr>
          <a:xfrm>
            <a:off x="8149133" y="4014216"/>
            <a:ext cx="1559509" cy="292608"/>
          </a:xfrm>
          <a:prstGeom prst="roundRect">
            <a:avLst>
              <a:gd name="adj" fmla="val 25000"/>
            </a:avLst>
          </a:prstGeom>
          <a:solidFill>
            <a:srgbClr val="FFFFFF"/>
          </a:solidFill>
          <a:ln/>
        </p:spPr>
      </p:sp>
      <p:sp>
        <p:nvSpPr>
          <p:cNvPr id="43" name="Text 41"/>
          <p:cNvSpPr txBox="1"/>
          <p:nvPr/>
        </p:nvSpPr>
        <p:spPr>
          <a:xfrm>
            <a:off x="8185709" y="4023360"/>
            <a:ext cx="1486357" cy="274320"/>
          </a:xfrm>
          <a:prstGeom prst="rect">
            <a:avLst/>
          </a:prstGeom>
          <a:noFill/>
          <a:ln/>
        </p:spPr>
        <p:txBody>
          <a:bodyPr wrap="square" lIns="0" tIns="0" rIns="0" bIns="0" rtlCol="0" anchor="ctr">
            <a:normAutofit/>
          </a:bodyPr>
          <a:lstStyle/>
          <a:p>
            <a:pPr rtl="1" algn="r" indent="0" marL="0">
              <a:buNone/>
            </a:pPr>
            <a:r>
              <a:rPr lang="ar-IQ" altLang="en-US" sz="950" dirty="0">
                <a:solidFill>
                  <a:srgbClr val="4A5068"/>
                </a:solidFill>
              </a:rPr>
              <a:t>النظام / رئيس الهيئة</a:t>
            </a:r>
            <a:endParaRPr lang="ar-IQ" sz="950" dirty="0"/>
          </a:p>
        </p:txBody>
      </p:sp>
      <p:sp>
        <p:nvSpPr>
          <p:cNvPr id="44" name="step-9"/>
          <p:cNvSpPr/>
          <p:nvPr/>
        </p:nvSpPr>
        <p:spPr>
          <a:xfrm>
            <a:off x="6169000" y="2916936"/>
            <a:ext cx="1742389" cy="1481328"/>
          </a:xfrm>
          <a:prstGeom prst="roundRect">
            <a:avLst>
              <a:gd name="adj" fmla="val 6173"/>
            </a:avLst>
          </a:prstGeom>
          <a:solidFill>
            <a:schemeClr val="bg2"/>
          </a:solidFill>
          <a:ln/>
        </p:spPr>
      </p:sp>
      <p:sp>
        <p:nvSpPr>
          <p:cNvPr id="45" name="Text 43"/>
          <p:cNvSpPr txBox="1"/>
          <p:nvPr/>
        </p:nvSpPr>
        <p:spPr>
          <a:xfrm>
            <a:off x="7344461" y="2990088"/>
            <a:ext cx="457200" cy="274320"/>
          </a:xfrm>
          <a:prstGeom prst="rect">
            <a:avLst/>
          </a:prstGeom>
          <a:noFill/>
          <a:ln/>
        </p:spPr>
        <p:txBody>
          <a:bodyPr wrap="square" lIns="0" tIns="0" rIns="0" bIns="0" rtlCol="0" anchor="t"/>
          <a:lstStyle/>
          <a:p>
            <a:pPr rtl="1" algn="r" indent="0" marL="0">
              <a:buNone/>
            </a:pPr>
            <a:r>
              <a:rPr lang="ar-IQ" altLang="en-US" sz="1300" b="1" dirty="0">
                <a:solidFill>
                  <a:schemeClr val="accent4"/>
                </a:solidFill>
              </a:rPr>
              <a:t>9</a:t>
            </a:r>
            <a:endParaRPr lang="ar-IQ" sz="1300" dirty="0"/>
          </a:p>
        </p:txBody>
      </p:sp>
      <p:sp>
        <p:nvSpPr>
          <p:cNvPr id="46" name="Text 44"/>
          <p:cNvSpPr txBox="1"/>
          <p:nvPr/>
        </p:nvSpPr>
        <p:spPr>
          <a:xfrm>
            <a:off x="6278728" y="3264408"/>
            <a:ext cx="1522933" cy="713232"/>
          </a:xfrm>
          <a:prstGeom prst="rect">
            <a:avLst/>
          </a:prstGeom>
          <a:noFill/>
          <a:ln/>
        </p:spPr>
        <p:txBody>
          <a:bodyPr wrap="square" lIns="0" tIns="0" rIns="0" bIns="0" rtlCol="0" anchor="t"/>
          <a:lstStyle/>
          <a:p>
            <a:pPr rtl="1" algn="r" indent="0" marL="0">
              <a:lnSpc>
                <a:spcPct val="105000"/>
              </a:lnSpc>
              <a:buNone/>
            </a:pPr>
            <a:r>
              <a:rPr lang="ar-IQ" altLang="en-US" sz="1150" b="1" dirty="0">
                <a:solidFill>
                  <a:schemeClr val="tx1"/>
                </a:solidFill>
              </a:rPr>
              <a:t>استجابة أو اعتراض أو عدم استجابة (التفاصيل أدناه)</a:t>
            </a:r>
            <a:endParaRPr lang="ar-IQ" sz="1150" dirty="0"/>
          </a:p>
        </p:txBody>
      </p:sp>
      <p:sp>
        <p:nvSpPr>
          <p:cNvPr id="47" name="role-chip-9"/>
          <p:cNvSpPr/>
          <p:nvPr/>
        </p:nvSpPr>
        <p:spPr>
          <a:xfrm>
            <a:off x="6260440" y="4014216"/>
            <a:ext cx="1559509" cy="292608"/>
          </a:xfrm>
          <a:prstGeom prst="roundRect">
            <a:avLst>
              <a:gd name="adj" fmla="val 25000"/>
            </a:avLst>
          </a:prstGeom>
          <a:solidFill>
            <a:srgbClr val="FFFFFF"/>
          </a:solidFill>
          <a:ln/>
        </p:spPr>
      </p:sp>
      <p:sp>
        <p:nvSpPr>
          <p:cNvPr id="48" name="Text 46"/>
          <p:cNvSpPr txBox="1"/>
          <p:nvPr/>
        </p:nvSpPr>
        <p:spPr>
          <a:xfrm>
            <a:off x="6297016" y="4023360"/>
            <a:ext cx="1486357" cy="274320"/>
          </a:xfrm>
          <a:prstGeom prst="rect">
            <a:avLst/>
          </a:prstGeom>
          <a:noFill/>
          <a:ln/>
        </p:spPr>
        <p:txBody>
          <a:bodyPr wrap="square" lIns="0" tIns="0" rIns="0" bIns="0" rtlCol="0" anchor="ctr">
            <a:normAutofit/>
          </a:bodyPr>
          <a:lstStyle/>
          <a:p>
            <a:pPr rtl="1" algn="r" indent="0" marL="0">
              <a:buNone/>
            </a:pPr>
            <a:r>
              <a:rPr lang="ar-IQ" altLang="en-US" sz="950" dirty="0">
                <a:solidFill>
                  <a:srgbClr val="4A5068"/>
                </a:solidFill>
              </a:rPr>
              <a:t>المالي / الفني / القانونية</a:t>
            </a:r>
            <a:endParaRPr lang="ar-IQ" sz="950" dirty="0"/>
          </a:p>
        </p:txBody>
      </p:sp>
      <p:sp>
        <p:nvSpPr>
          <p:cNvPr id="49" name="step-10"/>
          <p:cNvSpPr/>
          <p:nvPr/>
        </p:nvSpPr>
        <p:spPr>
          <a:xfrm>
            <a:off x="4280306" y="2916936"/>
            <a:ext cx="1742389" cy="1481328"/>
          </a:xfrm>
          <a:prstGeom prst="roundRect">
            <a:avLst>
              <a:gd name="adj" fmla="val 6173"/>
            </a:avLst>
          </a:prstGeom>
          <a:solidFill>
            <a:schemeClr val="bg2"/>
          </a:solidFill>
          <a:ln/>
        </p:spPr>
      </p:sp>
      <p:sp>
        <p:nvSpPr>
          <p:cNvPr id="50" name="Text 48"/>
          <p:cNvSpPr txBox="1"/>
          <p:nvPr/>
        </p:nvSpPr>
        <p:spPr>
          <a:xfrm>
            <a:off x="5455768" y="2990088"/>
            <a:ext cx="457200" cy="274320"/>
          </a:xfrm>
          <a:prstGeom prst="rect">
            <a:avLst/>
          </a:prstGeom>
          <a:noFill/>
          <a:ln/>
        </p:spPr>
        <p:txBody>
          <a:bodyPr wrap="square" lIns="0" tIns="0" rIns="0" bIns="0" rtlCol="0" anchor="t"/>
          <a:lstStyle/>
          <a:p>
            <a:pPr rtl="1" algn="r" indent="0" marL="0">
              <a:buNone/>
            </a:pPr>
            <a:r>
              <a:rPr lang="ar-IQ" altLang="en-US" sz="1300" b="1" dirty="0">
                <a:solidFill>
                  <a:schemeClr val="accent4"/>
                </a:solidFill>
              </a:rPr>
              <a:t>10</a:t>
            </a:r>
            <a:endParaRPr lang="ar-IQ" sz="1300" dirty="0"/>
          </a:p>
        </p:txBody>
      </p:sp>
      <p:sp>
        <p:nvSpPr>
          <p:cNvPr id="51" name="Text 49"/>
          <p:cNvSpPr txBox="1"/>
          <p:nvPr/>
        </p:nvSpPr>
        <p:spPr>
          <a:xfrm>
            <a:off x="4390034" y="3264408"/>
            <a:ext cx="1522933" cy="713232"/>
          </a:xfrm>
          <a:prstGeom prst="rect">
            <a:avLst/>
          </a:prstGeom>
          <a:noFill/>
          <a:ln/>
        </p:spPr>
        <p:txBody>
          <a:bodyPr wrap="square" lIns="0" tIns="0" rIns="0" bIns="0" rtlCol="0" anchor="t"/>
          <a:lstStyle/>
          <a:p>
            <a:pPr rtl="1" algn="r" indent="0" marL="0">
              <a:lnSpc>
                <a:spcPct val="105000"/>
              </a:lnSpc>
              <a:buNone/>
            </a:pPr>
            <a:r>
              <a:rPr lang="ar-IQ" altLang="en-US" sz="1150" b="1" dirty="0">
                <a:solidFill>
                  <a:schemeClr val="tx1"/>
                </a:solidFill>
              </a:rPr>
              <a:t>التحقق النهائي وطلب الإغلاق</a:t>
            </a:r>
            <a:endParaRPr lang="ar-IQ" sz="1150" dirty="0"/>
          </a:p>
        </p:txBody>
      </p:sp>
      <p:sp>
        <p:nvSpPr>
          <p:cNvPr id="52" name="role-chip-10"/>
          <p:cNvSpPr/>
          <p:nvPr/>
        </p:nvSpPr>
        <p:spPr>
          <a:xfrm>
            <a:off x="4371746" y="4014216"/>
            <a:ext cx="1559509" cy="292608"/>
          </a:xfrm>
          <a:prstGeom prst="roundRect">
            <a:avLst>
              <a:gd name="adj" fmla="val 25000"/>
            </a:avLst>
          </a:prstGeom>
          <a:solidFill>
            <a:srgbClr val="FFFFFF"/>
          </a:solidFill>
          <a:ln/>
        </p:spPr>
      </p:sp>
      <p:sp>
        <p:nvSpPr>
          <p:cNvPr id="53" name="Text 51"/>
          <p:cNvSpPr txBox="1"/>
          <p:nvPr/>
        </p:nvSpPr>
        <p:spPr>
          <a:xfrm>
            <a:off x="4408322" y="4023360"/>
            <a:ext cx="1486357" cy="274320"/>
          </a:xfrm>
          <a:prstGeom prst="rect">
            <a:avLst/>
          </a:prstGeom>
          <a:noFill/>
          <a:ln/>
        </p:spPr>
        <p:txBody>
          <a:bodyPr wrap="square" lIns="0" tIns="0" rIns="0" bIns="0" rtlCol="0" anchor="ctr">
            <a:normAutofit/>
          </a:bodyPr>
          <a:lstStyle/>
          <a:p>
            <a:pPr rtl="1" algn="r" indent="0" marL="0">
              <a:buNone/>
            </a:pPr>
            <a:r>
              <a:rPr lang="ar-IQ" altLang="en-US" sz="950" dirty="0">
                <a:solidFill>
                  <a:srgbClr val="4A5068"/>
                </a:solidFill>
              </a:rPr>
              <a:t>الدائرة القانونية / التسجيل</a:t>
            </a:r>
            <a:endParaRPr lang="ar-IQ" sz="950" dirty="0"/>
          </a:p>
        </p:txBody>
      </p:sp>
      <p:sp>
        <p:nvSpPr>
          <p:cNvPr id="54" name="step-11"/>
          <p:cNvSpPr/>
          <p:nvPr/>
        </p:nvSpPr>
        <p:spPr>
          <a:xfrm>
            <a:off x="2391613" y="2916936"/>
            <a:ext cx="1742389" cy="1481328"/>
          </a:xfrm>
          <a:prstGeom prst="roundRect">
            <a:avLst>
              <a:gd name="adj" fmla="val 6173"/>
            </a:avLst>
          </a:prstGeom>
          <a:solidFill>
            <a:schemeClr val="accent1"/>
          </a:solidFill>
          <a:ln/>
        </p:spPr>
      </p:sp>
      <p:sp>
        <p:nvSpPr>
          <p:cNvPr id="55" name="Text 53"/>
          <p:cNvSpPr txBox="1"/>
          <p:nvPr/>
        </p:nvSpPr>
        <p:spPr>
          <a:xfrm>
            <a:off x="3567074" y="2990088"/>
            <a:ext cx="457200" cy="274320"/>
          </a:xfrm>
          <a:prstGeom prst="rect">
            <a:avLst/>
          </a:prstGeom>
          <a:noFill/>
          <a:ln/>
        </p:spPr>
        <p:txBody>
          <a:bodyPr wrap="square" lIns="0" tIns="0" rIns="0" bIns="0" rtlCol="0" anchor="t"/>
          <a:lstStyle/>
          <a:p>
            <a:pPr rtl="1" algn="r" indent="0" marL="0">
              <a:buNone/>
            </a:pPr>
            <a:r>
              <a:rPr lang="ar-IQ" altLang="en-US" sz="1300" b="1" dirty="0">
                <a:solidFill>
                  <a:schemeClr val="accent4"/>
                </a:solidFill>
              </a:rPr>
              <a:t>11</a:t>
            </a:r>
            <a:endParaRPr lang="ar-IQ" sz="1300" dirty="0"/>
          </a:p>
        </p:txBody>
      </p:sp>
      <p:sp>
        <p:nvSpPr>
          <p:cNvPr id="56" name="Text 54"/>
          <p:cNvSpPr txBox="1"/>
          <p:nvPr/>
        </p:nvSpPr>
        <p:spPr>
          <a:xfrm>
            <a:off x="2501341" y="3264408"/>
            <a:ext cx="1522933" cy="713232"/>
          </a:xfrm>
          <a:prstGeom prst="rect">
            <a:avLst/>
          </a:prstGeom>
          <a:noFill/>
          <a:ln/>
        </p:spPr>
        <p:txBody>
          <a:bodyPr wrap="square" lIns="0" tIns="0" rIns="0" bIns="0" rtlCol="0" anchor="t"/>
          <a:lstStyle/>
          <a:p>
            <a:pPr rtl="1" algn="r" indent="0" marL="0">
              <a:lnSpc>
                <a:spcPct val="105000"/>
              </a:lnSpc>
              <a:buNone/>
            </a:pPr>
            <a:r>
              <a:rPr lang="ar-IQ" altLang="en-US" sz="1150" b="1" dirty="0">
                <a:solidFill>
                  <a:schemeClr val="tx1"/>
                </a:solidFill>
              </a:rPr>
              <a:t>اعتماد الإغلاق من غير طالبه، ثم الأرشيف</a:t>
            </a:r>
            <a:endParaRPr lang="ar-IQ" sz="1150" dirty="0"/>
          </a:p>
        </p:txBody>
      </p:sp>
      <p:sp>
        <p:nvSpPr>
          <p:cNvPr id="57" name="role-chip-11"/>
          <p:cNvSpPr/>
          <p:nvPr/>
        </p:nvSpPr>
        <p:spPr>
          <a:xfrm>
            <a:off x="2483053" y="4014216"/>
            <a:ext cx="1559509" cy="292608"/>
          </a:xfrm>
          <a:prstGeom prst="roundRect">
            <a:avLst>
              <a:gd name="adj" fmla="val 25000"/>
            </a:avLst>
          </a:prstGeom>
          <a:solidFill>
            <a:srgbClr val="FFFFFF"/>
          </a:solidFill>
          <a:ln/>
        </p:spPr>
      </p:sp>
      <p:sp>
        <p:nvSpPr>
          <p:cNvPr id="58" name="Text 56"/>
          <p:cNvSpPr txBox="1"/>
          <p:nvPr/>
        </p:nvSpPr>
        <p:spPr>
          <a:xfrm>
            <a:off x="2519629" y="4023360"/>
            <a:ext cx="1486357" cy="274320"/>
          </a:xfrm>
          <a:prstGeom prst="rect">
            <a:avLst/>
          </a:prstGeom>
          <a:noFill/>
          <a:ln/>
        </p:spPr>
        <p:txBody>
          <a:bodyPr wrap="square" lIns="0" tIns="0" rIns="0" bIns="0" rtlCol="0" anchor="ctr">
            <a:normAutofit/>
          </a:bodyPr>
          <a:lstStyle/>
          <a:p>
            <a:pPr rtl="1" algn="r" indent="0" marL="0">
              <a:buNone/>
            </a:pPr>
            <a:r>
              <a:rPr lang="ar-IQ" altLang="en-US" sz="950" dirty="0">
                <a:solidFill>
                  <a:srgbClr val="4A5068"/>
                </a:solidFill>
              </a:rPr>
              <a:t>رئيس الهيئة</a:t>
            </a:r>
            <a:endParaRPr lang="ar-IQ" sz="950" dirty="0"/>
          </a:p>
        </p:txBody>
      </p:sp>
      <p:sp>
        <p:nvSpPr>
          <p:cNvPr id="59" name="step-12"/>
          <p:cNvSpPr/>
          <p:nvPr/>
        </p:nvSpPr>
        <p:spPr>
          <a:xfrm>
            <a:off x="502920" y="2916936"/>
            <a:ext cx="1742389" cy="1481328"/>
          </a:xfrm>
          <a:prstGeom prst="roundRect">
            <a:avLst>
              <a:gd name="adj" fmla="val 6173"/>
            </a:avLst>
          </a:prstGeom>
          <a:solidFill>
            <a:schemeClr val="bg2"/>
          </a:solidFill>
          <a:ln/>
        </p:spPr>
      </p:sp>
      <p:sp>
        <p:nvSpPr>
          <p:cNvPr id="60" name="Text 58"/>
          <p:cNvSpPr txBox="1"/>
          <p:nvPr/>
        </p:nvSpPr>
        <p:spPr>
          <a:xfrm>
            <a:off x="1678381" y="2990088"/>
            <a:ext cx="457200" cy="274320"/>
          </a:xfrm>
          <a:prstGeom prst="rect">
            <a:avLst/>
          </a:prstGeom>
          <a:noFill/>
          <a:ln/>
        </p:spPr>
        <p:txBody>
          <a:bodyPr wrap="square" lIns="0" tIns="0" rIns="0" bIns="0" rtlCol="0" anchor="t"/>
          <a:lstStyle/>
          <a:p>
            <a:pPr rtl="1" algn="r" indent="0" marL="0">
              <a:buNone/>
            </a:pPr>
            <a:r>
              <a:rPr lang="ar-IQ" altLang="en-US" sz="1300" b="1" dirty="0">
                <a:solidFill>
                  <a:schemeClr val="accent4"/>
                </a:solidFill>
              </a:rPr>
              <a:t>12</a:t>
            </a:r>
            <a:endParaRPr lang="ar-IQ" sz="1300" dirty="0"/>
          </a:p>
        </p:txBody>
      </p:sp>
      <p:sp>
        <p:nvSpPr>
          <p:cNvPr id="61" name="Text 59"/>
          <p:cNvSpPr txBox="1"/>
          <p:nvPr/>
        </p:nvSpPr>
        <p:spPr>
          <a:xfrm>
            <a:off x="612648" y="3264408"/>
            <a:ext cx="1522933" cy="713232"/>
          </a:xfrm>
          <a:prstGeom prst="rect">
            <a:avLst/>
          </a:prstGeom>
          <a:noFill/>
          <a:ln/>
        </p:spPr>
        <p:txBody>
          <a:bodyPr wrap="square" lIns="0" tIns="0" rIns="0" bIns="0" rtlCol="0" anchor="t"/>
          <a:lstStyle/>
          <a:p>
            <a:pPr rtl="1" algn="r" indent="0" marL="0">
              <a:lnSpc>
                <a:spcPct val="105000"/>
              </a:lnSpc>
              <a:buNone/>
            </a:pPr>
            <a:r>
              <a:rPr lang="ar-IQ" altLang="en-US" sz="1150" b="1" dirty="0">
                <a:solidFill>
                  <a:schemeClr val="tx1"/>
                </a:solidFill>
              </a:rPr>
              <a:t>إعادة الفتح عند الحاجة بسبب، مع بقاء السجل السابق</a:t>
            </a:r>
            <a:endParaRPr lang="ar-IQ" sz="1150" dirty="0"/>
          </a:p>
        </p:txBody>
      </p:sp>
      <p:sp>
        <p:nvSpPr>
          <p:cNvPr id="62" name="role-chip-12"/>
          <p:cNvSpPr/>
          <p:nvPr/>
        </p:nvSpPr>
        <p:spPr>
          <a:xfrm>
            <a:off x="594360" y="4014216"/>
            <a:ext cx="1559509" cy="292608"/>
          </a:xfrm>
          <a:prstGeom prst="roundRect">
            <a:avLst>
              <a:gd name="adj" fmla="val 25000"/>
            </a:avLst>
          </a:prstGeom>
          <a:solidFill>
            <a:srgbClr val="FFFFFF"/>
          </a:solidFill>
          <a:ln/>
        </p:spPr>
      </p:sp>
      <p:sp>
        <p:nvSpPr>
          <p:cNvPr id="63" name="Text 61"/>
          <p:cNvSpPr txBox="1"/>
          <p:nvPr/>
        </p:nvSpPr>
        <p:spPr>
          <a:xfrm>
            <a:off x="630936" y="4023360"/>
            <a:ext cx="1486357" cy="274320"/>
          </a:xfrm>
          <a:prstGeom prst="rect">
            <a:avLst/>
          </a:prstGeom>
          <a:noFill/>
          <a:ln/>
        </p:spPr>
        <p:txBody>
          <a:bodyPr wrap="square" lIns="0" tIns="0" rIns="0" bIns="0" rtlCol="0" anchor="ctr">
            <a:normAutofit/>
          </a:bodyPr>
          <a:lstStyle/>
          <a:p>
            <a:pPr rtl="1" algn="r" indent="0" marL="0">
              <a:buNone/>
            </a:pPr>
            <a:r>
              <a:rPr lang="ar-IQ" altLang="en-US" sz="950" dirty="0">
                <a:solidFill>
                  <a:srgbClr val="4A5068"/>
                </a:solidFill>
              </a:rPr>
              <a:t>رئيس الهيئة</a:t>
            </a:r>
            <a:endParaRPr lang="ar-IQ" sz="950" dirty="0"/>
          </a:p>
        </p:txBody>
      </p:sp>
      <p:sp>
        <p:nvSpPr>
          <p:cNvPr id="64" name="branch-1"/>
          <p:cNvSpPr/>
          <p:nvPr/>
        </p:nvSpPr>
        <p:spPr>
          <a:xfrm>
            <a:off x="8082077" y="4617720"/>
            <a:ext cx="3606698" cy="1600200"/>
          </a:xfrm>
          <a:prstGeom prst="roundRect">
            <a:avLst>
              <a:gd name="adj" fmla="val 5714"/>
            </a:avLst>
          </a:prstGeom>
          <a:solidFill>
            <a:schemeClr val="bg1"/>
          </a:solidFill>
          <a:ln w="15875">
            <a:solidFill>
              <a:srgbClr val="2A314D"/>
            </a:solidFill>
            <a:prstDash val="solid"/>
          </a:ln>
        </p:spPr>
      </p:sp>
      <p:sp>
        <p:nvSpPr>
          <p:cNvPr id="65" name="Text 63"/>
          <p:cNvSpPr txBox="1"/>
          <p:nvPr/>
        </p:nvSpPr>
        <p:spPr>
          <a:xfrm>
            <a:off x="8264957" y="4727448"/>
            <a:ext cx="3240938" cy="320040"/>
          </a:xfrm>
          <a:prstGeom prst="rect">
            <a:avLst/>
          </a:prstGeom>
          <a:noFill/>
          <a:ln/>
        </p:spPr>
        <p:txBody>
          <a:bodyPr wrap="square" lIns="0" tIns="0" rIns="0" bIns="0" rtlCol="0" anchor="t"/>
          <a:lstStyle/>
          <a:p>
            <a:pPr rtl="1" algn="r" indent="0" marL="0">
              <a:buNone/>
            </a:pPr>
            <a:r>
              <a:rPr lang="ar-IQ" altLang="en-US" sz="1300" b="1" dirty="0">
                <a:solidFill>
                  <a:schemeClr val="accent4"/>
                </a:solidFill>
              </a:rPr>
              <a:t>الخطوة 9 — استجابة</a:t>
            </a:r>
            <a:endParaRPr lang="ar-IQ" sz="1300" dirty="0"/>
          </a:p>
        </p:txBody>
      </p:sp>
      <p:sp>
        <p:nvSpPr>
          <p:cNvPr id="66" name="Text 64"/>
          <p:cNvSpPr txBox="1"/>
          <p:nvPr/>
        </p:nvSpPr>
        <p:spPr>
          <a:xfrm>
            <a:off x="8264957" y="5074920"/>
            <a:ext cx="3240938" cy="1097280"/>
          </a:xfrm>
          <a:prstGeom prst="rect">
            <a:avLst/>
          </a:prstGeom>
          <a:noFill/>
          <a:ln/>
        </p:spPr>
        <p:txBody>
          <a:bodyPr wrap="square" lIns="0" tIns="0" rIns="0" bIns="0" rtlCol="0" anchor="t"/>
          <a:lstStyle/>
          <a:p>
            <a:pPr rtl="1" algn="r" indent="0" marL="0">
              <a:lnSpc>
                <a:spcPct val="110000"/>
              </a:lnSpc>
              <a:buNone/>
            </a:pPr>
            <a:r>
              <a:rPr lang="ar-IQ" altLang="en-US" sz="1150" dirty="0">
                <a:solidFill>
                  <a:schemeClr val="tx1"/>
                </a:solidFill>
              </a:rPr>
              <a:t>مالية: مستحق من سند معتمد وتسديد جزئي، وتدقيق مالي. فنية أو قانونية: تحقق القسم ورأيه. إزالة: بأدلة واعتماد. والقرار لرئيس الهيئة.</a:t>
            </a:r>
            <a:endParaRPr lang="ar-IQ" sz="1150" dirty="0"/>
          </a:p>
        </p:txBody>
      </p:sp>
      <p:sp>
        <p:nvSpPr>
          <p:cNvPr id="67" name="branch-2"/>
          <p:cNvSpPr/>
          <p:nvPr/>
        </p:nvSpPr>
        <p:spPr>
          <a:xfrm>
            <a:off x="4292498" y="4617720"/>
            <a:ext cx="3606698" cy="1600200"/>
          </a:xfrm>
          <a:prstGeom prst="roundRect">
            <a:avLst>
              <a:gd name="adj" fmla="val 5714"/>
            </a:avLst>
          </a:prstGeom>
          <a:solidFill>
            <a:schemeClr val="bg1"/>
          </a:solidFill>
          <a:ln w="15875">
            <a:solidFill>
              <a:srgbClr val="2A314D"/>
            </a:solidFill>
            <a:prstDash val="solid"/>
          </a:ln>
        </p:spPr>
      </p:sp>
      <p:sp>
        <p:nvSpPr>
          <p:cNvPr id="68" name="Text 66"/>
          <p:cNvSpPr txBox="1"/>
          <p:nvPr/>
        </p:nvSpPr>
        <p:spPr>
          <a:xfrm>
            <a:off x="4475378" y="4727448"/>
            <a:ext cx="3240938" cy="320040"/>
          </a:xfrm>
          <a:prstGeom prst="rect">
            <a:avLst/>
          </a:prstGeom>
          <a:noFill/>
          <a:ln/>
        </p:spPr>
        <p:txBody>
          <a:bodyPr wrap="square" lIns="0" tIns="0" rIns="0" bIns="0" rtlCol="0" anchor="t"/>
          <a:lstStyle/>
          <a:p>
            <a:pPr rtl="1" algn="r" indent="0" marL="0">
              <a:buNone/>
            </a:pPr>
            <a:r>
              <a:rPr lang="ar-IQ" altLang="en-US" sz="1300" b="1" dirty="0">
                <a:solidFill>
                  <a:schemeClr val="accent4"/>
                </a:solidFill>
              </a:rPr>
              <a:t>الخطوة 9 — اعتراض أو طعن</a:t>
            </a:r>
            <a:endParaRPr lang="ar-IQ" sz="1300" dirty="0"/>
          </a:p>
        </p:txBody>
      </p:sp>
      <p:sp>
        <p:nvSpPr>
          <p:cNvPr id="69" name="Text 67"/>
          <p:cNvSpPr txBox="1"/>
          <p:nvPr/>
        </p:nvSpPr>
        <p:spPr>
          <a:xfrm>
            <a:off x="4475378" y="5074920"/>
            <a:ext cx="3240938" cy="1097280"/>
          </a:xfrm>
          <a:prstGeom prst="rect">
            <a:avLst/>
          </a:prstGeom>
          <a:noFill/>
          <a:ln/>
        </p:spPr>
        <p:txBody>
          <a:bodyPr wrap="square" lIns="0" tIns="0" rIns="0" bIns="0" rtlCol="0" anchor="t"/>
          <a:lstStyle/>
          <a:p>
            <a:pPr rtl="1" algn="r" indent="0" marL="0">
              <a:lnSpc>
                <a:spcPct val="110000"/>
              </a:lnSpc>
              <a:buNone/>
            </a:pPr>
            <a:r>
              <a:rPr lang="ar-IQ" altLang="en-US" sz="1150" dirty="0">
                <a:solidFill>
                  <a:schemeClr val="tx1"/>
                </a:solidFill>
              </a:rPr>
              <a:t>تسجّله الدائرة القانونية بمستنداته، وتعليق المدة بحسب القاعدة، وقرار يحدد مسار الملف.</a:t>
            </a:r>
            <a:endParaRPr lang="ar-IQ" sz="1150" dirty="0"/>
          </a:p>
        </p:txBody>
      </p:sp>
      <p:sp>
        <p:nvSpPr>
          <p:cNvPr id="70" name="branch-3"/>
          <p:cNvSpPr/>
          <p:nvPr/>
        </p:nvSpPr>
        <p:spPr>
          <a:xfrm>
            <a:off x="502920" y="4617720"/>
            <a:ext cx="3606698" cy="1600200"/>
          </a:xfrm>
          <a:prstGeom prst="roundRect">
            <a:avLst>
              <a:gd name="adj" fmla="val 5714"/>
            </a:avLst>
          </a:prstGeom>
          <a:solidFill>
            <a:schemeClr val="bg1"/>
          </a:solidFill>
          <a:ln w="15875">
            <a:solidFill>
              <a:srgbClr val="2A314D"/>
            </a:solidFill>
            <a:prstDash val="solid"/>
          </a:ln>
        </p:spPr>
      </p:sp>
      <p:sp>
        <p:nvSpPr>
          <p:cNvPr id="71" name="Text 69"/>
          <p:cNvSpPr txBox="1"/>
          <p:nvPr/>
        </p:nvSpPr>
        <p:spPr>
          <a:xfrm>
            <a:off x="685800" y="4727448"/>
            <a:ext cx="3240938" cy="320040"/>
          </a:xfrm>
          <a:prstGeom prst="rect">
            <a:avLst/>
          </a:prstGeom>
          <a:noFill/>
          <a:ln/>
        </p:spPr>
        <p:txBody>
          <a:bodyPr wrap="square" lIns="0" tIns="0" rIns="0" bIns="0" rtlCol="0" anchor="t"/>
          <a:lstStyle/>
          <a:p>
            <a:pPr rtl="1" algn="r" indent="0" marL="0">
              <a:buNone/>
            </a:pPr>
            <a:r>
              <a:rPr lang="ar-IQ" altLang="en-US" sz="1300" b="1" dirty="0">
                <a:solidFill>
                  <a:schemeClr val="accent4"/>
                </a:solidFill>
              </a:rPr>
              <a:t>الخطوة 9 — عدم استجابة</a:t>
            </a:r>
            <a:endParaRPr lang="ar-IQ" sz="1300" dirty="0"/>
          </a:p>
        </p:txBody>
      </p:sp>
      <p:sp>
        <p:nvSpPr>
          <p:cNvPr id="72" name="Text 70"/>
          <p:cNvSpPr txBox="1"/>
          <p:nvPr/>
        </p:nvSpPr>
        <p:spPr>
          <a:xfrm>
            <a:off x="685800" y="5074920"/>
            <a:ext cx="3240938" cy="1097280"/>
          </a:xfrm>
          <a:prstGeom prst="rect">
            <a:avLst/>
          </a:prstGeom>
          <a:noFill/>
          <a:ln/>
        </p:spPr>
        <p:txBody>
          <a:bodyPr wrap="square" lIns="0" tIns="0" rIns="0" bIns="0" rtlCol="0" anchor="t"/>
          <a:lstStyle/>
          <a:p>
            <a:pPr rtl="1" algn="r" indent="0" marL="0">
              <a:lnSpc>
                <a:spcPct val="110000"/>
              </a:lnSpc>
              <a:buNone/>
            </a:pPr>
            <a:r>
              <a:rPr lang="ar-IQ" altLang="en-US" sz="1150" dirty="0">
                <a:solidFill>
                  <a:schemeClr val="tx1"/>
                </a:solidFill>
              </a:rPr>
              <a:t>بعد انتهاء المدة فعلاً: إثبات من القانونية، فاعتماد رئيس الهيئة، فملف دعوى برقم مستقل، فحكم يُعتمد. غير القطعي يمنع الإغلاق.</a:t>
            </a:r>
            <a:endParaRPr lang="ar-IQ" sz="1150" dirty="0"/>
          </a:p>
        </p:txBody>
      </p:sp>
      <p:sp>
        <p:nvSpPr>
          <p:cNvPr id="25" name="Slide Number Placeholder 0"/>
          <p:cNvSpPr>
            <a:spLocks noGrp="1"/>
          </p:cNvSpPr>
          <p:nvPr>
            <p:ph type="sldNum" sz="quarter" idx="4294967295"/>
          </p:nvPr>
        </p:nvSpPr>
        <p:spPr>
          <a:xfrm>
            <a:off x="5029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06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02920" y="228600"/>
            <a:ext cx="10682935" cy="548640"/>
          </a:xfrm>
          <a:prstGeom prst="rect">
            <a:avLst/>
          </a:prstGeom>
          <a:noFill/>
          <a:ln/>
        </p:spPr>
        <p:txBody>
          <a:bodyPr wrap="square" lIns="0" tIns="0" rIns="0" bIns="0" rtlCol="0" anchor="ctr"/>
          <a:lstStyle/>
          <a:p>
            <a:pPr rtl="1" algn="r" indent="0" marL="0">
              <a:buNone/>
            </a:pPr>
            <a:r>
              <a:rPr lang="ar-IQ" altLang="en-US" sz="2800" b="1" dirty="0">
                <a:solidFill>
                  <a:schemeClr val="tx1"/>
                </a:solidFill>
              </a:rPr>
              <a:t>الأدوار وصلاحية كل دور</a:t>
            </a:r>
            <a:endParaRPr lang="ar-IQ" sz="2800" dirty="0"/>
          </a:p>
        </p:txBody>
      </p:sp>
      <p:sp>
        <p:nvSpPr>
          <p:cNvPr id="3" name="Text 1"/>
          <p:cNvSpPr/>
          <p:nvPr>
            <p:ph idx="103" type="body" hasCustomPrompt="1"/>
          </p:nvPr>
        </p:nvSpPr>
        <p:spPr>
          <a:xfrm>
            <a:off x="502920" y="777240"/>
            <a:ext cx="10682935" cy="274320"/>
          </a:xfrm>
          <a:prstGeom prst="rect">
            <a:avLst/>
          </a:prstGeom>
          <a:noFill/>
          <a:ln/>
        </p:spPr>
        <p:txBody>
          <a:bodyPr wrap="square" lIns="0" tIns="0" rIns="0" bIns="0" rtlCol="0"/>
          <a:lstStyle/>
          <a:p>
            <a:pPr rtl="1" algn="r" indent="0" marL="0">
              <a:buNone/>
            </a:pPr>
            <a:r>
              <a:rPr lang="ar-IQ" altLang="en-US" sz="1200" dirty="0">
                <a:solidFill>
                  <a:schemeClr val="accent5"/>
                </a:solidFill>
              </a:rPr>
              <a:t>9 أدوار — 53 صلاحية — نطاق اطلاع لكل موظف</a:t>
            </a:r>
            <a:endParaRPr lang="ar-IQ" sz="1200" dirty="0"/>
          </a:p>
        </p:txBody>
      </p:sp>
      <p:sp>
        <p:nvSpPr>
          <p:cNvPr id="4" name="role-1"/>
          <p:cNvSpPr/>
          <p:nvPr/>
        </p:nvSpPr>
        <p:spPr>
          <a:xfrm>
            <a:off x="8082077" y="1207008"/>
            <a:ext cx="3606698" cy="1444752"/>
          </a:xfrm>
          <a:prstGeom prst="roundRect">
            <a:avLst>
              <a:gd name="adj" fmla="val 6329"/>
            </a:avLst>
          </a:prstGeom>
          <a:solidFill>
            <a:schemeClr val="bg2"/>
          </a:solidFill>
          <a:ln/>
        </p:spPr>
      </p:sp>
      <p:sp>
        <p:nvSpPr>
          <p:cNvPr id="5" name="role-icon-1-circle"/>
          <p:cNvSpPr/>
          <p:nvPr/>
        </p:nvSpPr>
        <p:spPr>
          <a:xfrm>
            <a:off x="11066983" y="1353312"/>
            <a:ext cx="457200" cy="457200"/>
          </a:xfrm>
          <a:prstGeom prst="ellipse">
            <a:avLst/>
          </a:prstGeom>
          <a:solidFill>
            <a:schemeClr val="accent1"/>
          </a:solidFill>
          <a:ln/>
        </p:spPr>
      </p:sp>
      <p:pic>
        <p:nvPicPr>
          <p:cNvPr id="6" name="role-icon-1" descr="preencoded.png">    </p:cNvPr>
          <p:cNvPicPr>
            <a:picLocks noChangeAspect="1"/>
          </p:cNvPicPr>
          <p:nvPr/>
        </p:nvPicPr>
        <p:blipFill>
          <a:blip r:embed="rId1"/>
          <a:stretch>
            <a:fillRect/>
          </a:stretch>
        </p:blipFill>
        <p:spPr>
          <a:xfrm>
            <a:off x="11167567" y="1453896"/>
            <a:ext cx="256032" cy="256032"/>
          </a:xfrm>
          <a:prstGeom prst="rect">
            <a:avLst/>
          </a:prstGeom>
        </p:spPr>
      </p:pic>
      <p:sp>
        <p:nvSpPr>
          <p:cNvPr id="7" name="Text 4"/>
          <p:cNvSpPr txBox="1"/>
          <p:nvPr/>
        </p:nvSpPr>
        <p:spPr>
          <a:xfrm>
            <a:off x="8950757" y="1353312"/>
            <a:ext cx="2006498" cy="457200"/>
          </a:xfrm>
          <a:prstGeom prst="rect">
            <a:avLst/>
          </a:prstGeom>
          <a:noFill/>
          <a:ln/>
        </p:spPr>
        <p:txBody>
          <a:bodyPr wrap="square" lIns="0" tIns="0" rIns="0" bIns="0" rtlCol="0" anchor="ctr"/>
          <a:lstStyle/>
          <a:p>
            <a:pPr rtl="1" algn="r" indent="0" marL="0">
              <a:buNone/>
            </a:pPr>
            <a:r>
              <a:rPr lang="ar-IQ" altLang="en-US" sz="1500" b="1" dirty="0">
                <a:solidFill>
                  <a:schemeClr val="tx1"/>
                </a:solidFill>
              </a:rPr>
              <a:t>موظف التسجيل</a:t>
            </a:r>
            <a:endParaRPr lang="ar-IQ" sz="1500" dirty="0"/>
          </a:p>
        </p:txBody>
      </p:sp>
      <p:sp>
        <p:nvSpPr>
          <p:cNvPr id="8" name="perm-count-1"/>
          <p:cNvSpPr/>
          <p:nvPr/>
        </p:nvSpPr>
        <p:spPr>
          <a:xfrm>
            <a:off x="8246669" y="1426464"/>
            <a:ext cx="658368" cy="310896"/>
          </a:xfrm>
          <a:prstGeom prst="roundRect">
            <a:avLst>
              <a:gd name="adj" fmla="val 23529"/>
            </a:avLst>
          </a:prstGeom>
          <a:solidFill>
            <a:srgbClr val="FFFFFF"/>
          </a:solidFill>
          <a:ln/>
        </p:spPr>
      </p:sp>
      <p:sp>
        <p:nvSpPr>
          <p:cNvPr id="9" name="Text 6"/>
          <p:cNvSpPr txBox="1"/>
          <p:nvPr/>
        </p:nvSpPr>
        <p:spPr>
          <a:xfrm>
            <a:off x="8246669" y="1426464"/>
            <a:ext cx="658368" cy="310896"/>
          </a:xfrm>
          <a:prstGeom prst="rect">
            <a:avLst/>
          </a:prstGeom>
          <a:noFill/>
          <a:ln/>
        </p:spPr>
        <p:txBody>
          <a:bodyPr wrap="square" lIns="0" tIns="0" rIns="0" bIns="0" rtlCol="0" anchor="ctr"/>
          <a:lstStyle/>
          <a:p>
            <a:pPr rtl="1" algn="ctr" indent="0" marL="0">
              <a:buNone/>
            </a:pPr>
            <a:r>
              <a:rPr lang="ar-IQ" altLang="en-US" sz="950" b="1" dirty="0">
                <a:solidFill>
                  <a:schemeClr val="accent4"/>
                </a:solidFill>
              </a:rPr>
              <a:t>8 صلاحية</a:t>
            </a:r>
            <a:endParaRPr lang="ar-IQ" sz="950" dirty="0"/>
          </a:p>
        </p:txBody>
      </p:sp>
      <p:sp>
        <p:nvSpPr>
          <p:cNvPr id="10" name="Text 7"/>
          <p:cNvSpPr txBox="1"/>
          <p:nvPr/>
        </p:nvSpPr>
        <p:spPr>
          <a:xfrm>
            <a:off x="8246669" y="1865376"/>
            <a:ext cx="3277514" cy="749808"/>
          </a:xfrm>
          <a:prstGeom prst="rect">
            <a:avLst/>
          </a:prstGeom>
          <a:noFill/>
          <a:ln/>
        </p:spPr>
        <p:txBody>
          <a:bodyPr wrap="square" lIns="0" tIns="0" rIns="0" bIns="0" rtlCol="0" anchor="t"/>
          <a:lstStyle/>
          <a:p>
            <a:pPr rtl="1" algn="r" indent="0" marL="0">
              <a:lnSpc>
                <a:spcPct val="110000"/>
              </a:lnSpc>
              <a:buNone/>
            </a:pPr>
            <a:r>
              <a:rPr lang="ar-IQ" altLang="en-US" sz="1100" dirty="0">
                <a:solidFill>
                  <a:schemeClr val="accent2"/>
                </a:solidFill>
              </a:rPr>
              <a:t>تسجيل المخالفة وتعديلها قبل المصادقة · رفع المحضر والمرفقات · الإحالة للمصادقة · طلب الإغلاق</a:t>
            </a:r>
            <a:endParaRPr lang="ar-IQ" sz="1100" dirty="0"/>
          </a:p>
        </p:txBody>
      </p:sp>
      <p:sp>
        <p:nvSpPr>
          <p:cNvPr id="11" name="role-2"/>
          <p:cNvSpPr/>
          <p:nvPr/>
        </p:nvSpPr>
        <p:spPr>
          <a:xfrm>
            <a:off x="4292498" y="1207008"/>
            <a:ext cx="3606698" cy="1444752"/>
          </a:xfrm>
          <a:prstGeom prst="roundRect">
            <a:avLst>
              <a:gd name="adj" fmla="val 6329"/>
            </a:avLst>
          </a:prstGeom>
          <a:solidFill>
            <a:schemeClr val="bg2"/>
          </a:solidFill>
          <a:ln/>
        </p:spPr>
      </p:sp>
      <p:sp>
        <p:nvSpPr>
          <p:cNvPr id="12" name="role-icon-2-circle"/>
          <p:cNvSpPr/>
          <p:nvPr/>
        </p:nvSpPr>
        <p:spPr>
          <a:xfrm>
            <a:off x="7277405" y="1353312"/>
            <a:ext cx="457200" cy="457200"/>
          </a:xfrm>
          <a:prstGeom prst="ellipse">
            <a:avLst/>
          </a:prstGeom>
          <a:solidFill>
            <a:schemeClr val="accent1"/>
          </a:solidFill>
          <a:ln/>
        </p:spPr>
      </p:sp>
      <p:pic>
        <p:nvPicPr>
          <p:cNvPr id="13" name="role-icon-2" descr="preencoded.png">    </p:cNvPr>
          <p:cNvPicPr>
            <a:picLocks noChangeAspect="1"/>
          </p:cNvPicPr>
          <p:nvPr/>
        </p:nvPicPr>
        <p:blipFill>
          <a:blip r:embed="rId2"/>
          <a:stretch>
            <a:fillRect/>
          </a:stretch>
        </p:blipFill>
        <p:spPr>
          <a:xfrm>
            <a:off x="7377989" y="1453896"/>
            <a:ext cx="256032" cy="256032"/>
          </a:xfrm>
          <a:prstGeom prst="rect">
            <a:avLst/>
          </a:prstGeom>
        </p:spPr>
      </p:pic>
      <p:sp>
        <p:nvSpPr>
          <p:cNvPr id="14" name="Text 10"/>
          <p:cNvSpPr txBox="1"/>
          <p:nvPr/>
        </p:nvSpPr>
        <p:spPr>
          <a:xfrm>
            <a:off x="5161178" y="1353312"/>
            <a:ext cx="2006498" cy="457200"/>
          </a:xfrm>
          <a:prstGeom prst="rect">
            <a:avLst/>
          </a:prstGeom>
          <a:noFill/>
          <a:ln/>
        </p:spPr>
        <p:txBody>
          <a:bodyPr wrap="square" lIns="0" tIns="0" rIns="0" bIns="0" rtlCol="0" anchor="ctr"/>
          <a:lstStyle/>
          <a:p>
            <a:pPr rtl="1" algn="r" indent="0" marL="0">
              <a:buNone/>
            </a:pPr>
            <a:r>
              <a:rPr lang="ar-IQ" altLang="en-US" sz="1500" b="1" dirty="0">
                <a:solidFill>
                  <a:schemeClr val="tx1"/>
                </a:solidFill>
              </a:rPr>
              <a:t>مدير الفرع أو المكتب</a:t>
            </a:r>
            <a:endParaRPr lang="ar-IQ" sz="1500" dirty="0"/>
          </a:p>
        </p:txBody>
      </p:sp>
      <p:sp>
        <p:nvSpPr>
          <p:cNvPr id="15" name="perm-count-2"/>
          <p:cNvSpPr/>
          <p:nvPr/>
        </p:nvSpPr>
        <p:spPr>
          <a:xfrm>
            <a:off x="4457090" y="1426464"/>
            <a:ext cx="658368" cy="310896"/>
          </a:xfrm>
          <a:prstGeom prst="roundRect">
            <a:avLst>
              <a:gd name="adj" fmla="val 23529"/>
            </a:avLst>
          </a:prstGeom>
          <a:solidFill>
            <a:srgbClr val="FFFFFF"/>
          </a:solidFill>
          <a:ln/>
        </p:spPr>
      </p:sp>
      <p:sp>
        <p:nvSpPr>
          <p:cNvPr id="16" name="Text 12"/>
          <p:cNvSpPr txBox="1"/>
          <p:nvPr/>
        </p:nvSpPr>
        <p:spPr>
          <a:xfrm>
            <a:off x="4457090" y="1426464"/>
            <a:ext cx="658368" cy="310896"/>
          </a:xfrm>
          <a:prstGeom prst="rect">
            <a:avLst/>
          </a:prstGeom>
          <a:noFill/>
          <a:ln/>
        </p:spPr>
        <p:txBody>
          <a:bodyPr wrap="square" lIns="0" tIns="0" rIns="0" bIns="0" rtlCol="0" anchor="ctr"/>
          <a:lstStyle/>
          <a:p>
            <a:pPr rtl="1" algn="ctr" indent="0" marL="0">
              <a:buNone/>
            </a:pPr>
            <a:r>
              <a:rPr lang="ar-IQ" altLang="en-US" sz="950" b="1" dirty="0">
                <a:solidFill>
                  <a:schemeClr val="accent4"/>
                </a:solidFill>
              </a:rPr>
              <a:t>12 صلاحية</a:t>
            </a:r>
            <a:endParaRPr lang="ar-IQ" sz="950" dirty="0"/>
          </a:p>
        </p:txBody>
      </p:sp>
      <p:sp>
        <p:nvSpPr>
          <p:cNvPr id="17" name="Text 13"/>
          <p:cNvSpPr txBox="1"/>
          <p:nvPr/>
        </p:nvSpPr>
        <p:spPr>
          <a:xfrm>
            <a:off x="4457090" y="1865376"/>
            <a:ext cx="3277514" cy="749808"/>
          </a:xfrm>
          <a:prstGeom prst="rect">
            <a:avLst/>
          </a:prstGeom>
          <a:noFill/>
          <a:ln/>
        </p:spPr>
        <p:txBody>
          <a:bodyPr wrap="square" lIns="0" tIns="0" rIns="0" bIns="0" rtlCol="0" anchor="t"/>
          <a:lstStyle/>
          <a:p>
            <a:pPr rtl="1" algn="r" indent="0" marL="0">
              <a:lnSpc>
                <a:spcPct val="110000"/>
              </a:lnSpc>
              <a:buNone/>
            </a:pPr>
            <a:r>
              <a:rPr lang="ar-IQ" altLang="en-US" sz="1100" dirty="0">
                <a:solidFill>
                  <a:schemeClr val="accent2"/>
                </a:solidFill>
              </a:rPr>
              <a:t>صلاحيات التسجيل لفرعه · متابعة المدد · تصحيح تاريخ الاستلام · تسجيل طلب تمديد · التقارير</a:t>
            </a:r>
            <a:endParaRPr lang="ar-IQ" sz="1100" dirty="0"/>
          </a:p>
        </p:txBody>
      </p:sp>
      <p:sp>
        <p:nvSpPr>
          <p:cNvPr id="18" name="role-3"/>
          <p:cNvSpPr/>
          <p:nvPr/>
        </p:nvSpPr>
        <p:spPr>
          <a:xfrm>
            <a:off x="502920" y="1207008"/>
            <a:ext cx="3606698" cy="1444752"/>
          </a:xfrm>
          <a:prstGeom prst="roundRect">
            <a:avLst>
              <a:gd name="adj" fmla="val 6329"/>
            </a:avLst>
          </a:prstGeom>
          <a:solidFill>
            <a:schemeClr val="bg2"/>
          </a:solidFill>
          <a:ln/>
        </p:spPr>
      </p:sp>
      <p:sp>
        <p:nvSpPr>
          <p:cNvPr id="19" name="role-icon-3-circle"/>
          <p:cNvSpPr/>
          <p:nvPr/>
        </p:nvSpPr>
        <p:spPr>
          <a:xfrm>
            <a:off x="3487826" y="1353312"/>
            <a:ext cx="457200" cy="457200"/>
          </a:xfrm>
          <a:prstGeom prst="ellipse">
            <a:avLst/>
          </a:prstGeom>
          <a:solidFill>
            <a:schemeClr val="accent1"/>
          </a:solidFill>
          <a:ln/>
        </p:spPr>
      </p:sp>
      <p:pic>
        <p:nvPicPr>
          <p:cNvPr id="20" name="role-icon-3" descr="preencoded.png">    </p:cNvPr>
          <p:cNvPicPr>
            <a:picLocks noChangeAspect="1"/>
          </p:cNvPicPr>
          <p:nvPr/>
        </p:nvPicPr>
        <p:blipFill>
          <a:blip r:embed="rId3"/>
          <a:stretch>
            <a:fillRect/>
          </a:stretch>
        </p:blipFill>
        <p:spPr>
          <a:xfrm>
            <a:off x="3588410" y="1453896"/>
            <a:ext cx="256032" cy="256032"/>
          </a:xfrm>
          <a:prstGeom prst="rect">
            <a:avLst/>
          </a:prstGeom>
        </p:spPr>
      </p:pic>
      <p:sp>
        <p:nvSpPr>
          <p:cNvPr id="21" name="Text 16"/>
          <p:cNvSpPr txBox="1"/>
          <p:nvPr/>
        </p:nvSpPr>
        <p:spPr>
          <a:xfrm>
            <a:off x="1371600" y="1353312"/>
            <a:ext cx="2006498" cy="457200"/>
          </a:xfrm>
          <a:prstGeom prst="rect">
            <a:avLst/>
          </a:prstGeom>
          <a:noFill/>
          <a:ln/>
        </p:spPr>
        <p:txBody>
          <a:bodyPr wrap="square" lIns="0" tIns="0" rIns="0" bIns="0" rtlCol="0" anchor="ctr"/>
          <a:lstStyle/>
          <a:p>
            <a:pPr rtl="1" algn="r" indent="0" marL="0">
              <a:buNone/>
            </a:pPr>
            <a:r>
              <a:rPr lang="ar-IQ" altLang="en-US" sz="1500" b="1" dirty="0">
                <a:solidFill>
                  <a:schemeClr val="tx1"/>
                </a:solidFill>
              </a:rPr>
              <a:t>القسم الفني</a:t>
            </a:r>
            <a:endParaRPr lang="ar-IQ" sz="1500" dirty="0"/>
          </a:p>
        </p:txBody>
      </p:sp>
      <p:sp>
        <p:nvSpPr>
          <p:cNvPr id="22" name="perm-count-3"/>
          <p:cNvSpPr/>
          <p:nvPr/>
        </p:nvSpPr>
        <p:spPr>
          <a:xfrm>
            <a:off x="667512" y="1426464"/>
            <a:ext cx="658368" cy="310896"/>
          </a:xfrm>
          <a:prstGeom prst="roundRect">
            <a:avLst>
              <a:gd name="adj" fmla="val 23529"/>
            </a:avLst>
          </a:prstGeom>
          <a:solidFill>
            <a:srgbClr val="FFFFFF"/>
          </a:solidFill>
          <a:ln/>
        </p:spPr>
      </p:sp>
      <p:sp>
        <p:nvSpPr>
          <p:cNvPr id="23" name="Text 18"/>
          <p:cNvSpPr txBox="1"/>
          <p:nvPr/>
        </p:nvSpPr>
        <p:spPr>
          <a:xfrm>
            <a:off x="667512" y="1426464"/>
            <a:ext cx="658368" cy="310896"/>
          </a:xfrm>
          <a:prstGeom prst="rect">
            <a:avLst/>
          </a:prstGeom>
          <a:noFill/>
          <a:ln/>
        </p:spPr>
        <p:txBody>
          <a:bodyPr wrap="square" lIns="0" tIns="0" rIns="0" bIns="0" rtlCol="0" anchor="ctr"/>
          <a:lstStyle/>
          <a:p>
            <a:pPr rtl="1" algn="ctr" indent="0" marL="0">
              <a:buNone/>
            </a:pPr>
            <a:r>
              <a:rPr lang="ar-IQ" altLang="en-US" sz="950" b="1" dirty="0">
                <a:solidFill>
                  <a:schemeClr val="accent4"/>
                </a:solidFill>
              </a:rPr>
              <a:t>10 صلاحية</a:t>
            </a:r>
            <a:endParaRPr lang="ar-IQ" sz="950" dirty="0"/>
          </a:p>
        </p:txBody>
      </p:sp>
      <p:sp>
        <p:nvSpPr>
          <p:cNvPr id="24" name="Text 19"/>
          <p:cNvSpPr txBox="1"/>
          <p:nvPr/>
        </p:nvSpPr>
        <p:spPr>
          <a:xfrm>
            <a:off x="667512" y="1865376"/>
            <a:ext cx="3277514" cy="749808"/>
          </a:xfrm>
          <a:prstGeom prst="rect">
            <a:avLst/>
          </a:prstGeom>
          <a:noFill/>
          <a:ln/>
        </p:spPr>
        <p:txBody>
          <a:bodyPr wrap="square" lIns="0" tIns="0" rIns="0" bIns="0" rtlCol="0" anchor="t"/>
          <a:lstStyle/>
          <a:p>
            <a:pPr rtl="1" algn="r" indent="0" marL="0">
              <a:lnSpc>
                <a:spcPct val="110000"/>
              </a:lnSpc>
              <a:buNone/>
            </a:pPr>
            <a:r>
              <a:rPr lang="ar-IQ" altLang="en-US" sz="1100" dirty="0">
                <a:solidFill>
                  <a:schemeClr val="accent2"/>
                </a:solidFill>
              </a:rPr>
              <a:t>إعداد الموقف الفني ومراجعته · التحقق الفني من الاستجابات · تسجيل إزالة المخالفة</a:t>
            </a:r>
            <a:endParaRPr lang="ar-IQ" sz="1100" dirty="0"/>
          </a:p>
        </p:txBody>
      </p:sp>
      <p:sp>
        <p:nvSpPr>
          <p:cNvPr id="25" name="role-4"/>
          <p:cNvSpPr/>
          <p:nvPr/>
        </p:nvSpPr>
        <p:spPr>
          <a:xfrm>
            <a:off x="8082077" y="2788920"/>
            <a:ext cx="3606698" cy="1444752"/>
          </a:xfrm>
          <a:prstGeom prst="roundRect">
            <a:avLst>
              <a:gd name="adj" fmla="val 6329"/>
            </a:avLst>
          </a:prstGeom>
          <a:solidFill>
            <a:schemeClr val="bg2"/>
          </a:solidFill>
          <a:ln/>
        </p:spPr>
      </p:sp>
      <p:sp>
        <p:nvSpPr>
          <p:cNvPr id="26" name="role-icon-4-circle"/>
          <p:cNvSpPr/>
          <p:nvPr/>
        </p:nvSpPr>
        <p:spPr>
          <a:xfrm>
            <a:off x="11066983" y="2935224"/>
            <a:ext cx="457200" cy="457200"/>
          </a:xfrm>
          <a:prstGeom prst="ellipse">
            <a:avLst/>
          </a:prstGeom>
          <a:solidFill>
            <a:schemeClr val="accent1"/>
          </a:solidFill>
          <a:ln/>
        </p:spPr>
      </p:sp>
      <p:pic>
        <p:nvPicPr>
          <p:cNvPr id="27" name="role-icon-4" descr="preencoded.png">    </p:cNvPr>
          <p:cNvPicPr>
            <a:picLocks noChangeAspect="1"/>
          </p:cNvPicPr>
          <p:nvPr/>
        </p:nvPicPr>
        <p:blipFill>
          <a:blip r:embed="rId4"/>
          <a:stretch>
            <a:fillRect/>
          </a:stretch>
        </p:blipFill>
        <p:spPr>
          <a:xfrm>
            <a:off x="11167567" y="3035808"/>
            <a:ext cx="256032" cy="256032"/>
          </a:xfrm>
          <a:prstGeom prst="rect">
            <a:avLst/>
          </a:prstGeom>
        </p:spPr>
      </p:pic>
      <p:sp>
        <p:nvSpPr>
          <p:cNvPr id="28" name="Text 22"/>
          <p:cNvSpPr txBox="1"/>
          <p:nvPr/>
        </p:nvSpPr>
        <p:spPr>
          <a:xfrm>
            <a:off x="8950757" y="2935224"/>
            <a:ext cx="2006498" cy="457200"/>
          </a:xfrm>
          <a:prstGeom prst="rect">
            <a:avLst/>
          </a:prstGeom>
          <a:noFill/>
          <a:ln/>
        </p:spPr>
        <p:txBody>
          <a:bodyPr wrap="square" lIns="0" tIns="0" rIns="0" bIns="0" rtlCol="0" anchor="ctr"/>
          <a:lstStyle/>
          <a:p>
            <a:pPr rtl="1" algn="r" indent="0" marL="0">
              <a:buNone/>
            </a:pPr>
            <a:r>
              <a:rPr lang="ar-IQ" altLang="en-US" sz="1500" b="1" dirty="0">
                <a:solidFill>
                  <a:schemeClr val="tx1"/>
                </a:solidFill>
              </a:rPr>
              <a:t>الدائرة القانونية</a:t>
            </a:r>
            <a:endParaRPr lang="ar-IQ" sz="1500" dirty="0"/>
          </a:p>
        </p:txBody>
      </p:sp>
      <p:sp>
        <p:nvSpPr>
          <p:cNvPr id="29" name="perm-count-4"/>
          <p:cNvSpPr/>
          <p:nvPr/>
        </p:nvSpPr>
        <p:spPr>
          <a:xfrm>
            <a:off x="8246669" y="3008376"/>
            <a:ext cx="658368" cy="310896"/>
          </a:xfrm>
          <a:prstGeom prst="roundRect">
            <a:avLst>
              <a:gd name="adj" fmla="val 23529"/>
            </a:avLst>
          </a:prstGeom>
          <a:solidFill>
            <a:srgbClr val="FFFFFF"/>
          </a:solidFill>
          <a:ln/>
        </p:spPr>
      </p:sp>
      <p:sp>
        <p:nvSpPr>
          <p:cNvPr id="30" name="Text 24"/>
          <p:cNvSpPr txBox="1"/>
          <p:nvPr/>
        </p:nvSpPr>
        <p:spPr>
          <a:xfrm>
            <a:off x="8246669" y="3008376"/>
            <a:ext cx="658368" cy="310896"/>
          </a:xfrm>
          <a:prstGeom prst="rect">
            <a:avLst/>
          </a:prstGeom>
          <a:noFill/>
          <a:ln/>
        </p:spPr>
        <p:txBody>
          <a:bodyPr wrap="square" lIns="0" tIns="0" rIns="0" bIns="0" rtlCol="0" anchor="ctr"/>
          <a:lstStyle/>
          <a:p>
            <a:pPr rtl="1" algn="ctr" indent="0" marL="0">
              <a:buNone/>
            </a:pPr>
            <a:r>
              <a:rPr lang="ar-IQ" altLang="en-US" sz="950" b="1" dirty="0">
                <a:solidFill>
                  <a:schemeClr val="accent4"/>
                </a:solidFill>
              </a:rPr>
              <a:t>23 صلاحية</a:t>
            </a:r>
            <a:endParaRPr lang="ar-IQ" sz="950" dirty="0"/>
          </a:p>
        </p:txBody>
      </p:sp>
      <p:sp>
        <p:nvSpPr>
          <p:cNvPr id="31" name="Text 25"/>
          <p:cNvSpPr txBox="1"/>
          <p:nvPr/>
        </p:nvSpPr>
        <p:spPr>
          <a:xfrm>
            <a:off x="8246669" y="3447288"/>
            <a:ext cx="3277514" cy="749808"/>
          </a:xfrm>
          <a:prstGeom prst="rect">
            <a:avLst/>
          </a:prstGeom>
          <a:noFill/>
          <a:ln/>
        </p:spPr>
        <p:txBody>
          <a:bodyPr wrap="square" lIns="0" tIns="0" rIns="0" bIns="0" rtlCol="0" anchor="t"/>
          <a:lstStyle/>
          <a:p>
            <a:pPr rtl="1" algn="r" indent="0" marL="0">
              <a:lnSpc>
                <a:spcPct val="110000"/>
              </a:lnSpc>
              <a:buNone/>
            </a:pPr>
            <a:r>
              <a:rPr lang="ar-IQ" altLang="en-US" sz="1100" dirty="0">
                <a:solidFill>
                  <a:schemeClr val="accent2"/>
                </a:solidFill>
              </a:rPr>
              <a:t>الرأي القانوني ومصادقته · إعداد الإنذار والقوالب · الاعتراضات وعدم الاستجابة · الدعوى والحكم واعتماده · المكتبة القانونية</a:t>
            </a:r>
            <a:endParaRPr lang="ar-IQ" sz="1100" dirty="0"/>
          </a:p>
        </p:txBody>
      </p:sp>
      <p:sp>
        <p:nvSpPr>
          <p:cNvPr id="32" name="role-5"/>
          <p:cNvSpPr/>
          <p:nvPr/>
        </p:nvSpPr>
        <p:spPr>
          <a:xfrm>
            <a:off x="4292498" y="2788920"/>
            <a:ext cx="3606698" cy="1444752"/>
          </a:xfrm>
          <a:prstGeom prst="roundRect">
            <a:avLst>
              <a:gd name="adj" fmla="val 6329"/>
            </a:avLst>
          </a:prstGeom>
          <a:solidFill>
            <a:schemeClr val="tx1"/>
          </a:solidFill>
          <a:ln/>
        </p:spPr>
      </p:sp>
      <p:sp>
        <p:nvSpPr>
          <p:cNvPr id="33" name="role-icon-5-circle"/>
          <p:cNvSpPr/>
          <p:nvPr/>
        </p:nvSpPr>
        <p:spPr>
          <a:xfrm>
            <a:off x="7277405" y="2935224"/>
            <a:ext cx="457200" cy="457200"/>
          </a:xfrm>
          <a:prstGeom prst="ellipse">
            <a:avLst/>
          </a:prstGeom>
          <a:solidFill>
            <a:schemeClr val="accent1"/>
          </a:solidFill>
          <a:ln/>
        </p:spPr>
      </p:sp>
      <p:pic>
        <p:nvPicPr>
          <p:cNvPr id="34" name="role-icon-5" descr="preencoded.png">    </p:cNvPr>
          <p:cNvPicPr>
            <a:picLocks noChangeAspect="1"/>
          </p:cNvPicPr>
          <p:nvPr/>
        </p:nvPicPr>
        <p:blipFill>
          <a:blip r:embed="rId5"/>
          <a:stretch>
            <a:fillRect/>
          </a:stretch>
        </p:blipFill>
        <p:spPr>
          <a:xfrm>
            <a:off x="7377989" y="3035808"/>
            <a:ext cx="256032" cy="256032"/>
          </a:xfrm>
          <a:prstGeom prst="rect">
            <a:avLst/>
          </a:prstGeom>
        </p:spPr>
      </p:pic>
      <p:sp>
        <p:nvSpPr>
          <p:cNvPr id="35" name="Text 28"/>
          <p:cNvSpPr txBox="1"/>
          <p:nvPr/>
        </p:nvSpPr>
        <p:spPr>
          <a:xfrm>
            <a:off x="5161178" y="2935224"/>
            <a:ext cx="2006498" cy="457200"/>
          </a:xfrm>
          <a:prstGeom prst="rect">
            <a:avLst/>
          </a:prstGeom>
          <a:noFill/>
          <a:ln/>
        </p:spPr>
        <p:txBody>
          <a:bodyPr wrap="square" lIns="0" tIns="0" rIns="0" bIns="0" rtlCol="0" anchor="ctr"/>
          <a:lstStyle/>
          <a:p>
            <a:pPr rtl="1" algn="r" indent="0" marL="0">
              <a:buNone/>
            </a:pPr>
            <a:r>
              <a:rPr lang="ar-IQ" altLang="en-US" sz="1500" b="1" dirty="0">
                <a:solidFill>
                  <a:schemeClr val="bg1"/>
                </a:solidFill>
              </a:rPr>
              <a:t>رئيس الهيئة</a:t>
            </a:r>
            <a:endParaRPr lang="ar-IQ" sz="1500" dirty="0"/>
          </a:p>
        </p:txBody>
      </p:sp>
      <p:sp>
        <p:nvSpPr>
          <p:cNvPr id="36" name="perm-count-5"/>
          <p:cNvSpPr/>
          <p:nvPr/>
        </p:nvSpPr>
        <p:spPr>
          <a:xfrm>
            <a:off x="4457090" y="3008376"/>
            <a:ext cx="658368" cy="310896"/>
          </a:xfrm>
          <a:prstGeom prst="roundRect">
            <a:avLst>
              <a:gd name="adj" fmla="val 23529"/>
            </a:avLst>
          </a:prstGeom>
          <a:solidFill>
            <a:schemeClr val="accent1"/>
          </a:solidFill>
          <a:ln/>
        </p:spPr>
      </p:sp>
      <p:sp>
        <p:nvSpPr>
          <p:cNvPr id="37" name="Text 30"/>
          <p:cNvSpPr txBox="1"/>
          <p:nvPr/>
        </p:nvSpPr>
        <p:spPr>
          <a:xfrm>
            <a:off x="4457090" y="3008376"/>
            <a:ext cx="658368" cy="310896"/>
          </a:xfrm>
          <a:prstGeom prst="rect">
            <a:avLst/>
          </a:prstGeom>
          <a:noFill/>
          <a:ln/>
        </p:spPr>
        <p:txBody>
          <a:bodyPr wrap="square" lIns="0" tIns="0" rIns="0" bIns="0" rtlCol="0" anchor="ctr"/>
          <a:lstStyle/>
          <a:p>
            <a:pPr rtl="1" algn="ctr" indent="0" marL="0">
              <a:buNone/>
            </a:pPr>
            <a:r>
              <a:rPr lang="ar-IQ" altLang="en-US" sz="950" b="1" dirty="0">
                <a:solidFill>
                  <a:schemeClr val="tx1"/>
                </a:solidFill>
              </a:rPr>
              <a:t>19 صلاحية</a:t>
            </a:r>
            <a:endParaRPr lang="ar-IQ" sz="950" dirty="0"/>
          </a:p>
        </p:txBody>
      </p:sp>
      <p:sp>
        <p:nvSpPr>
          <p:cNvPr id="38" name="Text 31"/>
          <p:cNvSpPr txBox="1"/>
          <p:nvPr/>
        </p:nvSpPr>
        <p:spPr>
          <a:xfrm>
            <a:off x="4457090" y="3447288"/>
            <a:ext cx="3277514" cy="749808"/>
          </a:xfrm>
          <a:prstGeom prst="rect">
            <a:avLst/>
          </a:prstGeom>
          <a:noFill/>
          <a:ln/>
        </p:spPr>
        <p:txBody>
          <a:bodyPr wrap="square" lIns="0" tIns="0" rIns="0" bIns="0" rtlCol="0" anchor="t"/>
          <a:lstStyle/>
          <a:p>
            <a:pPr rtl="1" algn="r" indent="0" marL="0">
              <a:lnSpc>
                <a:spcPct val="110000"/>
              </a:lnSpc>
              <a:buNone/>
            </a:pPr>
            <a:r>
              <a:rPr lang="ar-IQ" altLang="en-US" sz="1100" dirty="0">
                <a:solidFill>
                  <a:srgbClr val="D5D9E6"/>
                </a:solidFill>
              </a:rPr>
              <a:t>المصادقة النهائية · الموافقة على الإنذار · البت في التمديد والاستجابة والإزالة · اعتماد عدم الاستجابة والإغلاق وإعادة الفتح</a:t>
            </a:r>
            <a:endParaRPr lang="ar-IQ" sz="1100" dirty="0"/>
          </a:p>
        </p:txBody>
      </p:sp>
      <p:sp>
        <p:nvSpPr>
          <p:cNvPr id="39" name="role-6"/>
          <p:cNvSpPr/>
          <p:nvPr/>
        </p:nvSpPr>
        <p:spPr>
          <a:xfrm>
            <a:off x="502920" y="2788920"/>
            <a:ext cx="3606698" cy="1444752"/>
          </a:xfrm>
          <a:prstGeom prst="roundRect">
            <a:avLst>
              <a:gd name="adj" fmla="val 6329"/>
            </a:avLst>
          </a:prstGeom>
          <a:solidFill>
            <a:schemeClr val="bg2"/>
          </a:solidFill>
          <a:ln/>
        </p:spPr>
      </p:sp>
      <p:sp>
        <p:nvSpPr>
          <p:cNvPr id="40" name="role-icon-6-circle"/>
          <p:cNvSpPr/>
          <p:nvPr/>
        </p:nvSpPr>
        <p:spPr>
          <a:xfrm>
            <a:off x="3487826" y="2935224"/>
            <a:ext cx="457200" cy="457200"/>
          </a:xfrm>
          <a:prstGeom prst="ellipse">
            <a:avLst/>
          </a:prstGeom>
          <a:solidFill>
            <a:schemeClr val="accent1"/>
          </a:solidFill>
          <a:ln/>
        </p:spPr>
      </p:sp>
      <p:pic>
        <p:nvPicPr>
          <p:cNvPr id="41" name="role-icon-6" descr="preencoded.png">    </p:cNvPr>
          <p:cNvPicPr>
            <a:picLocks noChangeAspect="1"/>
          </p:cNvPicPr>
          <p:nvPr/>
        </p:nvPicPr>
        <p:blipFill>
          <a:blip r:embed="rId6"/>
          <a:stretch>
            <a:fillRect/>
          </a:stretch>
        </p:blipFill>
        <p:spPr>
          <a:xfrm>
            <a:off x="3588410" y="3035808"/>
            <a:ext cx="256032" cy="256032"/>
          </a:xfrm>
          <a:prstGeom prst="rect">
            <a:avLst/>
          </a:prstGeom>
        </p:spPr>
      </p:pic>
      <p:sp>
        <p:nvSpPr>
          <p:cNvPr id="42" name="Text 34"/>
          <p:cNvSpPr txBox="1"/>
          <p:nvPr/>
        </p:nvSpPr>
        <p:spPr>
          <a:xfrm>
            <a:off x="1371600" y="2935224"/>
            <a:ext cx="2006498" cy="457200"/>
          </a:xfrm>
          <a:prstGeom prst="rect">
            <a:avLst/>
          </a:prstGeom>
          <a:noFill/>
          <a:ln/>
        </p:spPr>
        <p:txBody>
          <a:bodyPr wrap="square" lIns="0" tIns="0" rIns="0" bIns="0" rtlCol="0" anchor="ctr"/>
          <a:lstStyle/>
          <a:p>
            <a:pPr rtl="1" algn="r" indent="0" marL="0">
              <a:buNone/>
            </a:pPr>
            <a:r>
              <a:rPr lang="ar-IQ" altLang="en-US" sz="1500" b="1" dirty="0">
                <a:solidFill>
                  <a:schemeClr val="tx1"/>
                </a:solidFill>
              </a:rPr>
              <a:t>الإدارة العليا</a:t>
            </a:r>
            <a:endParaRPr lang="ar-IQ" sz="1500" dirty="0"/>
          </a:p>
        </p:txBody>
      </p:sp>
      <p:sp>
        <p:nvSpPr>
          <p:cNvPr id="43" name="perm-count-6"/>
          <p:cNvSpPr/>
          <p:nvPr/>
        </p:nvSpPr>
        <p:spPr>
          <a:xfrm>
            <a:off x="667512" y="3008376"/>
            <a:ext cx="658368" cy="310896"/>
          </a:xfrm>
          <a:prstGeom prst="roundRect">
            <a:avLst>
              <a:gd name="adj" fmla="val 23529"/>
            </a:avLst>
          </a:prstGeom>
          <a:solidFill>
            <a:srgbClr val="FFFFFF"/>
          </a:solidFill>
          <a:ln/>
        </p:spPr>
      </p:sp>
      <p:sp>
        <p:nvSpPr>
          <p:cNvPr id="44" name="Text 36"/>
          <p:cNvSpPr txBox="1"/>
          <p:nvPr/>
        </p:nvSpPr>
        <p:spPr>
          <a:xfrm>
            <a:off x="667512" y="3008376"/>
            <a:ext cx="658368" cy="310896"/>
          </a:xfrm>
          <a:prstGeom prst="rect">
            <a:avLst/>
          </a:prstGeom>
          <a:noFill/>
          <a:ln/>
        </p:spPr>
        <p:txBody>
          <a:bodyPr wrap="square" lIns="0" tIns="0" rIns="0" bIns="0" rtlCol="0" anchor="ctr"/>
          <a:lstStyle/>
          <a:p>
            <a:pPr rtl="1" algn="ctr" indent="0" marL="0">
              <a:buNone/>
            </a:pPr>
            <a:r>
              <a:rPr lang="ar-IQ" altLang="en-US" sz="950" b="1" dirty="0">
                <a:solidFill>
                  <a:schemeClr val="accent4"/>
                </a:solidFill>
              </a:rPr>
              <a:t>10 صلاحية</a:t>
            </a:r>
            <a:endParaRPr lang="ar-IQ" sz="950" dirty="0"/>
          </a:p>
        </p:txBody>
      </p:sp>
      <p:sp>
        <p:nvSpPr>
          <p:cNvPr id="45" name="Text 37"/>
          <p:cNvSpPr txBox="1"/>
          <p:nvPr/>
        </p:nvSpPr>
        <p:spPr>
          <a:xfrm>
            <a:off x="667512" y="3447288"/>
            <a:ext cx="3277514" cy="749808"/>
          </a:xfrm>
          <a:prstGeom prst="rect">
            <a:avLst/>
          </a:prstGeom>
          <a:noFill/>
          <a:ln/>
        </p:spPr>
        <p:txBody>
          <a:bodyPr wrap="square" lIns="0" tIns="0" rIns="0" bIns="0" rtlCol="0" anchor="t"/>
          <a:lstStyle/>
          <a:p>
            <a:pPr rtl="1" algn="r" indent="0" marL="0">
              <a:lnSpc>
                <a:spcPct val="110000"/>
              </a:lnSpc>
              <a:buNone/>
            </a:pPr>
            <a:r>
              <a:rPr lang="ar-IQ" altLang="en-US" sz="1100" dirty="0">
                <a:solidFill>
                  <a:schemeClr val="accent2"/>
                </a:solidFill>
              </a:rPr>
              <a:t>اطلاع مركزي · التقارير وأداء الموظفين · البيانات المالية وملفات الدعاوى · سجل التدقيق</a:t>
            </a:r>
            <a:endParaRPr lang="ar-IQ" sz="1100" dirty="0"/>
          </a:p>
        </p:txBody>
      </p:sp>
      <p:sp>
        <p:nvSpPr>
          <p:cNvPr id="46" name="role-7"/>
          <p:cNvSpPr/>
          <p:nvPr/>
        </p:nvSpPr>
        <p:spPr>
          <a:xfrm>
            <a:off x="8082077" y="4370832"/>
            <a:ext cx="3606698" cy="1444752"/>
          </a:xfrm>
          <a:prstGeom prst="roundRect">
            <a:avLst>
              <a:gd name="adj" fmla="val 6329"/>
            </a:avLst>
          </a:prstGeom>
          <a:solidFill>
            <a:schemeClr val="bg2"/>
          </a:solidFill>
          <a:ln/>
        </p:spPr>
      </p:sp>
      <p:sp>
        <p:nvSpPr>
          <p:cNvPr id="47" name="role-icon-7-circle"/>
          <p:cNvSpPr/>
          <p:nvPr/>
        </p:nvSpPr>
        <p:spPr>
          <a:xfrm>
            <a:off x="11066983" y="4517136"/>
            <a:ext cx="457200" cy="457200"/>
          </a:xfrm>
          <a:prstGeom prst="ellipse">
            <a:avLst/>
          </a:prstGeom>
          <a:solidFill>
            <a:schemeClr val="accent1"/>
          </a:solidFill>
          <a:ln/>
        </p:spPr>
      </p:sp>
      <p:pic>
        <p:nvPicPr>
          <p:cNvPr id="48" name="role-icon-7" descr="preencoded.png">    </p:cNvPr>
          <p:cNvPicPr>
            <a:picLocks noChangeAspect="1"/>
          </p:cNvPicPr>
          <p:nvPr/>
        </p:nvPicPr>
        <p:blipFill>
          <a:blip r:embed="rId7"/>
          <a:stretch>
            <a:fillRect/>
          </a:stretch>
        </p:blipFill>
        <p:spPr>
          <a:xfrm>
            <a:off x="11167567" y="4617720"/>
            <a:ext cx="256032" cy="256032"/>
          </a:xfrm>
          <a:prstGeom prst="rect">
            <a:avLst/>
          </a:prstGeom>
        </p:spPr>
      </p:pic>
      <p:sp>
        <p:nvSpPr>
          <p:cNvPr id="49" name="Text 40"/>
          <p:cNvSpPr txBox="1"/>
          <p:nvPr/>
        </p:nvSpPr>
        <p:spPr>
          <a:xfrm>
            <a:off x="8950757" y="4517136"/>
            <a:ext cx="2006498" cy="457200"/>
          </a:xfrm>
          <a:prstGeom prst="rect">
            <a:avLst/>
          </a:prstGeom>
          <a:noFill/>
          <a:ln/>
        </p:spPr>
        <p:txBody>
          <a:bodyPr wrap="square" lIns="0" tIns="0" rIns="0" bIns="0" rtlCol="0" anchor="ctr"/>
          <a:lstStyle/>
          <a:p>
            <a:pPr rtl="1" algn="r" indent="0" marL="0">
              <a:buNone/>
            </a:pPr>
            <a:r>
              <a:rPr lang="ar-IQ" altLang="en-US" sz="1500" b="1" dirty="0">
                <a:solidFill>
                  <a:schemeClr val="tx1"/>
                </a:solidFill>
              </a:rPr>
              <a:t>القسم المالي</a:t>
            </a:r>
            <a:endParaRPr lang="ar-IQ" sz="1500" dirty="0"/>
          </a:p>
        </p:txBody>
      </p:sp>
      <p:sp>
        <p:nvSpPr>
          <p:cNvPr id="50" name="perm-count-7"/>
          <p:cNvSpPr/>
          <p:nvPr/>
        </p:nvSpPr>
        <p:spPr>
          <a:xfrm>
            <a:off x="8246669" y="4590288"/>
            <a:ext cx="658368" cy="310896"/>
          </a:xfrm>
          <a:prstGeom prst="roundRect">
            <a:avLst>
              <a:gd name="adj" fmla="val 23529"/>
            </a:avLst>
          </a:prstGeom>
          <a:solidFill>
            <a:srgbClr val="FFFFFF"/>
          </a:solidFill>
          <a:ln/>
        </p:spPr>
      </p:sp>
      <p:sp>
        <p:nvSpPr>
          <p:cNvPr id="51" name="Text 42"/>
          <p:cNvSpPr txBox="1"/>
          <p:nvPr/>
        </p:nvSpPr>
        <p:spPr>
          <a:xfrm>
            <a:off x="8246669" y="4590288"/>
            <a:ext cx="658368" cy="310896"/>
          </a:xfrm>
          <a:prstGeom prst="rect">
            <a:avLst/>
          </a:prstGeom>
          <a:noFill/>
          <a:ln/>
        </p:spPr>
        <p:txBody>
          <a:bodyPr wrap="square" lIns="0" tIns="0" rIns="0" bIns="0" rtlCol="0" anchor="ctr"/>
          <a:lstStyle/>
          <a:p>
            <a:pPr rtl="1" algn="ctr" indent="0" marL="0">
              <a:buNone/>
            </a:pPr>
            <a:r>
              <a:rPr lang="ar-IQ" altLang="en-US" sz="950" b="1" dirty="0">
                <a:solidFill>
                  <a:schemeClr val="accent4"/>
                </a:solidFill>
              </a:rPr>
              <a:t>9 صلاحية</a:t>
            </a:r>
            <a:endParaRPr lang="ar-IQ" sz="950" dirty="0"/>
          </a:p>
        </p:txBody>
      </p:sp>
      <p:sp>
        <p:nvSpPr>
          <p:cNvPr id="52" name="Text 43"/>
          <p:cNvSpPr txBox="1"/>
          <p:nvPr/>
        </p:nvSpPr>
        <p:spPr>
          <a:xfrm>
            <a:off x="8246669" y="5029200"/>
            <a:ext cx="3277514" cy="749808"/>
          </a:xfrm>
          <a:prstGeom prst="rect">
            <a:avLst/>
          </a:prstGeom>
          <a:noFill/>
          <a:ln/>
        </p:spPr>
        <p:txBody>
          <a:bodyPr wrap="square" lIns="0" tIns="0" rIns="0" bIns="0" rtlCol="0" anchor="t"/>
          <a:lstStyle/>
          <a:p>
            <a:pPr rtl="1" algn="r" indent="0" marL="0">
              <a:lnSpc>
                <a:spcPct val="110000"/>
              </a:lnSpc>
              <a:buNone/>
            </a:pPr>
            <a:r>
              <a:rPr lang="ar-IQ" altLang="en-US" sz="1100" dirty="0">
                <a:solidFill>
                  <a:schemeClr val="accent2"/>
                </a:solidFill>
              </a:rPr>
              <a:t>تسجيل الاستجابات المالية والتسديدات الجزئية · الاطلاع المالي · التقارير</a:t>
            </a:r>
            <a:endParaRPr lang="ar-IQ" sz="1100" dirty="0"/>
          </a:p>
        </p:txBody>
      </p:sp>
      <p:sp>
        <p:nvSpPr>
          <p:cNvPr id="53" name="role-8"/>
          <p:cNvSpPr/>
          <p:nvPr/>
        </p:nvSpPr>
        <p:spPr>
          <a:xfrm>
            <a:off x="4292498" y="4370832"/>
            <a:ext cx="3606698" cy="1444752"/>
          </a:xfrm>
          <a:prstGeom prst="roundRect">
            <a:avLst>
              <a:gd name="adj" fmla="val 6329"/>
            </a:avLst>
          </a:prstGeom>
          <a:solidFill>
            <a:schemeClr val="bg2"/>
          </a:solidFill>
          <a:ln/>
        </p:spPr>
      </p:sp>
      <p:sp>
        <p:nvSpPr>
          <p:cNvPr id="54" name="role-icon-8-circle"/>
          <p:cNvSpPr/>
          <p:nvPr/>
        </p:nvSpPr>
        <p:spPr>
          <a:xfrm>
            <a:off x="7277405" y="4517136"/>
            <a:ext cx="457200" cy="457200"/>
          </a:xfrm>
          <a:prstGeom prst="ellipse">
            <a:avLst/>
          </a:prstGeom>
          <a:solidFill>
            <a:schemeClr val="accent1"/>
          </a:solidFill>
          <a:ln/>
        </p:spPr>
      </p:sp>
      <p:pic>
        <p:nvPicPr>
          <p:cNvPr id="55" name="role-icon-8" descr="preencoded.png">    </p:cNvPr>
          <p:cNvPicPr>
            <a:picLocks noChangeAspect="1"/>
          </p:cNvPicPr>
          <p:nvPr/>
        </p:nvPicPr>
        <p:blipFill>
          <a:blip r:embed="rId8"/>
          <a:stretch>
            <a:fillRect/>
          </a:stretch>
        </p:blipFill>
        <p:spPr>
          <a:xfrm>
            <a:off x="7377989" y="4617720"/>
            <a:ext cx="256032" cy="256032"/>
          </a:xfrm>
          <a:prstGeom prst="rect">
            <a:avLst/>
          </a:prstGeom>
        </p:spPr>
      </p:pic>
      <p:sp>
        <p:nvSpPr>
          <p:cNvPr id="56" name="Text 46"/>
          <p:cNvSpPr txBox="1"/>
          <p:nvPr/>
        </p:nvSpPr>
        <p:spPr>
          <a:xfrm>
            <a:off x="5161178" y="4517136"/>
            <a:ext cx="2006498" cy="457200"/>
          </a:xfrm>
          <a:prstGeom prst="rect">
            <a:avLst/>
          </a:prstGeom>
          <a:noFill/>
          <a:ln/>
        </p:spPr>
        <p:txBody>
          <a:bodyPr wrap="square" lIns="0" tIns="0" rIns="0" bIns="0" rtlCol="0" anchor="ctr"/>
          <a:lstStyle/>
          <a:p>
            <a:pPr rtl="1" algn="r" indent="0" marL="0">
              <a:buNone/>
            </a:pPr>
            <a:r>
              <a:rPr lang="ar-IQ" altLang="en-US" sz="1500" b="1" dirty="0">
                <a:solidFill>
                  <a:schemeClr val="tx1"/>
                </a:solidFill>
              </a:rPr>
              <a:t>شعبة التبليغات</a:t>
            </a:r>
            <a:endParaRPr lang="ar-IQ" sz="1500" dirty="0"/>
          </a:p>
        </p:txBody>
      </p:sp>
      <p:sp>
        <p:nvSpPr>
          <p:cNvPr id="57" name="perm-count-8"/>
          <p:cNvSpPr/>
          <p:nvPr/>
        </p:nvSpPr>
        <p:spPr>
          <a:xfrm>
            <a:off x="4457090" y="4590288"/>
            <a:ext cx="658368" cy="310896"/>
          </a:xfrm>
          <a:prstGeom prst="roundRect">
            <a:avLst>
              <a:gd name="adj" fmla="val 23529"/>
            </a:avLst>
          </a:prstGeom>
          <a:solidFill>
            <a:srgbClr val="FFFFFF"/>
          </a:solidFill>
          <a:ln/>
        </p:spPr>
      </p:sp>
      <p:sp>
        <p:nvSpPr>
          <p:cNvPr id="58" name="Text 48"/>
          <p:cNvSpPr txBox="1"/>
          <p:nvPr/>
        </p:nvSpPr>
        <p:spPr>
          <a:xfrm>
            <a:off x="4457090" y="4590288"/>
            <a:ext cx="658368" cy="310896"/>
          </a:xfrm>
          <a:prstGeom prst="rect">
            <a:avLst/>
          </a:prstGeom>
          <a:noFill/>
          <a:ln/>
        </p:spPr>
        <p:txBody>
          <a:bodyPr wrap="square" lIns="0" tIns="0" rIns="0" bIns="0" rtlCol="0" anchor="ctr"/>
          <a:lstStyle/>
          <a:p>
            <a:pPr rtl="1" algn="ctr" indent="0" marL="0">
              <a:buNone/>
            </a:pPr>
            <a:r>
              <a:rPr lang="ar-IQ" altLang="en-US" sz="950" b="1" dirty="0">
                <a:solidFill>
                  <a:schemeClr val="accent4"/>
                </a:solidFill>
              </a:rPr>
              <a:t>7 صلاحية</a:t>
            </a:r>
            <a:endParaRPr lang="ar-IQ" sz="950" dirty="0"/>
          </a:p>
        </p:txBody>
      </p:sp>
      <p:sp>
        <p:nvSpPr>
          <p:cNvPr id="59" name="Text 49"/>
          <p:cNvSpPr txBox="1"/>
          <p:nvPr/>
        </p:nvSpPr>
        <p:spPr>
          <a:xfrm>
            <a:off x="4457090" y="5029200"/>
            <a:ext cx="3277514" cy="749808"/>
          </a:xfrm>
          <a:prstGeom prst="rect">
            <a:avLst/>
          </a:prstGeom>
          <a:noFill/>
          <a:ln/>
        </p:spPr>
        <p:txBody>
          <a:bodyPr wrap="square" lIns="0" tIns="0" rIns="0" bIns="0" rtlCol="0" anchor="t"/>
          <a:lstStyle/>
          <a:p>
            <a:pPr rtl="1" algn="r" indent="0" marL="0">
              <a:lnSpc>
                <a:spcPct val="110000"/>
              </a:lnSpc>
              <a:buNone/>
            </a:pPr>
            <a:r>
              <a:rPr lang="ar-IQ" altLang="en-US" sz="1100" dirty="0">
                <a:solidFill>
                  <a:schemeClr val="accent2"/>
                </a:solidFill>
              </a:rPr>
              <a:t>رفع النسخة الموقعة · تسجيل الإرسال ووصل الاستلام · متابعة المدد</a:t>
            </a:r>
            <a:endParaRPr lang="ar-IQ" sz="1100" dirty="0"/>
          </a:p>
        </p:txBody>
      </p:sp>
      <p:sp>
        <p:nvSpPr>
          <p:cNvPr id="60" name="role-9"/>
          <p:cNvSpPr/>
          <p:nvPr/>
        </p:nvSpPr>
        <p:spPr>
          <a:xfrm>
            <a:off x="502920" y="4370832"/>
            <a:ext cx="3606698" cy="1444752"/>
          </a:xfrm>
          <a:prstGeom prst="roundRect">
            <a:avLst>
              <a:gd name="adj" fmla="val 6329"/>
            </a:avLst>
          </a:prstGeom>
          <a:solidFill>
            <a:schemeClr val="bg2"/>
          </a:solidFill>
          <a:ln/>
        </p:spPr>
      </p:sp>
      <p:sp>
        <p:nvSpPr>
          <p:cNvPr id="61" name="role-icon-9-circle"/>
          <p:cNvSpPr/>
          <p:nvPr/>
        </p:nvSpPr>
        <p:spPr>
          <a:xfrm>
            <a:off x="3487826" y="4517136"/>
            <a:ext cx="457200" cy="457200"/>
          </a:xfrm>
          <a:prstGeom prst="ellipse">
            <a:avLst/>
          </a:prstGeom>
          <a:solidFill>
            <a:schemeClr val="accent1"/>
          </a:solidFill>
          <a:ln/>
        </p:spPr>
      </p:sp>
      <p:pic>
        <p:nvPicPr>
          <p:cNvPr id="62" name="role-icon-9" descr="preencoded.png">    </p:cNvPr>
          <p:cNvPicPr>
            <a:picLocks noChangeAspect="1"/>
          </p:cNvPicPr>
          <p:nvPr/>
        </p:nvPicPr>
        <p:blipFill>
          <a:blip r:embed="rId9"/>
          <a:stretch>
            <a:fillRect/>
          </a:stretch>
        </p:blipFill>
        <p:spPr>
          <a:xfrm>
            <a:off x="3588410" y="4617720"/>
            <a:ext cx="256032" cy="256032"/>
          </a:xfrm>
          <a:prstGeom prst="rect">
            <a:avLst/>
          </a:prstGeom>
        </p:spPr>
      </p:pic>
      <p:sp>
        <p:nvSpPr>
          <p:cNvPr id="63" name="Text 52"/>
          <p:cNvSpPr txBox="1"/>
          <p:nvPr/>
        </p:nvSpPr>
        <p:spPr>
          <a:xfrm>
            <a:off x="1371600" y="4517136"/>
            <a:ext cx="2006498" cy="457200"/>
          </a:xfrm>
          <a:prstGeom prst="rect">
            <a:avLst/>
          </a:prstGeom>
          <a:noFill/>
          <a:ln/>
        </p:spPr>
        <p:txBody>
          <a:bodyPr wrap="square" lIns="0" tIns="0" rIns="0" bIns="0" rtlCol="0" anchor="ctr"/>
          <a:lstStyle/>
          <a:p>
            <a:pPr rtl="1" algn="r" indent="0" marL="0">
              <a:buNone/>
            </a:pPr>
            <a:r>
              <a:rPr lang="ar-IQ" altLang="en-US" sz="1500" b="1" dirty="0">
                <a:solidFill>
                  <a:schemeClr val="tx1"/>
                </a:solidFill>
              </a:rPr>
              <a:t>مدير النظام</a:t>
            </a:r>
            <a:endParaRPr lang="ar-IQ" sz="1500" dirty="0"/>
          </a:p>
        </p:txBody>
      </p:sp>
      <p:sp>
        <p:nvSpPr>
          <p:cNvPr id="64" name="perm-count-9"/>
          <p:cNvSpPr/>
          <p:nvPr/>
        </p:nvSpPr>
        <p:spPr>
          <a:xfrm>
            <a:off x="667512" y="4590288"/>
            <a:ext cx="658368" cy="310896"/>
          </a:xfrm>
          <a:prstGeom prst="roundRect">
            <a:avLst>
              <a:gd name="adj" fmla="val 23529"/>
            </a:avLst>
          </a:prstGeom>
          <a:solidFill>
            <a:srgbClr val="FFFFFF"/>
          </a:solidFill>
          <a:ln/>
        </p:spPr>
      </p:sp>
      <p:sp>
        <p:nvSpPr>
          <p:cNvPr id="65" name="Text 54"/>
          <p:cNvSpPr txBox="1"/>
          <p:nvPr/>
        </p:nvSpPr>
        <p:spPr>
          <a:xfrm>
            <a:off x="667512" y="4590288"/>
            <a:ext cx="658368" cy="310896"/>
          </a:xfrm>
          <a:prstGeom prst="rect">
            <a:avLst/>
          </a:prstGeom>
          <a:noFill/>
          <a:ln/>
        </p:spPr>
        <p:txBody>
          <a:bodyPr wrap="square" lIns="0" tIns="0" rIns="0" bIns="0" rtlCol="0" anchor="ctr"/>
          <a:lstStyle/>
          <a:p>
            <a:pPr rtl="1" algn="ctr" indent="0" marL="0">
              <a:buNone/>
            </a:pPr>
            <a:r>
              <a:rPr lang="ar-IQ" altLang="en-US" sz="950" b="1" dirty="0">
                <a:solidFill>
                  <a:schemeClr val="accent4"/>
                </a:solidFill>
              </a:rPr>
              <a:t>7 صلاحية</a:t>
            </a:r>
            <a:endParaRPr lang="ar-IQ" sz="950" dirty="0"/>
          </a:p>
        </p:txBody>
      </p:sp>
      <p:sp>
        <p:nvSpPr>
          <p:cNvPr id="66" name="Text 55"/>
          <p:cNvSpPr txBox="1"/>
          <p:nvPr/>
        </p:nvSpPr>
        <p:spPr>
          <a:xfrm>
            <a:off x="667512" y="5029200"/>
            <a:ext cx="3277514" cy="749808"/>
          </a:xfrm>
          <a:prstGeom prst="rect">
            <a:avLst/>
          </a:prstGeom>
          <a:noFill/>
          <a:ln/>
        </p:spPr>
        <p:txBody>
          <a:bodyPr wrap="square" lIns="0" tIns="0" rIns="0" bIns="0" rtlCol="0" anchor="t"/>
          <a:lstStyle/>
          <a:p>
            <a:pPr rtl="1" algn="r" indent="0" marL="0">
              <a:lnSpc>
                <a:spcPct val="110000"/>
              </a:lnSpc>
              <a:buNone/>
            </a:pPr>
            <a:r>
              <a:rPr lang="ar-IQ" altLang="en-US" sz="1100" dirty="0">
                <a:solidFill>
                  <a:schemeClr val="accent2"/>
                </a:solidFill>
              </a:rPr>
              <a:t>المستخدمون والأدوار · الإعدادات والقوائم المرجعية · قواعد المدد · سجل التدقيق — بلا أي صلاحية مصادقة</a:t>
            </a:r>
            <a:endParaRPr lang="ar-IQ" sz="1100" dirty="0"/>
          </a:p>
        </p:txBody>
      </p:sp>
      <p:sp>
        <p:nvSpPr>
          <p:cNvPr id="67" name="Text 56"/>
          <p:cNvSpPr txBox="1"/>
          <p:nvPr/>
        </p:nvSpPr>
        <p:spPr>
          <a:xfrm>
            <a:off x="502920" y="5989320"/>
            <a:ext cx="11185855" cy="365760"/>
          </a:xfrm>
          <a:prstGeom prst="rect">
            <a:avLst/>
          </a:prstGeom>
          <a:noFill/>
          <a:ln/>
        </p:spPr>
        <p:txBody>
          <a:bodyPr wrap="square" lIns="0" tIns="0" rIns="0" bIns="0" rtlCol="0" anchor="t"/>
          <a:lstStyle/>
          <a:p>
            <a:pPr rtl="1" algn="r" indent="0" marL="0">
              <a:buNone/>
            </a:pPr>
            <a:r>
              <a:rPr lang="ar-IQ" altLang="en-US" sz="1250" b="1" dirty="0">
                <a:solidFill>
                  <a:schemeClr val="accent2"/>
                </a:solidFill>
              </a:rPr>
              <a:t>فصل المهام: </a:t>
            </a:r>
            <a:pPr rtl="1" algn="r" indent="0" marL="0">
              <a:buNone/>
            </a:pPr>
            <a:r>
              <a:rPr lang="ar-IQ" altLang="en-US" sz="1250" dirty="0">
                <a:solidFill>
                  <a:schemeClr val="accent2"/>
                </a:solidFill>
              </a:rPr>
              <a:t>لا يعتمد أحد ما أعدّه أو طلبه بنفسه، والصلاحية تُفحص في الخادم عند كل إجراء، والأدوار قابلة للتعديل من إدارة الصلاحيات.</a:t>
            </a:r>
            <a:endParaRPr lang="ar-IQ" sz="1250" dirty="0"/>
          </a:p>
        </p:txBody>
      </p:sp>
      <p:sp>
        <p:nvSpPr>
          <p:cNvPr id="25" name="Slide Number Placeholder 0"/>
          <p:cNvSpPr>
            <a:spLocks noGrp="1"/>
          </p:cNvSpPr>
          <p:nvPr>
            <p:ph type="sldNum" sz="quarter" idx="4294967295"/>
          </p:nvPr>
        </p:nvSpPr>
        <p:spPr>
          <a:xfrm>
            <a:off x="5029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06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02920" y="228600"/>
            <a:ext cx="10682935" cy="548640"/>
          </a:xfrm>
          <a:prstGeom prst="rect">
            <a:avLst/>
          </a:prstGeom>
          <a:noFill/>
          <a:ln/>
        </p:spPr>
        <p:txBody>
          <a:bodyPr wrap="square" lIns="0" tIns="0" rIns="0" bIns="0" rtlCol="0" anchor="ctr"/>
          <a:lstStyle/>
          <a:p>
            <a:pPr rtl="1" algn="r" indent="0" marL="0">
              <a:buNone/>
            </a:pPr>
            <a:r>
              <a:rPr lang="ar-IQ" altLang="en-US" sz="2800" b="1" dirty="0">
                <a:solidFill>
                  <a:schemeClr val="tx1"/>
                </a:solidFill>
              </a:rPr>
              <a:t>ضوابط تحمي القرار والبيانات</a:t>
            </a:r>
            <a:endParaRPr lang="ar-IQ" sz="2800" dirty="0"/>
          </a:p>
        </p:txBody>
      </p:sp>
      <p:sp>
        <p:nvSpPr>
          <p:cNvPr id="3" name="Text 1"/>
          <p:cNvSpPr/>
          <p:nvPr>
            <p:ph idx="103" type="body" hasCustomPrompt="1"/>
          </p:nvPr>
        </p:nvSpPr>
        <p:spPr>
          <a:xfrm>
            <a:off x="502920" y="777240"/>
            <a:ext cx="10682935" cy="274320"/>
          </a:xfrm>
          <a:prstGeom prst="rect">
            <a:avLst/>
          </a:prstGeom>
          <a:noFill/>
          <a:ln/>
        </p:spPr>
        <p:txBody>
          <a:bodyPr wrap="square" lIns="0" tIns="0" rIns="0" bIns="0" rtlCol="0"/>
          <a:lstStyle/>
          <a:p>
            <a:pPr rtl="1" algn="r" indent="0" marL="0">
              <a:buNone/>
            </a:pPr>
            <a:r>
              <a:rPr lang="ar-IQ" altLang="en-US" sz="1200" dirty="0">
                <a:solidFill>
                  <a:schemeClr val="accent5"/>
                </a:solidFill>
              </a:rPr>
              <a:t>الحوكمة والمدد والأمن</a:t>
            </a:r>
            <a:endParaRPr lang="ar-IQ" sz="1200" dirty="0"/>
          </a:p>
        </p:txBody>
      </p:sp>
      <p:sp>
        <p:nvSpPr>
          <p:cNvPr id="4" name="control-1"/>
          <p:cNvSpPr/>
          <p:nvPr/>
        </p:nvSpPr>
        <p:spPr>
          <a:xfrm>
            <a:off x="8094269" y="1280160"/>
            <a:ext cx="3594506" cy="2240280"/>
          </a:xfrm>
          <a:prstGeom prst="roundRect">
            <a:avLst>
              <a:gd name="adj" fmla="val 4082"/>
            </a:avLst>
          </a:prstGeom>
          <a:solidFill>
            <a:schemeClr val="bg2"/>
          </a:solidFill>
          <a:ln/>
        </p:spPr>
      </p:sp>
      <p:sp>
        <p:nvSpPr>
          <p:cNvPr id="5" name="control-icon-1-circle"/>
          <p:cNvSpPr/>
          <p:nvPr/>
        </p:nvSpPr>
        <p:spPr>
          <a:xfrm>
            <a:off x="10984687" y="1481328"/>
            <a:ext cx="502920" cy="502920"/>
          </a:xfrm>
          <a:prstGeom prst="ellipse">
            <a:avLst/>
          </a:prstGeom>
          <a:solidFill>
            <a:schemeClr val="accent1"/>
          </a:solidFill>
          <a:ln/>
        </p:spPr>
      </p:sp>
      <p:pic>
        <p:nvPicPr>
          <p:cNvPr id="6" name="control-icon-1" descr="preencoded.png">    </p:cNvPr>
          <p:cNvPicPr>
            <a:picLocks noChangeAspect="1"/>
          </p:cNvPicPr>
          <p:nvPr/>
        </p:nvPicPr>
        <p:blipFill>
          <a:blip r:embed="rId1"/>
          <a:stretch>
            <a:fillRect/>
          </a:stretch>
        </p:blipFill>
        <p:spPr>
          <a:xfrm>
            <a:off x="11095330" y="1591970"/>
            <a:ext cx="281635" cy="281635"/>
          </a:xfrm>
          <a:prstGeom prst="rect">
            <a:avLst/>
          </a:prstGeom>
        </p:spPr>
      </p:pic>
      <p:sp>
        <p:nvSpPr>
          <p:cNvPr id="7" name="Text 4"/>
          <p:cNvSpPr txBox="1"/>
          <p:nvPr/>
        </p:nvSpPr>
        <p:spPr>
          <a:xfrm>
            <a:off x="8295437" y="1499616"/>
            <a:ext cx="2588666" cy="457200"/>
          </a:xfrm>
          <a:prstGeom prst="rect">
            <a:avLst/>
          </a:prstGeom>
          <a:noFill/>
          <a:ln/>
        </p:spPr>
        <p:txBody>
          <a:bodyPr wrap="square" lIns="0" tIns="0" rIns="0" bIns="0" rtlCol="0" anchor="ctr"/>
          <a:lstStyle/>
          <a:p>
            <a:pPr rtl="1" algn="r" indent="0" marL="0">
              <a:buNone/>
            </a:pPr>
            <a:r>
              <a:rPr lang="ar-IQ" altLang="en-US" sz="1600" b="1" dirty="0">
                <a:solidFill>
                  <a:schemeClr val="tx1"/>
                </a:solidFill>
              </a:rPr>
              <a:t>مدد مسندة بلا أثر رجعي</a:t>
            </a:r>
            <a:endParaRPr lang="ar-IQ" sz="1600" dirty="0"/>
          </a:p>
        </p:txBody>
      </p:sp>
      <p:sp>
        <p:nvSpPr>
          <p:cNvPr id="8" name="Text 5"/>
          <p:cNvSpPr txBox="1"/>
          <p:nvPr/>
        </p:nvSpPr>
        <p:spPr>
          <a:xfrm>
            <a:off x="8295437" y="2148840"/>
            <a:ext cx="3192170" cy="1280160"/>
          </a:xfrm>
          <a:prstGeom prst="rect">
            <a:avLst/>
          </a:prstGeom>
          <a:noFill/>
          <a:ln/>
        </p:spPr>
        <p:txBody>
          <a:bodyPr wrap="square" lIns="0" tIns="0" rIns="0" bIns="0" rtlCol="0" anchor="t"/>
          <a:lstStyle/>
          <a:p>
            <a:pPr rtl="1" algn="r" indent="0" marL="0">
              <a:lnSpc>
                <a:spcPct val="115000"/>
              </a:lnSpc>
              <a:buNone/>
            </a:pPr>
            <a:r>
              <a:rPr lang="ar-IQ" altLang="en-US" sz="1250" dirty="0">
                <a:solidFill>
                  <a:schemeClr val="accent2"/>
                </a:solidFill>
              </a:rPr>
              <a:t>قاعدة لكل نوع مخالفة بسندها القانوني (أيام تقويمية أو عمل، والعطل، والتمديد). تُحفظ نسخة القاعدة مع كل مدة، ولا مدة مخترعة.</a:t>
            </a:r>
            <a:endParaRPr lang="ar-IQ" sz="1250" dirty="0"/>
          </a:p>
        </p:txBody>
      </p:sp>
      <p:sp>
        <p:nvSpPr>
          <p:cNvPr id="9" name="control-2"/>
          <p:cNvSpPr/>
          <p:nvPr/>
        </p:nvSpPr>
        <p:spPr>
          <a:xfrm>
            <a:off x="4298594" y="1280160"/>
            <a:ext cx="3594506" cy="2240280"/>
          </a:xfrm>
          <a:prstGeom prst="roundRect">
            <a:avLst>
              <a:gd name="adj" fmla="val 4082"/>
            </a:avLst>
          </a:prstGeom>
          <a:solidFill>
            <a:schemeClr val="bg2"/>
          </a:solidFill>
          <a:ln/>
        </p:spPr>
      </p:sp>
      <p:sp>
        <p:nvSpPr>
          <p:cNvPr id="10" name="control-icon-2-circle"/>
          <p:cNvSpPr/>
          <p:nvPr/>
        </p:nvSpPr>
        <p:spPr>
          <a:xfrm>
            <a:off x="7189013" y="1481328"/>
            <a:ext cx="502920" cy="502920"/>
          </a:xfrm>
          <a:prstGeom prst="ellipse">
            <a:avLst/>
          </a:prstGeom>
          <a:solidFill>
            <a:schemeClr val="accent1"/>
          </a:solidFill>
          <a:ln/>
        </p:spPr>
      </p:sp>
      <p:pic>
        <p:nvPicPr>
          <p:cNvPr id="11" name="control-icon-2" descr="preencoded.png">    </p:cNvPr>
          <p:cNvPicPr>
            <a:picLocks noChangeAspect="1"/>
          </p:cNvPicPr>
          <p:nvPr/>
        </p:nvPicPr>
        <p:blipFill>
          <a:blip r:embed="rId2"/>
          <a:stretch>
            <a:fillRect/>
          </a:stretch>
        </p:blipFill>
        <p:spPr>
          <a:xfrm>
            <a:off x="7299655" y="1591970"/>
            <a:ext cx="281635" cy="281635"/>
          </a:xfrm>
          <a:prstGeom prst="rect">
            <a:avLst/>
          </a:prstGeom>
        </p:spPr>
      </p:pic>
      <p:sp>
        <p:nvSpPr>
          <p:cNvPr id="12" name="Text 8"/>
          <p:cNvSpPr txBox="1"/>
          <p:nvPr/>
        </p:nvSpPr>
        <p:spPr>
          <a:xfrm>
            <a:off x="4499762" y="1499616"/>
            <a:ext cx="2588666" cy="457200"/>
          </a:xfrm>
          <a:prstGeom prst="rect">
            <a:avLst/>
          </a:prstGeom>
          <a:noFill/>
          <a:ln/>
        </p:spPr>
        <p:txBody>
          <a:bodyPr wrap="square" lIns="0" tIns="0" rIns="0" bIns="0" rtlCol="0" anchor="ctr"/>
          <a:lstStyle/>
          <a:p>
            <a:pPr rtl="1" algn="r" indent="0" marL="0">
              <a:buNone/>
            </a:pPr>
            <a:r>
              <a:rPr lang="ar-IQ" altLang="en-US" sz="1600" b="1" dirty="0">
                <a:solidFill>
                  <a:schemeClr val="tx1"/>
                </a:solidFill>
              </a:rPr>
              <a:t>سجل تدقيق متسلسل</a:t>
            </a:r>
            <a:endParaRPr lang="ar-IQ" sz="1600" dirty="0"/>
          </a:p>
        </p:txBody>
      </p:sp>
      <p:sp>
        <p:nvSpPr>
          <p:cNvPr id="13" name="Text 9"/>
          <p:cNvSpPr txBox="1"/>
          <p:nvPr/>
        </p:nvSpPr>
        <p:spPr>
          <a:xfrm>
            <a:off x="4499762" y="2148840"/>
            <a:ext cx="3192170" cy="1280160"/>
          </a:xfrm>
          <a:prstGeom prst="rect">
            <a:avLst/>
          </a:prstGeom>
          <a:noFill/>
          <a:ln/>
        </p:spPr>
        <p:txBody>
          <a:bodyPr wrap="square" lIns="0" tIns="0" rIns="0" bIns="0" rtlCol="0" anchor="t"/>
          <a:lstStyle/>
          <a:p>
            <a:pPr rtl="1" algn="r" indent="0" marL="0">
              <a:lnSpc>
                <a:spcPct val="115000"/>
              </a:lnSpc>
              <a:buNone/>
            </a:pPr>
            <a:r>
              <a:rPr lang="ar-IQ" altLang="en-US" sz="1250" dirty="0">
                <a:solidFill>
                  <a:schemeClr val="accent2"/>
                </a:solidFill>
              </a:rPr>
              <a:t>لا يُعدَّل ولا يُحذف، وسلسلة بصمات تكشف العبث بأي قيد، مع زر تحقق في الواجهة.</a:t>
            </a:r>
            <a:endParaRPr lang="ar-IQ" sz="1250" dirty="0"/>
          </a:p>
        </p:txBody>
      </p:sp>
      <p:sp>
        <p:nvSpPr>
          <p:cNvPr id="14" name="control-3"/>
          <p:cNvSpPr/>
          <p:nvPr/>
        </p:nvSpPr>
        <p:spPr>
          <a:xfrm>
            <a:off x="502920" y="1280160"/>
            <a:ext cx="3594506" cy="2240280"/>
          </a:xfrm>
          <a:prstGeom prst="roundRect">
            <a:avLst>
              <a:gd name="adj" fmla="val 4082"/>
            </a:avLst>
          </a:prstGeom>
          <a:solidFill>
            <a:schemeClr val="bg2"/>
          </a:solidFill>
          <a:ln/>
        </p:spPr>
      </p:sp>
      <p:sp>
        <p:nvSpPr>
          <p:cNvPr id="15" name="control-icon-3-circle"/>
          <p:cNvSpPr/>
          <p:nvPr/>
        </p:nvSpPr>
        <p:spPr>
          <a:xfrm>
            <a:off x="3393338" y="1481328"/>
            <a:ext cx="502920" cy="502920"/>
          </a:xfrm>
          <a:prstGeom prst="ellipse">
            <a:avLst/>
          </a:prstGeom>
          <a:solidFill>
            <a:schemeClr val="accent1"/>
          </a:solidFill>
          <a:ln/>
        </p:spPr>
      </p:sp>
      <p:pic>
        <p:nvPicPr>
          <p:cNvPr id="16" name="control-icon-3" descr="preencoded.png">    </p:cNvPr>
          <p:cNvPicPr>
            <a:picLocks noChangeAspect="1"/>
          </p:cNvPicPr>
          <p:nvPr/>
        </p:nvPicPr>
        <p:blipFill>
          <a:blip r:embed="rId3"/>
          <a:stretch>
            <a:fillRect/>
          </a:stretch>
        </p:blipFill>
        <p:spPr>
          <a:xfrm>
            <a:off x="3503981" y="1591970"/>
            <a:ext cx="281635" cy="281635"/>
          </a:xfrm>
          <a:prstGeom prst="rect">
            <a:avLst/>
          </a:prstGeom>
        </p:spPr>
      </p:pic>
      <p:sp>
        <p:nvSpPr>
          <p:cNvPr id="17" name="Text 12"/>
          <p:cNvSpPr txBox="1"/>
          <p:nvPr/>
        </p:nvSpPr>
        <p:spPr>
          <a:xfrm>
            <a:off x="704088" y="1499616"/>
            <a:ext cx="2588666" cy="457200"/>
          </a:xfrm>
          <a:prstGeom prst="rect">
            <a:avLst/>
          </a:prstGeom>
          <a:noFill/>
          <a:ln/>
        </p:spPr>
        <p:txBody>
          <a:bodyPr wrap="square" lIns="0" tIns="0" rIns="0" bIns="0" rtlCol="0" anchor="ctr"/>
          <a:lstStyle/>
          <a:p>
            <a:pPr rtl="1" algn="r" indent="0" marL="0">
              <a:buNone/>
            </a:pPr>
            <a:r>
              <a:rPr lang="ar-IQ" altLang="en-US" sz="1600" b="1" dirty="0">
                <a:solidFill>
                  <a:schemeClr val="tx1"/>
                </a:solidFill>
              </a:rPr>
              <a:t>حماية متعددة الطبقات</a:t>
            </a:r>
            <a:endParaRPr lang="ar-IQ" sz="1600" dirty="0"/>
          </a:p>
        </p:txBody>
      </p:sp>
      <p:sp>
        <p:nvSpPr>
          <p:cNvPr id="18" name="Text 13"/>
          <p:cNvSpPr txBox="1"/>
          <p:nvPr/>
        </p:nvSpPr>
        <p:spPr>
          <a:xfrm>
            <a:off x="704088" y="2148840"/>
            <a:ext cx="3192170" cy="1280160"/>
          </a:xfrm>
          <a:prstGeom prst="rect">
            <a:avLst/>
          </a:prstGeom>
          <a:noFill/>
          <a:ln/>
        </p:spPr>
        <p:txBody>
          <a:bodyPr wrap="square" lIns="0" tIns="0" rIns="0" bIns="0" rtlCol="0" anchor="t"/>
          <a:lstStyle/>
          <a:p>
            <a:pPr rtl="1" algn="r" indent="0" marL="0">
              <a:lnSpc>
                <a:spcPct val="115000"/>
              </a:lnSpc>
              <a:buNone/>
            </a:pPr>
            <a:r>
              <a:rPr lang="ar-IQ" altLang="en-US" sz="1250" dirty="0">
                <a:solidFill>
                  <a:schemeClr val="accent2"/>
                </a:solidFill>
              </a:rPr>
              <a:t>تشفير كلمات المرور، وقفل بعد 5 محاولات، وتطبيق بحساب قاعدة بيانات محدود لا يعدّل السجلات المحمية.</a:t>
            </a:r>
            <a:endParaRPr lang="ar-IQ" sz="1250" dirty="0"/>
          </a:p>
        </p:txBody>
      </p:sp>
      <p:sp>
        <p:nvSpPr>
          <p:cNvPr id="19" name="control-4"/>
          <p:cNvSpPr/>
          <p:nvPr/>
        </p:nvSpPr>
        <p:spPr>
          <a:xfrm>
            <a:off x="8094269" y="3721608"/>
            <a:ext cx="3594506" cy="2240280"/>
          </a:xfrm>
          <a:prstGeom prst="roundRect">
            <a:avLst>
              <a:gd name="adj" fmla="val 4082"/>
            </a:avLst>
          </a:prstGeom>
          <a:solidFill>
            <a:schemeClr val="bg2"/>
          </a:solidFill>
          <a:ln/>
        </p:spPr>
      </p:sp>
      <p:sp>
        <p:nvSpPr>
          <p:cNvPr id="20" name="control-icon-4-circle"/>
          <p:cNvSpPr/>
          <p:nvPr/>
        </p:nvSpPr>
        <p:spPr>
          <a:xfrm>
            <a:off x="10984687" y="3922776"/>
            <a:ext cx="502920" cy="502920"/>
          </a:xfrm>
          <a:prstGeom prst="ellipse">
            <a:avLst/>
          </a:prstGeom>
          <a:solidFill>
            <a:schemeClr val="accent1"/>
          </a:solidFill>
          <a:ln/>
        </p:spPr>
      </p:sp>
      <p:pic>
        <p:nvPicPr>
          <p:cNvPr id="21" name="control-icon-4" descr="preencoded.png">    </p:cNvPr>
          <p:cNvPicPr>
            <a:picLocks noChangeAspect="1"/>
          </p:cNvPicPr>
          <p:nvPr/>
        </p:nvPicPr>
        <p:blipFill>
          <a:blip r:embed="rId4"/>
          <a:stretch>
            <a:fillRect/>
          </a:stretch>
        </p:blipFill>
        <p:spPr>
          <a:xfrm>
            <a:off x="11095330" y="4033418"/>
            <a:ext cx="281635" cy="281635"/>
          </a:xfrm>
          <a:prstGeom prst="rect">
            <a:avLst/>
          </a:prstGeom>
        </p:spPr>
      </p:pic>
      <p:sp>
        <p:nvSpPr>
          <p:cNvPr id="22" name="Text 16"/>
          <p:cNvSpPr txBox="1"/>
          <p:nvPr/>
        </p:nvSpPr>
        <p:spPr>
          <a:xfrm>
            <a:off x="8295437" y="3941064"/>
            <a:ext cx="2588666" cy="457200"/>
          </a:xfrm>
          <a:prstGeom prst="rect">
            <a:avLst/>
          </a:prstGeom>
          <a:noFill/>
          <a:ln/>
        </p:spPr>
        <p:txBody>
          <a:bodyPr wrap="square" lIns="0" tIns="0" rIns="0" bIns="0" rtlCol="0" anchor="ctr"/>
          <a:lstStyle/>
          <a:p>
            <a:pPr rtl="1" algn="r" indent="0" marL="0">
              <a:buNone/>
            </a:pPr>
            <a:r>
              <a:rPr lang="ar-IQ" altLang="en-US" sz="1600" b="1" dirty="0">
                <a:solidFill>
                  <a:schemeClr val="tx1"/>
                </a:solidFill>
              </a:rPr>
              <a:t>مستندات موثوقة</a:t>
            </a:r>
            <a:endParaRPr lang="ar-IQ" sz="1600" dirty="0"/>
          </a:p>
        </p:txBody>
      </p:sp>
      <p:sp>
        <p:nvSpPr>
          <p:cNvPr id="23" name="Text 17"/>
          <p:cNvSpPr txBox="1"/>
          <p:nvPr/>
        </p:nvSpPr>
        <p:spPr>
          <a:xfrm>
            <a:off x="8295437" y="4590288"/>
            <a:ext cx="3192170" cy="1280160"/>
          </a:xfrm>
          <a:prstGeom prst="rect">
            <a:avLst/>
          </a:prstGeom>
          <a:noFill/>
          <a:ln/>
        </p:spPr>
        <p:txBody>
          <a:bodyPr wrap="square" lIns="0" tIns="0" rIns="0" bIns="0" rtlCol="0" anchor="t"/>
          <a:lstStyle/>
          <a:p>
            <a:pPr rtl="1" algn="r" indent="0" marL="0">
              <a:lnSpc>
                <a:spcPct val="115000"/>
              </a:lnSpc>
              <a:buNone/>
            </a:pPr>
            <a:r>
              <a:rPr lang="ar-IQ" altLang="en-US" sz="1250" dirty="0">
                <a:solidFill>
                  <a:schemeClr val="accent2"/>
                </a:solidFill>
              </a:rPr>
              <a:t>فحص النوع الحقيقي، وبصمة SHA-256 لكل إصدار، وسحب المرفق بسبب بدل حذفه.</a:t>
            </a:r>
            <a:endParaRPr lang="ar-IQ" sz="1250" dirty="0"/>
          </a:p>
        </p:txBody>
      </p:sp>
      <p:sp>
        <p:nvSpPr>
          <p:cNvPr id="24" name="control-5"/>
          <p:cNvSpPr/>
          <p:nvPr/>
        </p:nvSpPr>
        <p:spPr>
          <a:xfrm>
            <a:off x="4298594" y="3721608"/>
            <a:ext cx="3594506" cy="2240280"/>
          </a:xfrm>
          <a:prstGeom prst="roundRect">
            <a:avLst>
              <a:gd name="adj" fmla="val 4082"/>
            </a:avLst>
          </a:prstGeom>
          <a:solidFill>
            <a:schemeClr val="bg2"/>
          </a:solidFill>
          <a:ln/>
        </p:spPr>
      </p:sp>
      <p:sp>
        <p:nvSpPr>
          <p:cNvPr id="25" name="control-icon-5-circle"/>
          <p:cNvSpPr/>
          <p:nvPr/>
        </p:nvSpPr>
        <p:spPr>
          <a:xfrm>
            <a:off x="7189013" y="3922776"/>
            <a:ext cx="502920" cy="502920"/>
          </a:xfrm>
          <a:prstGeom prst="ellipse">
            <a:avLst/>
          </a:prstGeom>
          <a:solidFill>
            <a:schemeClr val="accent1"/>
          </a:solidFill>
          <a:ln/>
        </p:spPr>
      </p:sp>
      <p:pic>
        <p:nvPicPr>
          <p:cNvPr id="26" name="control-icon-5" descr="preencoded.png">    </p:cNvPr>
          <p:cNvPicPr>
            <a:picLocks noChangeAspect="1"/>
          </p:cNvPicPr>
          <p:nvPr/>
        </p:nvPicPr>
        <p:blipFill>
          <a:blip r:embed="rId5"/>
          <a:stretch>
            <a:fillRect/>
          </a:stretch>
        </p:blipFill>
        <p:spPr>
          <a:xfrm>
            <a:off x="7299655" y="4033418"/>
            <a:ext cx="281635" cy="281635"/>
          </a:xfrm>
          <a:prstGeom prst="rect">
            <a:avLst/>
          </a:prstGeom>
        </p:spPr>
      </p:pic>
      <p:sp>
        <p:nvSpPr>
          <p:cNvPr id="27" name="Text 20"/>
          <p:cNvSpPr txBox="1"/>
          <p:nvPr/>
        </p:nvSpPr>
        <p:spPr>
          <a:xfrm>
            <a:off x="4499762" y="3941064"/>
            <a:ext cx="2588666" cy="457200"/>
          </a:xfrm>
          <a:prstGeom prst="rect">
            <a:avLst/>
          </a:prstGeom>
          <a:noFill/>
          <a:ln/>
        </p:spPr>
        <p:txBody>
          <a:bodyPr wrap="square" lIns="0" tIns="0" rIns="0" bIns="0" rtlCol="0" anchor="ctr"/>
          <a:lstStyle/>
          <a:p>
            <a:pPr rtl="1" algn="r" indent="0" marL="0">
              <a:buNone/>
            </a:pPr>
            <a:r>
              <a:rPr lang="ar-IQ" altLang="en-US" sz="1600" b="1" dirty="0">
                <a:solidFill>
                  <a:schemeClr val="tx1"/>
                </a:solidFill>
              </a:rPr>
              <a:t>نسخ احتياطي مشفّر</a:t>
            </a:r>
            <a:endParaRPr lang="ar-IQ" sz="1600" dirty="0"/>
          </a:p>
        </p:txBody>
      </p:sp>
      <p:sp>
        <p:nvSpPr>
          <p:cNvPr id="28" name="Text 21"/>
          <p:cNvSpPr txBox="1"/>
          <p:nvPr/>
        </p:nvSpPr>
        <p:spPr>
          <a:xfrm>
            <a:off x="4499762" y="4590288"/>
            <a:ext cx="3192170" cy="1280160"/>
          </a:xfrm>
          <a:prstGeom prst="rect">
            <a:avLst/>
          </a:prstGeom>
          <a:noFill/>
          <a:ln/>
        </p:spPr>
        <p:txBody>
          <a:bodyPr wrap="square" lIns="0" tIns="0" rIns="0" bIns="0" rtlCol="0" anchor="t"/>
          <a:lstStyle/>
          <a:p>
            <a:pPr rtl="1" algn="r" indent="0" marL="0">
              <a:lnSpc>
                <a:spcPct val="115000"/>
              </a:lnSpc>
              <a:buNone/>
            </a:pPr>
            <a:r>
              <a:rPr lang="ar-IQ" altLang="en-US" sz="1250" dirty="0">
                <a:solidFill>
                  <a:schemeClr val="accent2"/>
                </a:solidFill>
              </a:rPr>
              <a:t>AES-256، واستعادة مختبرة فعلياً تطابقت فيها 55 جدولاً وسلسلة التدقيق كاملة.</a:t>
            </a:r>
            <a:endParaRPr lang="ar-IQ" sz="1250" dirty="0"/>
          </a:p>
        </p:txBody>
      </p:sp>
      <p:sp>
        <p:nvSpPr>
          <p:cNvPr id="29" name="control-6"/>
          <p:cNvSpPr/>
          <p:nvPr/>
        </p:nvSpPr>
        <p:spPr>
          <a:xfrm>
            <a:off x="502920" y="3721608"/>
            <a:ext cx="3594506" cy="2240280"/>
          </a:xfrm>
          <a:prstGeom prst="roundRect">
            <a:avLst>
              <a:gd name="adj" fmla="val 4082"/>
            </a:avLst>
          </a:prstGeom>
          <a:solidFill>
            <a:schemeClr val="bg2"/>
          </a:solidFill>
          <a:ln/>
        </p:spPr>
      </p:sp>
      <p:sp>
        <p:nvSpPr>
          <p:cNvPr id="30" name="control-icon-6-circle"/>
          <p:cNvSpPr/>
          <p:nvPr/>
        </p:nvSpPr>
        <p:spPr>
          <a:xfrm>
            <a:off x="3393338" y="3922776"/>
            <a:ext cx="502920" cy="502920"/>
          </a:xfrm>
          <a:prstGeom prst="ellipse">
            <a:avLst/>
          </a:prstGeom>
          <a:solidFill>
            <a:schemeClr val="accent1"/>
          </a:solidFill>
          <a:ln/>
        </p:spPr>
      </p:sp>
      <p:pic>
        <p:nvPicPr>
          <p:cNvPr id="31" name="control-icon-6" descr="preencoded.png">    </p:cNvPr>
          <p:cNvPicPr>
            <a:picLocks noChangeAspect="1"/>
          </p:cNvPicPr>
          <p:nvPr/>
        </p:nvPicPr>
        <p:blipFill>
          <a:blip r:embed="rId6"/>
          <a:stretch>
            <a:fillRect/>
          </a:stretch>
        </p:blipFill>
        <p:spPr>
          <a:xfrm>
            <a:off x="3503981" y="4033418"/>
            <a:ext cx="281635" cy="281635"/>
          </a:xfrm>
          <a:prstGeom prst="rect">
            <a:avLst/>
          </a:prstGeom>
        </p:spPr>
      </p:pic>
      <p:sp>
        <p:nvSpPr>
          <p:cNvPr id="32" name="Text 24"/>
          <p:cNvSpPr txBox="1"/>
          <p:nvPr/>
        </p:nvSpPr>
        <p:spPr>
          <a:xfrm>
            <a:off x="704088" y="3941064"/>
            <a:ext cx="2588666" cy="457200"/>
          </a:xfrm>
          <a:prstGeom prst="rect">
            <a:avLst/>
          </a:prstGeom>
          <a:noFill/>
          <a:ln/>
        </p:spPr>
        <p:txBody>
          <a:bodyPr wrap="square" lIns="0" tIns="0" rIns="0" bIns="0" rtlCol="0" anchor="ctr"/>
          <a:lstStyle/>
          <a:p>
            <a:pPr rtl="1" algn="r" indent="0" marL="0">
              <a:buNone/>
            </a:pPr>
            <a:r>
              <a:rPr lang="ar-IQ" altLang="en-US" sz="1600" b="1" dirty="0">
                <a:solidFill>
                  <a:schemeClr val="tx1"/>
                </a:solidFill>
              </a:rPr>
              <a:t>جودة مثبتة</a:t>
            </a:r>
            <a:endParaRPr lang="ar-IQ" sz="1600" dirty="0"/>
          </a:p>
        </p:txBody>
      </p:sp>
      <p:sp>
        <p:nvSpPr>
          <p:cNvPr id="33" name="Text 25"/>
          <p:cNvSpPr txBox="1"/>
          <p:nvPr/>
        </p:nvSpPr>
        <p:spPr>
          <a:xfrm>
            <a:off x="704088" y="4590288"/>
            <a:ext cx="3192170" cy="1280160"/>
          </a:xfrm>
          <a:prstGeom prst="rect">
            <a:avLst/>
          </a:prstGeom>
          <a:noFill/>
          <a:ln/>
        </p:spPr>
        <p:txBody>
          <a:bodyPr wrap="square" lIns="0" tIns="0" rIns="0" bIns="0" rtlCol="0" anchor="t"/>
          <a:lstStyle/>
          <a:p>
            <a:pPr rtl="1" algn="r" indent="0" marL="0">
              <a:lnSpc>
                <a:spcPct val="115000"/>
              </a:lnSpc>
              <a:buNone/>
            </a:pPr>
            <a:r>
              <a:rPr lang="ar-IQ" altLang="en-US" sz="1250" dirty="0">
                <a:solidFill>
                  <a:schemeClr val="accent2"/>
                </a:solidFill>
              </a:rPr>
              <a:t>98 اختباراً آلياً و24 اختبار واجهة على الحاسوب والهاتف، كلها ناجحة.</a:t>
            </a:r>
            <a:endParaRPr lang="ar-IQ" sz="1250" dirty="0"/>
          </a:p>
        </p:txBody>
      </p:sp>
      <p:sp>
        <p:nvSpPr>
          <p:cNvPr id="25" name="Slide Number Placeholder 0"/>
          <p:cNvSpPr>
            <a:spLocks noGrp="1"/>
          </p:cNvSpPr>
          <p:nvPr>
            <p:ph type="sldNum" sz="quarter" idx="4294967295"/>
          </p:nvPr>
        </p:nvSpPr>
        <p:spPr>
          <a:xfrm>
            <a:off x="5029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06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02920" y="228600"/>
            <a:ext cx="10682935" cy="548640"/>
          </a:xfrm>
          <a:prstGeom prst="rect">
            <a:avLst/>
          </a:prstGeom>
          <a:noFill/>
          <a:ln/>
        </p:spPr>
        <p:txBody>
          <a:bodyPr wrap="square" lIns="0" tIns="0" rIns="0" bIns="0" rtlCol="0" anchor="ctr"/>
          <a:lstStyle/>
          <a:p>
            <a:pPr rtl="1" algn="r" indent="0" marL="0">
              <a:buNone/>
            </a:pPr>
            <a:r>
              <a:rPr lang="ar-IQ" altLang="en-US" sz="2800" b="1" dirty="0">
                <a:solidFill>
                  <a:schemeClr val="tx1"/>
                </a:solidFill>
              </a:rPr>
              <a:t>من النسخة المنشورة</a:t>
            </a:r>
            <a:endParaRPr lang="ar-IQ" sz="2800" dirty="0"/>
          </a:p>
        </p:txBody>
      </p:sp>
      <p:sp>
        <p:nvSpPr>
          <p:cNvPr id="3" name="Text 1"/>
          <p:cNvSpPr/>
          <p:nvPr>
            <p:ph idx="103" type="body" hasCustomPrompt="1"/>
          </p:nvPr>
        </p:nvSpPr>
        <p:spPr>
          <a:xfrm>
            <a:off x="502920" y="777240"/>
            <a:ext cx="10682935" cy="274320"/>
          </a:xfrm>
          <a:prstGeom prst="rect">
            <a:avLst/>
          </a:prstGeom>
          <a:noFill/>
          <a:ln/>
        </p:spPr>
        <p:txBody>
          <a:bodyPr wrap="square" lIns="0" tIns="0" rIns="0" bIns="0" rtlCol="0"/>
          <a:lstStyle/>
          <a:p>
            <a:pPr rtl="1" algn="r" indent="0" marL="0">
              <a:buNone/>
            </a:pPr>
            <a:r>
              <a:rPr lang="ar-IQ" altLang="en-US" sz="1200" dirty="0">
                <a:solidFill>
                  <a:schemeClr val="accent5"/>
                </a:solidFill>
              </a:rPr>
              <a:t>لقطات حقيقية ببيانات تجريبية</a:t>
            </a:r>
            <a:endParaRPr lang="ar-IQ" sz="1200" dirty="0"/>
          </a:p>
        </p:txBody>
      </p:sp>
      <p:sp>
        <p:nvSpPr>
          <p:cNvPr id="4" name="shot-frame-1"/>
          <p:cNvSpPr/>
          <p:nvPr/>
        </p:nvSpPr>
        <p:spPr>
          <a:xfrm>
            <a:off x="7839151" y="1781080"/>
            <a:ext cx="3904488" cy="2244281"/>
          </a:xfrm>
          <a:prstGeom prst="rect">
            <a:avLst/>
          </a:prstGeom>
          <a:solidFill>
            <a:schemeClr val="bg1"/>
          </a:solidFill>
          <a:ln w="12700">
            <a:solidFill>
              <a:srgbClr val="D8DBE2"/>
            </a:solidFill>
            <a:prstDash val="solid"/>
          </a:ln>
          <a:effectLst>
            <a:outerShdw sx="100000" sy="100000" kx="0" ky="0" algn="bl" rotWithShape="0" blurRad="101600" dist="25400" dir="5400000">
              <a:srgbClr val="2A314D">
                <a:alpha val="18000"/>
              </a:srgbClr>
            </a:outerShdw>
          </a:effectLst>
        </p:spPr>
      </p:sp>
      <p:pic>
        <p:nvPicPr>
          <p:cNvPr id="5" name="shot-1" descr="لقطة من صفحة جميع المخالفات">    </p:cNvPr>
          <p:cNvPicPr>
            <a:picLocks noChangeAspect="1"/>
          </p:cNvPicPr>
          <p:nvPr/>
        </p:nvPicPr>
        <p:blipFill>
          <a:blip r:embed="rId1"/>
          <a:stretch>
            <a:fillRect/>
          </a:stretch>
        </p:blipFill>
        <p:spPr>
          <a:xfrm>
            <a:off x="7894015" y="1835944"/>
            <a:ext cx="3794760" cy="2134553"/>
          </a:xfrm>
          <a:prstGeom prst="rect">
            <a:avLst/>
          </a:prstGeom>
        </p:spPr>
      </p:pic>
      <p:sp>
        <p:nvSpPr>
          <p:cNvPr id="6" name="Text 3"/>
          <p:cNvSpPr txBox="1"/>
          <p:nvPr/>
        </p:nvSpPr>
        <p:spPr>
          <a:xfrm>
            <a:off x="7894015" y="4709160"/>
            <a:ext cx="3794760" cy="731520"/>
          </a:xfrm>
          <a:prstGeom prst="rect">
            <a:avLst/>
          </a:prstGeom>
          <a:noFill/>
          <a:ln/>
        </p:spPr>
        <p:txBody>
          <a:bodyPr wrap="square" lIns="0" tIns="0" rIns="0" bIns="0" rtlCol="0" anchor="t"/>
          <a:lstStyle/>
          <a:p>
            <a:pPr rtl="1" algn="ctr" indent="0" marL="0">
              <a:buNone/>
            </a:pPr>
            <a:r>
              <a:rPr lang="ar-IQ" altLang="en-US" sz="1300" b="1" dirty="0">
                <a:solidFill>
                  <a:schemeClr val="tx1"/>
                </a:solidFill>
              </a:rPr>
              <a:t>قائمة المخالفات: بحث وفلاتر بالمحافظة والنوع والمرحلة والحالة</a:t>
            </a:r>
            <a:endParaRPr lang="ar-IQ" sz="1300" dirty="0"/>
          </a:p>
        </p:txBody>
      </p:sp>
      <p:sp>
        <p:nvSpPr>
          <p:cNvPr id="7" name="shot-frame-2"/>
          <p:cNvSpPr/>
          <p:nvPr/>
        </p:nvSpPr>
        <p:spPr>
          <a:xfrm>
            <a:off x="4783684" y="1701323"/>
            <a:ext cx="2624328" cy="2403794"/>
          </a:xfrm>
          <a:prstGeom prst="rect">
            <a:avLst/>
          </a:prstGeom>
          <a:solidFill>
            <a:schemeClr val="bg1"/>
          </a:solidFill>
          <a:ln w="12700">
            <a:solidFill>
              <a:srgbClr val="D8DBE2"/>
            </a:solidFill>
            <a:prstDash val="solid"/>
          </a:ln>
          <a:effectLst>
            <a:outerShdw sx="100000" sy="100000" kx="0" ky="0" algn="bl" rotWithShape="0" blurRad="101600" dist="25400" dir="5400000">
              <a:srgbClr val="2A314D">
                <a:alpha val="18000"/>
              </a:srgbClr>
            </a:outerShdw>
          </a:effectLst>
        </p:spPr>
      </p:sp>
      <p:pic>
        <p:nvPicPr>
          <p:cNvPr id="8" name="shot-2" descr="لقطة لنسخة الطباعة من إنذار تجريبي">    </p:cNvPr>
          <p:cNvPicPr>
            <a:picLocks noChangeAspect="1"/>
          </p:cNvPicPr>
          <p:nvPr/>
        </p:nvPicPr>
        <p:blipFill>
          <a:blip r:embed="rId2"/>
          <a:stretch>
            <a:fillRect/>
          </a:stretch>
        </p:blipFill>
        <p:spPr>
          <a:xfrm>
            <a:off x="4838548" y="1756187"/>
            <a:ext cx="2514600" cy="2294066"/>
          </a:xfrm>
          <a:prstGeom prst="rect">
            <a:avLst/>
          </a:prstGeom>
        </p:spPr>
      </p:pic>
      <p:sp>
        <p:nvSpPr>
          <p:cNvPr id="9" name="Text 5"/>
          <p:cNvSpPr txBox="1"/>
          <p:nvPr/>
        </p:nvSpPr>
        <p:spPr>
          <a:xfrm>
            <a:off x="4838548" y="4709160"/>
            <a:ext cx="2514600" cy="731520"/>
          </a:xfrm>
          <a:prstGeom prst="rect">
            <a:avLst/>
          </a:prstGeom>
          <a:noFill/>
          <a:ln/>
        </p:spPr>
        <p:txBody>
          <a:bodyPr wrap="square" lIns="0" tIns="0" rIns="0" bIns="0" rtlCol="0" anchor="t"/>
          <a:lstStyle/>
          <a:p>
            <a:pPr rtl="1" algn="ctr" indent="0" marL="0">
              <a:buNone/>
            </a:pPr>
            <a:r>
              <a:rPr lang="ar-IQ" altLang="en-US" sz="1300" b="1" dirty="0">
                <a:solidFill>
                  <a:schemeClr val="tx1"/>
                </a:solidFill>
              </a:rPr>
              <a:t>الإنذار بهوية الهيئة ورقمه الرسمي، طباعة PDF وتصدير Word</a:t>
            </a:r>
            <a:endParaRPr lang="ar-IQ" sz="1300" dirty="0"/>
          </a:p>
        </p:txBody>
      </p:sp>
      <p:sp>
        <p:nvSpPr>
          <p:cNvPr id="10" name="shot-frame-3"/>
          <p:cNvSpPr/>
          <p:nvPr/>
        </p:nvSpPr>
        <p:spPr>
          <a:xfrm>
            <a:off x="448056" y="1781080"/>
            <a:ext cx="3904488" cy="2244281"/>
          </a:xfrm>
          <a:prstGeom prst="rect">
            <a:avLst/>
          </a:prstGeom>
          <a:solidFill>
            <a:schemeClr val="bg1"/>
          </a:solidFill>
          <a:ln w="12700">
            <a:solidFill>
              <a:srgbClr val="D8DBE2"/>
            </a:solidFill>
            <a:prstDash val="solid"/>
          </a:ln>
          <a:effectLst>
            <a:outerShdw sx="100000" sy="100000" kx="0" ky="0" algn="bl" rotWithShape="0" blurRad="101600" dist="25400" dir="5400000">
              <a:srgbClr val="2A314D">
                <a:alpha val="18000"/>
              </a:srgbClr>
            </a:outerShdw>
          </a:effectLst>
        </p:spPr>
      </p:sp>
      <p:pic>
        <p:nvPicPr>
          <p:cNvPr id="11" name="shot-3" descr="لقطة من صفحة التقارير والإحصائيات">    </p:cNvPr>
          <p:cNvPicPr>
            <a:picLocks noChangeAspect="1"/>
          </p:cNvPicPr>
          <p:nvPr/>
        </p:nvPicPr>
        <p:blipFill>
          <a:blip r:embed="rId3"/>
          <a:stretch>
            <a:fillRect/>
          </a:stretch>
        </p:blipFill>
        <p:spPr>
          <a:xfrm>
            <a:off x="502920" y="1835944"/>
            <a:ext cx="3794760" cy="2134553"/>
          </a:xfrm>
          <a:prstGeom prst="rect">
            <a:avLst/>
          </a:prstGeom>
        </p:spPr>
      </p:pic>
      <p:sp>
        <p:nvSpPr>
          <p:cNvPr id="12" name="Text 7"/>
          <p:cNvSpPr txBox="1"/>
          <p:nvPr/>
        </p:nvSpPr>
        <p:spPr>
          <a:xfrm>
            <a:off x="502920" y="4709160"/>
            <a:ext cx="3794760" cy="731520"/>
          </a:xfrm>
          <a:prstGeom prst="rect">
            <a:avLst/>
          </a:prstGeom>
          <a:noFill/>
          <a:ln/>
        </p:spPr>
        <p:txBody>
          <a:bodyPr wrap="square" lIns="0" tIns="0" rIns="0" bIns="0" rtlCol="0" anchor="t"/>
          <a:lstStyle/>
          <a:p>
            <a:pPr rtl="1" algn="ctr" indent="0" marL="0">
              <a:buNone/>
            </a:pPr>
            <a:r>
              <a:rPr lang="ar-IQ" altLang="en-US" sz="1300" b="1" dirty="0">
                <a:solidFill>
                  <a:schemeClr val="tx1"/>
                </a:solidFill>
              </a:rPr>
              <a:t>عشرون تقريراً ضمن نطاق كل مستخدم، وكل تصدير مسجَّل</a:t>
            </a:r>
            <a:endParaRPr lang="ar-IQ" sz="1300" dirty="0"/>
          </a:p>
        </p:txBody>
      </p:sp>
      <p:sp>
        <p:nvSpPr>
          <p:cNvPr id="13" name="Text 8"/>
          <p:cNvSpPr txBox="1"/>
          <p:nvPr/>
        </p:nvSpPr>
        <p:spPr>
          <a:xfrm>
            <a:off x="502920" y="5760720"/>
            <a:ext cx="11185855" cy="365760"/>
          </a:xfrm>
          <a:prstGeom prst="rect">
            <a:avLst/>
          </a:prstGeom>
          <a:noFill/>
          <a:ln/>
        </p:spPr>
        <p:txBody>
          <a:bodyPr wrap="square" lIns="0" tIns="0" rIns="0" bIns="0" rtlCol="0" anchor="t"/>
          <a:lstStyle/>
          <a:p>
            <a:pPr rtl="1" algn="ctr" indent="0" marL="0">
              <a:buNone/>
            </a:pPr>
            <a:r>
              <a:rPr lang="ar-IQ" altLang="en-US" sz="1400" dirty="0">
                <a:solidFill>
                  <a:schemeClr val="accent2"/>
                </a:solidFill>
              </a:rPr>
              <a:t>للتجربة الآن: </a:t>
            </a:r>
            <a:pPr rtl="1" algn="ctr" indent="0" marL="0">
              <a:buNone/>
            </a:pPr>
            <a:r>
              <a:rPr lang="ar-IQ" altLang="en-US" sz="1400" u="sng" dirty="0">
                <a:solidFill>
                  <a:srgbClr val="F47505"/>
                </a:solidFill>
                <a:hlinkClick r:id="rId4" invalidUrl="" action="" tgtFrame="" tooltip="" history="1" highlightClick="0" endSnd="0">
                  <a:extLst>
                    <a:ext uri="{A12FA001-AC4F-418D-AE19-62706E023703}">
                      <ahyp:hlinkClr xmlns:ahyp="http://schemas.microsoft.com/office/drawing/2018/hyperlinkcolor" val="tx"/>
                    </a:ext>
                  </a:extLst>
                </a:hlinkClick>
              </a:rPr>
              <a:t>https://my-platform-0l1t.netlify.app</a:t>
            </a:r>
            <a:endParaRPr lang="ar-IQ" sz="1400" dirty="0"/>
          </a:p>
        </p:txBody>
      </p:sp>
      <p:sp>
        <p:nvSpPr>
          <p:cNvPr id="25" name="Slide Number Placeholder 0"/>
          <p:cNvSpPr>
            <a:spLocks noGrp="1"/>
          </p:cNvSpPr>
          <p:nvPr>
            <p:ph type="sldNum" sz="quarter" idx="4294967295"/>
          </p:nvPr>
        </p:nvSpPr>
        <p:spPr>
          <a:xfrm>
            <a:off x="5029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06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02920" y="228600"/>
            <a:ext cx="10682935" cy="548640"/>
          </a:xfrm>
          <a:prstGeom prst="rect">
            <a:avLst/>
          </a:prstGeom>
          <a:noFill/>
          <a:ln/>
        </p:spPr>
        <p:txBody>
          <a:bodyPr wrap="square" lIns="0" tIns="0" rIns="0" bIns="0" rtlCol="0" anchor="ctr"/>
          <a:lstStyle/>
          <a:p>
            <a:pPr rtl="1" algn="r" indent="0" marL="0">
              <a:buNone/>
            </a:pPr>
            <a:r>
              <a:rPr lang="ar-IQ" altLang="en-US" sz="2800" b="1" dirty="0">
                <a:solidFill>
                  <a:schemeClr val="tx1"/>
                </a:solidFill>
              </a:rPr>
              <a:t>الجاهزية والخطوات التالية</a:t>
            </a:r>
            <a:endParaRPr lang="ar-IQ" sz="2800" dirty="0"/>
          </a:p>
        </p:txBody>
      </p:sp>
      <p:sp>
        <p:nvSpPr>
          <p:cNvPr id="3" name="Text 1"/>
          <p:cNvSpPr/>
          <p:nvPr>
            <p:ph idx="103" type="body" hasCustomPrompt="1"/>
          </p:nvPr>
        </p:nvSpPr>
        <p:spPr>
          <a:xfrm>
            <a:off x="502920" y="777240"/>
            <a:ext cx="10682935" cy="274320"/>
          </a:xfrm>
          <a:prstGeom prst="rect">
            <a:avLst/>
          </a:prstGeom>
          <a:noFill/>
          <a:ln/>
        </p:spPr>
        <p:txBody>
          <a:bodyPr wrap="square" lIns="0" tIns="0" rIns="0" bIns="0" rtlCol="0"/>
          <a:lstStyle/>
          <a:p>
            <a:pPr rtl="1" algn="r" indent="0" marL="0">
              <a:buNone/>
            </a:pPr>
            <a:r>
              <a:rPr lang="ar-IQ" altLang="en-US" sz="1200" dirty="0">
                <a:solidFill>
                  <a:schemeClr val="accent5"/>
                </a:solidFill>
              </a:rPr>
              <a:t>من النسخة التجريبية إلى التشغيل الفعلي</a:t>
            </a:r>
            <a:endParaRPr lang="ar-IQ" sz="1200" dirty="0"/>
          </a:p>
        </p:txBody>
      </p:sp>
      <p:sp>
        <p:nvSpPr>
          <p:cNvPr id="4" name="status"/>
          <p:cNvSpPr/>
          <p:nvPr/>
        </p:nvSpPr>
        <p:spPr>
          <a:xfrm>
            <a:off x="6233008" y="1280160"/>
            <a:ext cx="5455768" cy="4754880"/>
          </a:xfrm>
          <a:prstGeom prst="roundRect">
            <a:avLst>
              <a:gd name="adj" fmla="val 1923"/>
            </a:avLst>
          </a:prstGeom>
          <a:solidFill>
            <a:schemeClr val="tx1"/>
          </a:solidFill>
          <a:ln/>
        </p:spPr>
      </p:sp>
      <p:sp>
        <p:nvSpPr>
          <p:cNvPr id="5" name="Text 3"/>
          <p:cNvSpPr txBox="1"/>
          <p:nvPr/>
        </p:nvSpPr>
        <p:spPr>
          <a:xfrm>
            <a:off x="6553048" y="1554480"/>
            <a:ext cx="4815688" cy="411480"/>
          </a:xfrm>
          <a:prstGeom prst="rect">
            <a:avLst/>
          </a:prstGeom>
          <a:noFill/>
          <a:ln/>
        </p:spPr>
        <p:txBody>
          <a:bodyPr wrap="square" lIns="0" tIns="0" rIns="0" bIns="0" rtlCol="0" anchor="t"/>
          <a:lstStyle/>
          <a:p>
            <a:pPr rtl="1" algn="r" indent="0" marL="0">
              <a:buNone/>
            </a:pPr>
            <a:r>
              <a:rPr lang="ar-IQ" altLang="en-US" sz="1800" b="1" dirty="0">
                <a:solidFill>
                  <a:schemeClr val="bg1"/>
                </a:solidFill>
              </a:rPr>
              <a:t>الحالة الآن</a:t>
            </a:r>
            <a:endParaRPr lang="ar-IQ" sz="1800" dirty="0"/>
          </a:p>
        </p:txBody>
      </p:sp>
      <p:sp>
        <p:nvSpPr>
          <p:cNvPr id="6" name="Text 4"/>
          <p:cNvSpPr txBox="1"/>
          <p:nvPr/>
        </p:nvSpPr>
        <p:spPr>
          <a:xfrm>
            <a:off x="6553048" y="2148840"/>
            <a:ext cx="4815688" cy="3657600"/>
          </a:xfrm>
          <a:prstGeom prst="rect">
            <a:avLst/>
          </a:prstGeom>
          <a:noFill/>
          <a:ln/>
        </p:spPr>
        <p:txBody>
          <a:bodyPr wrap="square" lIns="0" tIns="0" rIns="0" bIns="0" rtlCol="0" anchor="t"/>
          <a:lstStyle/>
          <a:p>
            <a:pPr rtl="1" algn="r" marL="342900" indent="-342900">
              <a:spcAft>
                <a:spcPts val="1200"/>
              </a:spcAft>
              <a:buSzPct val="100000"/>
              <a:buChar char="•"/>
            </a:pPr>
            <a:r>
              <a:rPr lang="ar-IQ" altLang="en-US" sz="1400" dirty="0">
                <a:solidFill>
                  <a:srgbClr val="D5D9E6"/>
                </a:solidFill>
              </a:rPr>
              <a:t>منشورة على الإنترنت بقاعدة بيانات في فرانكفورت، وبيانات تجريبية موسومة.</a:t>
            </a:r>
            <a:endParaRPr lang="ar-IQ" sz="1400" dirty="0"/>
          </a:p>
          <a:p>
            <a:pPr rtl="1" algn="r" marL="342900" indent="-342900">
              <a:spcAft>
                <a:spcPts val="1200"/>
              </a:spcAft>
              <a:buSzPct val="100000"/>
              <a:buChar char="•"/>
            </a:pPr>
            <a:r>
              <a:rPr lang="ar-IQ" altLang="en-US" sz="1400" dirty="0">
                <a:solidFill>
                  <a:srgbClr val="D5D9E6"/>
                </a:solidFill>
              </a:rPr>
              <a:t>دورة المخالفة كاملة، والتقارير، وسجل التدقيق تعمل ومختبرة.</a:t>
            </a:r>
            <a:endParaRPr lang="ar-IQ" sz="1400" dirty="0"/>
          </a:p>
          <a:p>
            <a:pPr rtl="1" algn="r" marL="342900" indent="-342900">
              <a:spcAft>
                <a:spcPts val="1200"/>
              </a:spcAft>
              <a:buSzPct val="100000"/>
              <a:buChar char="•"/>
            </a:pPr>
            <a:r>
              <a:rPr lang="ar-IQ" altLang="en-US" sz="1400" dirty="0">
                <a:solidFill>
                  <a:srgbClr val="D5D9E6"/>
                </a:solidFill>
              </a:rPr>
              <a:t>لم يُنجز بعد: المصادقة الثنائية، وفحص الملفات بمضاد فيروسات فعلي.</a:t>
            </a:r>
            <a:endParaRPr lang="ar-IQ" sz="1400" dirty="0"/>
          </a:p>
          <a:p>
            <a:pPr rtl="1" algn="r" marL="342900" indent="-342900">
              <a:spcAft>
                <a:spcPts val="1200"/>
              </a:spcAft>
              <a:buSzPct val="100000"/>
              <a:buChar char="•"/>
            </a:pPr>
            <a:r>
              <a:rPr lang="ar-IQ" altLang="en-US" sz="1400" dirty="0">
                <a:solidFill>
                  <a:srgbClr val="D5D9E6"/>
                </a:solidFill>
              </a:rPr>
              <a:t>الاستجابة حالياً 3 إلى 7 ثوانٍ للصفحة، وتتحسن بنقل الخوادم إلى فرانكفورت.</a:t>
            </a:r>
            <a:endParaRPr lang="ar-IQ" sz="1400" dirty="0"/>
          </a:p>
        </p:txBody>
      </p:sp>
      <p:sp>
        <p:nvSpPr>
          <p:cNvPr id="7" name="decisions"/>
          <p:cNvSpPr/>
          <p:nvPr/>
        </p:nvSpPr>
        <p:spPr>
          <a:xfrm>
            <a:off x="502920" y="1280160"/>
            <a:ext cx="5455768" cy="4754880"/>
          </a:xfrm>
          <a:prstGeom prst="roundRect">
            <a:avLst>
              <a:gd name="adj" fmla="val 1923"/>
            </a:avLst>
          </a:prstGeom>
          <a:solidFill>
            <a:schemeClr val="bg1"/>
          </a:solidFill>
          <a:ln w="15875">
            <a:solidFill>
              <a:srgbClr val="2A314D"/>
            </a:solidFill>
            <a:prstDash val="solid"/>
          </a:ln>
        </p:spPr>
      </p:sp>
      <p:sp>
        <p:nvSpPr>
          <p:cNvPr id="8" name="Text 6"/>
          <p:cNvSpPr txBox="1"/>
          <p:nvPr/>
        </p:nvSpPr>
        <p:spPr>
          <a:xfrm>
            <a:off x="822960" y="1554480"/>
            <a:ext cx="4815688" cy="411480"/>
          </a:xfrm>
          <a:prstGeom prst="rect">
            <a:avLst/>
          </a:prstGeom>
          <a:noFill/>
          <a:ln/>
        </p:spPr>
        <p:txBody>
          <a:bodyPr wrap="square" lIns="0" tIns="0" rIns="0" bIns="0" rtlCol="0" anchor="t"/>
          <a:lstStyle/>
          <a:p>
            <a:pPr rtl="1" algn="r" indent="0" marL="0">
              <a:buNone/>
            </a:pPr>
            <a:r>
              <a:rPr lang="ar-IQ" altLang="en-US" sz="1800" b="1" dirty="0">
                <a:solidFill>
                  <a:schemeClr val="tx1"/>
                </a:solidFill>
              </a:rPr>
              <a:t>القرارات المطلوبة</a:t>
            </a:r>
            <a:endParaRPr lang="ar-IQ" sz="1800" dirty="0"/>
          </a:p>
        </p:txBody>
      </p:sp>
      <p:sp>
        <p:nvSpPr>
          <p:cNvPr id="9" name="decision-1"/>
          <p:cNvSpPr/>
          <p:nvPr/>
        </p:nvSpPr>
        <p:spPr>
          <a:xfrm>
            <a:off x="5181448" y="2194560"/>
            <a:ext cx="457200" cy="457200"/>
          </a:xfrm>
          <a:prstGeom prst="ellipse">
            <a:avLst/>
          </a:prstGeom>
          <a:solidFill>
            <a:schemeClr val="accent1"/>
          </a:solidFill>
          <a:ln/>
        </p:spPr>
      </p:sp>
      <p:sp>
        <p:nvSpPr>
          <p:cNvPr id="10" name="Text 8"/>
          <p:cNvSpPr txBox="1"/>
          <p:nvPr/>
        </p:nvSpPr>
        <p:spPr>
          <a:xfrm>
            <a:off x="5181448" y="2194560"/>
            <a:ext cx="457200" cy="457200"/>
          </a:xfrm>
          <a:prstGeom prst="rect">
            <a:avLst/>
          </a:prstGeom>
          <a:noFill/>
          <a:ln/>
        </p:spPr>
        <p:txBody>
          <a:bodyPr wrap="square" lIns="0" tIns="0" rIns="0" bIns="0" rtlCol="0" anchor="ctr"/>
          <a:lstStyle/>
          <a:p>
            <a:pPr rtl="1" algn="ctr" indent="0" marL="0">
              <a:buNone/>
            </a:pPr>
            <a:r>
              <a:rPr lang="ar-IQ" altLang="en-US" sz="1600" b="1" dirty="0">
                <a:solidFill>
                  <a:schemeClr val="tx1"/>
                </a:solidFill>
              </a:rPr>
              <a:t>1</a:t>
            </a:r>
            <a:endParaRPr lang="ar-IQ" sz="1600" dirty="0"/>
          </a:p>
        </p:txBody>
      </p:sp>
      <p:sp>
        <p:nvSpPr>
          <p:cNvPr id="11" name="Text 9"/>
          <p:cNvSpPr txBox="1"/>
          <p:nvPr/>
        </p:nvSpPr>
        <p:spPr>
          <a:xfrm>
            <a:off x="822960" y="2148840"/>
            <a:ext cx="4221328" cy="731520"/>
          </a:xfrm>
          <a:prstGeom prst="rect">
            <a:avLst/>
          </a:prstGeom>
          <a:noFill/>
          <a:ln/>
        </p:spPr>
        <p:txBody>
          <a:bodyPr wrap="square" lIns="0" tIns="0" rIns="0" bIns="0" rtlCol="0" anchor="t"/>
          <a:lstStyle/>
          <a:p>
            <a:pPr rtl="1" algn="r" indent="0" marL="0">
              <a:buNone/>
            </a:pPr>
            <a:r>
              <a:rPr lang="ar-IQ" altLang="en-US" sz="1400" b="1" dirty="0">
                <a:solidFill>
                  <a:schemeClr val="accent2"/>
                </a:solidFill>
              </a:rPr>
              <a:t>مكان الاستضافة: </a:t>
            </a:r>
            <a:pPr rtl="1" algn="r" indent="0" marL="0">
              <a:buNone/>
            </a:pPr>
            <a:r>
              <a:rPr lang="ar-IQ" altLang="en-US" sz="1400" dirty="0">
                <a:solidFill>
                  <a:schemeClr val="accent2"/>
                </a:solidFill>
              </a:rPr>
              <a:t>السحابة بعد نقلها إلى فرانكفورت، أم خادم الهيئة.</a:t>
            </a:r>
            <a:endParaRPr lang="ar-IQ" sz="1400" dirty="0"/>
          </a:p>
        </p:txBody>
      </p:sp>
      <p:sp>
        <p:nvSpPr>
          <p:cNvPr id="12" name="decision-2"/>
          <p:cNvSpPr/>
          <p:nvPr/>
        </p:nvSpPr>
        <p:spPr>
          <a:xfrm>
            <a:off x="5181448" y="3108960"/>
            <a:ext cx="457200" cy="457200"/>
          </a:xfrm>
          <a:prstGeom prst="ellipse">
            <a:avLst/>
          </a:prstGeom>
          <a:solidFill>
            <a:schemeClr val="accent1"/>
          </a:solidFill>
          <a:ln/>
        </p:spPr>
      </p:sp>
      <p:sp>
        <p:nvSpPr>
          <p:cNvPr id="13" name="Text 11"/>
          <p:cNvSpPr txBox="1"/>
          <p:nvPr/>
        </p:nvSpPr>
        <p:spPr>
          <a:xfrm>
            <a:off x="5181448" y="3108960"/>
            <a:ext cx="457200" cy="457200"/>
          </a:xfrm>
          <a:prstGeom prst="rect">
            <a:avLst/>
          </a:prstGeom>
          <a:noFill/>
          <a:ln/>
        </p:spPr>
        <p:txBody>
          <a:bodyPr wrap="square" lIns="0" tIns="0" rIns="0" bIns="0" rtlCol="0" anchor="ctr"/>
          <a:lstStyle/>
          <a:p>
            <a:pPr rtl="1" algn="ctr" indent="0" marL="0">
              <a:buNone/>
            </a:pPr>
            <a:r>
              <a:rPr lang="ar-IQ" altLang="en-US" sz="1600" b="1" dirty="0">
                <a:solidFill>
                  <a:schemeClr val="tx1"/>
                </a:solidFill>
              </a:rPr>
              <a:t>2</a:t>
            </a:r>
            <a:endParaRPr lang="ar-IQ" sz="1600" dirty="0"/>
          </a:p>
        </p:txBody>
      </p:sp>
      <p:sp>
        <p:nvSpPr>
          <p:cNvPr id="14" name="Text 12"/>
          <p:cNvSpPr txBox="1"/>
          <p:nvPr/>
        </p:nvSpPr>
        <p:spPr>
          <a:xfrm>
            <a:off x="822960" y="3063240"/>
            <a:ext cx="4221328" cy="731520"/>
          </a:xfrm>
          <a:prstGeom prst="rect">
            <a:avLst/>
          </a:prstGeom>
          <a:noFill/>
          <a:ln/>
        </p:spPr>
        <p:txBody>
          <a:bodyPr wrap="square" lIns="0" tIns="0" rIns="0" bIns="0" rtlCol="0" anchor="t"/>
          <a:lstStyle/>
          <a:p>
            <a:pPr rtl="1" algn="r" indent="0" marL="0">
              <a:buNone/>
            </a:pPr>
            <a:r>
              <a:rPr lang="ar-IQ" altLang="en-US" sz="1400" b="1" dirty="0">
                <a:solidFill>
                  <a:schemeClr val="accent2"/>
                </a:solidFill>
              </a:rPr>
              <a:t>الدائرة القانونية: </a:t>
            </a:r>
            <a:pPr rtl="1" algn="r" indent="0" marL="0">
              <a:buNone/>
            </a:pPr>
            <a:r>
              <a:rPr lang="ar-IQ" altLang="en-US" sz="1400" dirty="0">
                <a:solidFill>
                  <a:schemeClr val="accent2"/>
                </a:solidFill>
              </a:rPr>
              <a:t>إدخال قواعد المدد بسندها واعتماد قوالب الإنذار.</a:t>
            </a:r>
            <a:endParaRPr lang="ar-IQ" sz="1400" dirty="0"/>
          </a:p>
        </p:txBody>
      </p:sp>
      <p:sp>
        <p:nvSpPr>
          <p:cNvPr id="15" name="decision-3"/>
          <p:cNvSpPr/>
          <p:nvPr/>
        </p:nvSpPr>
        <p:spPr>
          <a:xfrm>
            <a:off x="5181448" y="4023360"/>
            <a:ext cx="457200" cy="457200"/>
          </a:xfrm>
          <a:prstGeom prst="ellipse">
            <a:avLst/>
          </a:prstGeom>
          <a:solidFill>
            <a:schemeClr val="accent1"/>
          </a:solidFill>
          <a:ln/>
        </p:spPr>
      </p:sp>
      <p:sp>
        <p:nvSpPr>
          <p:cNvPr id="16" name="Text 14"/>
          <p:cNvSpPr txBox="1"/>
          <p:nvPr/>
        </p:nvSpPr>
        <p:spPr>
          <a:xfrm>
            <a:off x="5181448" y="4023360"/>
            <a:ext cx="457200" cy="457200"/>
          </a:xfrm>
          <a:prstGeom prst="rect">
            <a:avLst/>
          </a:prstGeom>
          <a:noFill/>
          <a:ln/>
        </p:spPr>
        <p:txBody>
          <a:bodyPr wrap="square" lIns="0" tIns="0" rIns="0" bIns="0" rtlCol="0" anchor="ctr"/>
          <a:lstStyle/>
          <a:p>
            <a:pPr rtl="1" algn="ctr" indent="0" marL="0">
              <a:buNone/>
            </a:pPr>
            <a:r>
              <a:rPr lang="ar-IQ" altLang="en-US" sz="1600" b="1" dirty="0">
                <a:solidFill>
                  <a:schemeClr val="tx1"/>
                </a:solidFill>
              </a:rPr>
              <a:t>3</a:t>
            </a:r>
            <a:endParaRPr lang="ar-IQ" sz="1600" dirty="0"/>
          </a:p>
        </p:txBody>
      </p:sp>
      <p:sp>
        <p:nvSpPr>
          <p:cNvPr id="17" name="Text 15"/>
          <p:cNvSpPr txBox="1"/>
          <p:nvPr/>
        </p:nvSpPr>
        <p:spPr>
          <a:xfrm>
            <a:off x="822960" y="3977640"/>
            <a:ext cx="4221328" cy="731520"/>
          </a:xfrm>
          <a:prstGeom prst="rect">
            <a:avLst/>
          </a:prstGeom>
          <a:noFill/>
          <a:ln/>
        </p:spPr>
        <p:txBody>
          <a:bodyPr wrap="square" lIns="0" tIns="0" rIns="0" bIns="0" rtlCol="0" anchor="t"/>
          <a:lstStyle/>
          <a:p>
            <a:pPr rtl="1" algn="r" indent="0" marL="0">
              <a:buNone/>
            </a:pPr>
            <a:r>
              <a:rPr lang="ar-IQ" altLang="en-US" sz="1400" b="1" dirty="0">
                <a:solidFill>
                  <a:schemeClr val="accent2"/>
                </a:solidFill>
              </a:rPr>
              <a:t>تجربة تشغيلية: </a:t>
            </a:r>
            <a:pPr rtl="1" algn="r" indent="0" marL="0">
              <a:buNone/>
            </a:pPr>
            <a:r>
              <a:rPr lang="ar-IQ" altLang="en-US" sz="1400" dirty="0">
                <a:solidFill>
                  <a:schemeClr val="accent2"/>
                </a:solidFill>
              </a:rPr>
              <a:t>في مكتب ذي قار لمدة شهر واحد قبل التعميم.</a:t>
            </a:r>
            <a:endParaRPr lang="ar-IQ" sz="1400" dirty="0"/>
          </a:p>
        </p:txBody>
      </p:sp>
      <p:sp>
        <p:nvSpPr>
          <p:cNvPr id="18" name="decision-4"/>
          <p:cNvSpPr/>
          <p:nvPr/>
        </p:nvSpPr>
        <p:spPr>
          <a:xfrm>
            <a:off x="5181448" y="4937760"/>
            <a:ext cx="457200" cy="457200"/>
          </a:xfrm>
          <a:prstGeom prst="ellipse">
            <a:avLst/>
          </a:prstGeom>
          <a:solidFill>
            <a:schemeClr val="accent1"/>
          </a:solidFill>
          <a:ln/>
        </p:spPr>
      </p:sp>
      <p:sp>
        <p:nvSpPr>
          <p:cNvPr id="19" name="Text 17"/>
          <p:cNvSpPr txBox="1"/>
          <p:nvPr/>
        </p:nvSpPr>
        <p:spPr>
          <a:xfrm>
            <a:off x="5181448" y="4937760"/>
            <a:ext cx="457200" cy="457200"/>
          </a:xfrm>
          <a:prstGeom prst="rect">
            <a:avLst/>
          </a:prstGeom>
          <a:noFill/>
          <a:ln/>
        </p:spPr>
        <p:txBody>
          <a:bodyPr wrap="square" lIns="0" tIns="0" rIns="0" bIns="0" rtlCol="0" anchor="ctr"/>
          <a:lstStyle/>
          <a:p>
            <a:pPr rtl="1" algn="ctr" indent="0" marL="0">
              <a:buNone/>
            </a:pPr>
            <a:r>
              <a:rPr lang="ar-IQ" altLang="en-US" sz="1600" b="1" dirty="0">
                <a:solidFill>
                  <a:schemeClr val="tx1"/>
                </a:solidFill>
              </a:rPr>
              <a:t>4</a:t>
            </a:r>
            <a:endParaRPr lang="ar-IQ" sz="1600" dirty="0"/>
          </a:p>
        </p:txBody>
      </p:sp>
      <p:sp>
        <p:nvSpPr>
          <p:cNvPr id="20" name="Text 18"/>
          <p:cNvSpPr txBox="1"/>
          <p:nvPr/>
        </p:nvSpPr>
        <p:spPr>
          <a:xfrm>
            <a:off x="822960" y="4892040"/>
            <a:ext cx="4221328" cy="731520"/>
          </a:xfrm>
          <a:prstGeom prst="rect">
            <a:avLst/>
          </a:prstGeom>
          <a:noFill/>
          <a:ln/>
        </p:spPr>
        <p:txBody>
          <a:bodyPr wrap="square" lIns="0" tIns="0" rIns="0" bIns="0" rtlCol="0" anchor="t"/>
          <a:lstStyle/>
          <a:p>
            <a:pPr rtl="1" algn="r" indent="0" marL="0">
              <a:buNone/>
            </a:pPr>
            <a:r>
              <a:rPr lang="ar-IQ" altLang="en-US" sz="1400" b="1" dirty="0">
                <a:solidFill>
                  <a:schemeClr val="accent2"/>
                </a:solidFill>
              </a:rPr>
              <a:t>مسؤول المنصة: </a:t>
            </a:r>
            <a:pPr rtl="1" algn="r" indent="0" marL="0">
              <a:buNone/>
            </a:pPr>
            <a:r>
              <a:rPr lang="ar-IQ" altLang="en-US" sz="1400" dirty="0">
                <a:solidFill>
                  <a:schemeClr val="accent2"/>
                </a:solidFill>
              </a:rPr>
              <a:t>تسمية مدير النظام، وحذف البيانات التجريبية.</a:t>
            </a:r>
            <a:endParaRPr lang="ar-IQ" sz="1400" dirty="0"/>
          </a:p>
        </p:txBody>
      </p:sp>
      <p:sp>
        <p:nvSpPr>
          <p:cNvPr id="25" name="Slide Number Placeholder 0"/>
          <p:cNvSpPr>
            <a:spLocks noGrp="1"/>
          </p:cNvSpPr>
          <p:nvPr>
            <p:ph type="sldNum" sz="quarter" idx="4294967295"/>
          </p:nvPr>
        </p:nvSpPr>
        <p:spPr>
          <a:xfrm>
            <a:off x="5029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06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hanks-disc"/>
          <p:cNvSpPr/>
          <p:nvPr/>
        </p:nvSpPr>
        <p:spPr>
          <a:xfrm>
            <a:off x="5410048" y="502920"/>
            <a:ext cx="1371600" cy="1371600"/>
          </a:xfrm>
          <a:prstGeom prst="ellipse">
            <a:avLst/>
          </a:prstGeom>
          <a:solidFill>
            <a:schemeClr val="bg1"/>
          </a:solidFill>
          <a:ln/>
        </p:spPr>
      </p:sp>
      <p:pic>
        <p:nvPicPr>
          <p:cNvPr id="3" name="thanks-logo" descr="شعار هيئة الإعلام والاتصالات">    </p:cNvPr>
          <p:cNvPicPr>
            <a:picLocks noChangeAspect="1"/>
          </p:cNvPicPr>
          <p:nvPr/>
        </p:nvPicPr>
        <p:blipFill>
          <a:blip r:embed="rId1"/>
          <a:stretch>
            <a:fillRect/>
          </a:stretch>
        </p:blipFill>
        <p:spPr>
          <a:xfrm>
            <a:off x="5464912" y="557784"/>
            <a:ext cx="1261872" cy="1261872"/>
          </a:xfrm>
          <a:prstGeom prst="rect">
            <a:avLst/>
          </a:prstGeom>
        </p:spPr>
      </p:pic>
      <p:sp>
        <p:nvSpPr>
          <p:cNvPr id="4" name="Text 1"/>
          <p:cNvSpPr txBox="1"/>
          <p:nvPr/>
        </p:nvSpPr>
        <p:spPr>
          <a:xfrm>
            <a:off x="502920" y="2057400"/>
            <a:ext cx="11185855" cy="731520"/>
          </a:xfrm>
          <a:prstGeom prst="rect">
            <a:avLst/>
          </a:prstGeom>
          <a:noFill/>
          <a:ln/>
        </p:spPr>
        <p:txBody>
          <a:bodyPr wrap="square" lIns="0" tIns="0" rIns="0" bIns="0" rtlCol="0" anchor="t"/>
          <a:lstStyle/>
          <a:p>
            <a:pPr rtl="1" algn="ctr" indent="0" marL="0">
              <a:buNone/>
            </a:pPr>
            <a:r>
              <a:rPr lang="ar-IQ" altLang="en-US" sz="4000" b="1" dirty="0">
                <a:solidFill>
                  <a:schemeClr val="accent1"/>
                </a:solidFill>
              </a:rPr>
              <a:t>شكر وتقدير</a:t>
            </a:r>
            <a:endParaRPr lang="ar-IQ" sz="4000" dirty="0"/>
          </a:p>
        </p:txBody>
      </p:sp>
      <p:sp>
        <p:nvSpPr>
          <p:cNvPr id="5" name="Text 2"/>
          <p:cNvSpPr txBox="1"/>
          <p:nvPr/>
        </p:nvSpPr>
        <p:spPr>
          <a:xfrm>
            <a:off x="1097280" y="2880360"/>
            <a:ext cx="9997135" cy="2926080"/>
          </a:xfrm>
          <a:prstGeom prst="rect">
            <a:avLst/>
          </a:prstGeom>
          <a:noFill/>
          <a:ln/>
        </p:spPr>
        <p:txBody>
          <a:bodyPr wrap="square" lIns="0" tIns="0" rIns="0" bIns="0" rtlCol="0" anchor="t"/>
          <a:lstStyle/>
          <a:p>
            <a:pPr rtl="1" algn="ctr" indent="0" marL="0">
              <a:lnSpc>
                <a:spcPct val="130000"/>
              </a:lnSpc>
              <a:buNone/>
            </a:pPr>
            <a:r>
              <a:rPr lang="ar-IQ" altLang="en-US" sz="2000" b="1" dirty="0">
                <a:solidFill>
                  <a:schemeClr val="bg1"/>
                </a:solidFill>
              </a:rPr>
              <a:t>إلى السيد رئيس الجهاز التنفيذي لهيئة الإعلام والاتصالات</a:t>
            </a:r>
            <a:endParaRPr lang="ar-IQ" sz="1400" dirty="0"/>
          </a:p>
          <a:p>
            <a:pPr rtl="1" algn="ctr" indent="0" marL="0">
              <a:lnSpc>
                <a:spcPct val="130000"/>
              </a:lnSpc>
              <a:buNone/>
            </a:pPr>
            <a:r>
              <a:rPr lang="ar-IQ" altLang="en-US" sz="1800" b="1" dirty="0">
                <a:solidFill>
                  <a:schemeClr val="accent1"/>
                </a:solidFill>
              </a:rPr>
              <a:t>الأستاذ بليغ أبو الكلل المحترم</a:t>
            </a:r>
            <a:endParaRPr lang="ar-IQ" sz="1400" dirty="0"/>
          </a:p>
          <a:p>
            <a:pPr rtl="1" algn="ctr" indent="0" marL="0">
              <a:lnSpc>
                <a:spcPct val="130000"/>
              </a:lnSpc>
              <a:buNone/>
            </a:pPr>
            <a:r>
              <a:rPr lang="ar-IQ" altLang="en-US" sz="1600" dirty="0">
                <a:solidFill>
                  <a:srgbClr val="D5D9E6"/>
                </a:solidFill>
              </a:rPr>
              <a:t>نتقدّم بخالص الشكر والامتنان على رعايتكم الكريمة لمسيرة التحوّل الرقمي في الهيئة، وعلى ثقتكم التي فتحت الباب لأن تتحوّل الفكرة إلى منصة تعمل.</a:t>
            </a:r>
            <a:endParaRPr lang="ar-IQ" sz="1400" dirty="0"/>
          </a:p>
          <a:p>
            <a:pPr rtl="1" algn="ctr" indent="0" marL="0">
              <a:lnSpc>
                <a:spcPct val="130000"/>
              </a:lnSpc>
              <a:buNone/>
            </a:pPr>
            <a:r>
              <a:rPr lang="ar-IQ" altLang="en-US" sz="1000" dirty="0">
                <a:solidFill>
                  <a:schemeClr val="tx1"/>
                </a:solidFill>
              </a:rPr>
              <a:t> </a:t>
            </a:r>
            <a:endParaRPr lang="ar-IQ" sz="1400" dirty="0"/>
          </a:p>
          <a:p>
            <a:pPr rtl="1" algn="ctr" indent="0" marL="0">
              <a:lnSpc>
                <a:spcPct val="130000"/>
              </a:lnSpc>
              <a:buNone/>
            </a:pPr>
            <a:r>
              <a:rPr lang="ar-IQ" altLang="en-US" sz="2000" b="1" dirty="0">
                <a:solidFill>
                  <a:schemeClr val="bg1"/>
                </a:solidFill>
              </a:rPr>
              <a:t>وإلى القائمين على دورة الذكاء الاصطناعي</a:t>
            </a:r>
            <a:endParaRPr lang="ar-IQ" sz="1400" dirty="0"/>
          </a:p>
          <a:p>
            <a:pPr rtl="1" algn="ctr" indent="0" marL="0">
              <a:lnSpc>
                <a:spcPct val="130000"/>
              </a:lnSpc>
              <a:buNone/>
            </a:pPr>
            <a:r>
              <a:rPr lang="ar-IQ" altLang="en-US" sz="1600" dirty="0">
                <a:solidFill>
                  <a:srgbClr val="D5D9E6"/>
                </a:solidFill>
              </a:rPr>
              <a:t>شكراً لكم على علمٍ قدّمتموه بسخاء، وعلى توجيهٍ صادق جعلنا نرى في الذكاء الاصطناعي أداةً لخدمة العمل المؤسسي لا مجرد فكرة. هذه المنصة ثمرةٌ مما تعلّمناه معكم.</a:t>
            </a:r>
            <a:endParaRPr lang="ar-IQ" sz="1400" dirty="0"/>
          </a:p>
        </p:txBody>
      </p:sp>
      <p:sp>
        <p:nvSpPr>
          <p:cNvPr id="6" name="Text 3"/>
          <p:cNvSpPr txBox="1"/>
          <p:nvPr/>
        </p:nvSpPr>
        <p:spPr>
          <a:xfrm>
            <a:off x="502920" y="6080760"/>
            <a:ext cx="11185855" cy="365760"/>
          </a:xfrm>
          <a:prstGeom prst="rect">
            <a:avLst/>
          </a:prstGeom>
          <a:noFill/>
          <a:ln/>
        </p:spPr>
        <p:txBody>
          <a:bodyPr wrap="square" lIns="0" tIns="0" rIns="0" bIns="0" rtlCol="0" anchor="t"/>
          <a:lstStyle/>
          <a:p>
            <a:pPr rtl="1" algn="ctr" indent="0" marL="0">
              <a:buNone/>
            </a:pPr>
            <a:r>
              <a:rPr lang="ar-IQ" altLang="en-US" sz="1500" i="1" dirty="0">
                <a:solidFill>
                  <a:schemeClr val="accent3"/>
                </a:solidFill>
              </a:rPr>
              <a:t>والحمد لله أولاً وآخراً</a:t>
            </a:r>
            <a:endParaRPr lang="ar-IQ" sz="1500" dirty="0"/>
          </a:p>
        </p:txBody>
      </p:sp>
    </p:spTree>
  </p:cSld>
  <p:clrMapOvr>
    <a:masterClrMapping/>
  </p:clrMapOvr>
</p:sld>
</file>

<file path=ppt/theme/theme1.xml><?xml version="1.0" encoding="utf-8"?>
<a:theme xmlns:a="http://schemas.openxmlformats.org/drawingml/2006/main" name="CMC Violations">
  <a:themeElements>
    <a:clrScheme name="CMC Violations">
      <a:dk1>
        <a:srgbClr val="2A314D"/>
      </a:dk1>
      <a:lt1>
        <a:srgbClr val="FFFFFF"/>
      </a:lt1>
      <a:dk2>
        <a:srgbClr val="1F2438"/>
      </a:dk2>
      <a:lt2>
        <a:srgbClr val="F2F2F2"/>
      </a:lt2>
      <a:accent1>
        <a:srgbClr val="F47505"/>
      </a:accent1>
      <a:accent2>
        <a:srgbClr val="4A5068"/>
      </a:accent2>
      <a:accent3>
        <a:srgbClr val="D8DBE2"/>
      </a:accent3>
      <a:accent4>
        <a:srgbClr val="B4560A"/>
      </a:accent4>
      <a:accent5>
        <a:srgbClr val="5A6070"/>
      </a:accent5>
      <a:accent6>
        <a:srgbClr val="ECEAE3"/>
      </a:accent6>
      <a:hlink>
        <a:srgbClr val="2A314D"/>
      </a:hlink>
      <a:folHlink>
        <a:srgbClr val="5A6070"/>
      </a:folHlink>
    </a:clrScheme>
    <a:fontScheme name="CMC Violation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منصة إدارة المخالفات — عرض مختصر</dc:title>
  <dc:subject>PptxGenJS Presentation</dc:subject>
  <dc:creator>هيئة الإعلام والاتصالات</dc:creator>
  <cp:lastModifiedBy>هيئة الإعلام والاتصالات</cp:lastModifiedBy>
  <cp:revision>1</cp:revision>
  <dcterms:created xsi:type="dcterms:W3CDTF">2026-10-27T08:27:31Z</dcterms:created>
  <dcterms:modified xsi:type="dcterms:W3CDTF">2026-10-27T08:27:31Z</dcterms:modified>
</cp:coreProperties>
</file>