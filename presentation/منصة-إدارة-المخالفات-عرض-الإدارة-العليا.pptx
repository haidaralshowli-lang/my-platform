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تعريف بالمنصة" id="{ed87ebe1-7920-7e90-07e7-1c48bb761579}">
          <p14:sldIdLst>
            <p14:sldId id="256"/>
            <p14:sldId id="257"/>
            <p14:sldId id="258"/>
          </p14:sldIdLst>
        </p14:section>
        <p14:section name="كيف تعمل" id="{f8f025c1-e84b-c483-f14d-b413b04f0d3c}">
          <p14:sldIdLst>
            <p14:sldId id="259"/>
            <p14:sldId id="260"/>
            <p14:sldId id="261"/>
            <p14:sldId id="262"/>
          </p14:sldIdLst>
        </p14:section>
        <p14:section name="المنصة من الداخل" id="{b20119a6-60ab-107e-81fa-3e097e66a6f8}">
          <p14:sldIdLst>
            <p14:sldId id="263"/>
            <p14:sldId id="264"/>
            <p14:sldId id="265"/>
          </p14:sldIdLst>
        </p14:section>
        <p14:section name="الحوكمة والجاهزية" id="{299dd0b2-c64f-6fe7-538c-36dfec26a57e}">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نقدّم اليوم منصة إدارة المخالفات: نظام إلكتروني واحد يتابع المخالفة من لحظة رصدها حتى إغلاقها، ويحفظ أثر كل إجراء. المنصة مبنية ومنشورة ومختبرة، والمطلوب في نهاية العرض قرارات محددة للانتقال إلى التشغيل الفعلي.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صُممت حول أربعة أهداف: أن يكون لكل مخالفة ملف واحد كامل، وألا تفوت أي مدة قانونية، وأن يُعرف من فعل ماذا ومتى ولماذا، وأن ترى الإدارة الصورة كاملة في أي لحظة.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الأرقام من النظام نفسه لا تقديرات: 24 مرحلة يمر بها الملف، و9 أدوار، و53 صلاحية تُسند لكل موظف بحسب عمله. كل موظف يرى فقط ما يقع في نطاقه: مكتبه، أو محافظته، أو كل المحافظات للمستوى المركزي.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الصف الأول هو مسار المصادقات حتى وصول الإنذار إلى الجهة المخالفة. الصف الثاني يبدأ من الاستلام: تسري المدة، ثم إما استجابة أو اعتراض أو عدم استجابة يتحول بقرار إلى دعوى جزائية، ثم تحقق نهائي وإغلاق يعتمده شخص غير من طلبه. كل انتقال مشروط بصلاحية وبشروط مكتملة، ويُسجَّل في تاريخ الملف.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تسعة أدوار تطابق الهيكل الإداري، وتُسند الصلاحيات لكل موظف بحسب عمله، مع نطاق اطلاع: مكتب أو محافظة أو مركزي. أهم ما في هذه الشريحة فصل المهام: لا أحد يعتمد ما أعدّه بنفسه، ومدير النظام التقني لا يستطيع اتخاذ أي قرار رسمي.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لا تضع مدداً قانونية من عندها. الدائرة القانونية تُدخل القاعدة وسندها، والنظام يحسب من تاريخ الاستلام الفعلي المثبت بوصل. وإذا عُدّلت القاعدة لاحقاً فلا تتأثر المدد السابقة. تصحيح تاريخ الاستلام ممكن بصلاحية وسبب، ويُحفظ التاريخ القديم والجديد.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وصول الإنذار، إما أن تستجيب الجهة فيُتحقق من استجابتها بحسب نوعها، أو تعترض، أو لا تستجيب. عدم الاستجابة لا يتحول إلى دعوى تلقائياً: يحتاج إثباتاً واعتماداً. والإغلاق لا يتم مع حكم غير قطعي.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لقطة حقيقية من النسخة المنشورة بحساب رئيس الهيئة التجريبي. القائمة تعرض الرقم الرسمي والجهة والنوع والمحافظة والمرحلة والحالة، ويُفتح من كل سطر ملف المخالفة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نسخة الطباعة لإنذار تجريبي من النسخة المنشورة. النص يُثبَّت لحظة الإعداد من القالب المعتمد، فلا يتغير لاحقاً. التوقيع يبقى يدوياً كما هو معمول به، والنسخة الموقعة تُرفع إلى الملف.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التقارير تُستخرج من البيانات الفعلية لحظة الطلب، وضمن نطاق صلاحية من يطلبها، وتستبعد البيانات التجريبية. التقارير المالية وتقارير أداء الموظفين محصورة بمن يملك صلاحيتها.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سجل التدقيق هو أساس المساءلة: كل قيد مرتبط ببصمة القيد الذي قبله، فإذا عُدّل أي قيد أو حُذف ينكشف ذلك فوراً بزر التحقق. والحماية ليست في الواجهة فقط بل في قاعدة البيانات نفسها. اختُبرت استعادة نسخة احتياطية كاملة إلى قاعدة جديدة وتطابقت كل الجداول.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وظيفة أُضيفت مع اختباراتها. ونعرض بصراحة ما لم يُنجز بعد. بطء الصفحات سببه أن خوادم التطبيق في أمريكا وقاعدة البيانات في فرانكفورت، ويُعالَج بنقل الخوادم إلى فرانكفورت من إعدادات الاستضافة، أو بالاستضافة الداخلية.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جاهزة تقنياً، لكن المحتوى القانوني يجب أن يأتي من الهيئة: قواعد المدد وسندها، وقوالب الإنذار. النسخة الحالية عامة على الإنترنت للعرض، ولا يجوز إدخال بيانات حقيقية فيها قبل حذف البيانات التجريبية وتقييد الوصول.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نطلب اليوم أربعة قرارات. الأول هو الأهم لأنه يحدد مكان البيانات وسرعة المنصة. والثاني يضمن أن كل مدة وكل إنذار يستند إلى نص معتمد من الهيئة. والتجربة لمدة شهر في مكتب ذي قار تكشف الملاحظات العملية قبل التعميم. يمكن تجربة النسخة الحالية الآن بالحسابات التجريبية.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A314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0" y="6355080"/>
            <a:ext cx="7802575" cy="320040"/>
          </a:xfrm>
          <a:prstGeom prst="rect">
            <a:avLst/>
          </a:prstGeom>
          <a:noFill/>
          <a:ln/>
        </p:spPr>
        <p:txBody>
          <a:bodyPr wrap="square" lIns="0" tIns="0" rIns="0" bIns="0" rtlCol="0" anchor="ctr"/>
          <a:lstStyle/>
          <a:p>
            <a:pPr algn="r" indent="0" marL="0">
              <a:buNone/>
            </a:pPr>
            <a:r>
              <a:rPr lang="ar-IQ" altLang="en-US" sz="1100" dirty="0">
                <a:solidFill>
                  <a:schemeClr val="accent5"/>
                </a:solidFill>
              </a:rPr>
              <a:t>هيئة الإعلام والاتصالات — منصة إدارة المخالفات</a:t>
            </a:r>
            <a:endParaRPr lang="ar-IQ" sz="1100" dirty="0"/>
          </a:p>
        </p:txBody>
      </p:sp>
      <p:pic>
        <p:nvPicPr>
          <p:cNvPr id="3" name="Image 0" descr="/tmp/claude-0/-home-user-my-platform/8a9348b8-66ad-54f5-9996-cada56976f34/scratchpad/deck-assets/cmc-emblem.png">    </p:cNvPr>
          <p:cNvPicPr>
            <a:picLocks noChangeAspect="1"/>
          </p:cNvPicPr>
          <p:nvPr/>
        </p:nvPicPr>
        <p:blipFill>
          <a:blip r:embed="rId1"/>
          <a:stretch>
            <a:fillRect/>
          </a:stretch>
        </p:blipFill>
        <p:spPr>
          <a:xfrm>
            <a:off x="11231575" y="384048"/>
            <a:ext cx="411480" cy="411480"/>
          </a:xfrm>
          <a:prstGeom prst="rect">
            <a:avLst/>
          </a:prstGeom>
        </p:spPr>
      </p:pic>
      <p:sp>
        <p:nvSpPr>
          <p:cNvPr id="4" name="Text 1"/>
          <p:cNvSpPr/>
          <p:nvPr>
            <p:ph idx="102" type="title" hasCustomPrompt="1"/>
          </p:nvPr>
        </p:nvSpPr>
        <p:spPr>
          <a:xfrm>
            <a:off x="548640" y="320040"/>
            <a:ext cx="10545775" cy="594360"/>
          </a:xfrm>
          <a:prstGeom prst="rect">
            <a:avLst/>
          </a:prstGeom>
          <a:noFill/>
          <a:ln/>
        </p:spPr>
        <p:txBody>
          <a:bodyPr wrap="square" rtlCol="0"/>
          <a:lstStyle>
            <a:lvl1pPr rtl="1" algn="r" indent="0" marL="0">
              <a:buNone/>
              <a:defRPr lang="ar-IQ" altLang="en-US" sz="3000" b="1" dirty="0">
                <a:solidFill>
                  <a:schemeClr val="tx1"/>
                </a:solidFill>
              </a:defRPr>
            </a:lvl1pPr>
          </a:lstStyle>
          <a:p>
            <a:pPr algn="r" indent="0" marL="0">
              <a:buNone/>
            </a:pPr>
            <a:endParaRPr lang="ar-IQ" sz="3000" dirty="0"/>
          </a:p>
        </p:txBody>
      </p:sp>
      <p:sp>
        <p:nvSpPr>
          <p:cNvPr id="5" name="Text 1"/>
          <p:cNvSpPr/>
          <p:nvPr>
            <p:ph idx="103" type="body" hasCustomPrompt="1"/>
          </p:nvPr>
        </p:nvSpPr>
        <p:spPr>
          <a:xfrm>
            <a:off x="548640" y="914400"/>
            <a:ext cx="10545775" cy="320040"/>
          </a:xfrm>
          <a:prstGeom prst="rect">
            <a:avLst/>
          </a:prstGeom>
          <a:noFill/>
          <a:ln/>
        </p:spPr>
        <p:txBody>
          <a:bodyPr wrap="square" rtlCol="0"/>
          <a:lstStyle>
            <a:lvl1pPr rtl="1" algn="r" indent="0" marL="0">
              <a:buNone/>
              <a:defRPr lang="ar-IQ" altLang="en-US" sz="1300" dirty="0">
                <a:solidFill>
                  <a:schemeClr val="accent5"/>
                </a:solidFill>
              </a:defRPr>
            </a:lvl1pPr>
          </a:lstStyle>
          <a:p>
            <a:pPr algn="r" indent="0" marL="0">
              <a:buNone/>
            </a:pPr>
            <a:endParaRPr lang="ar-IQ" sz="13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A314D"/>
        </a:solidFill>
      </p:bgPr>
    </p:bg>
    <p:spTree>
      <p:nvGrpSpPr>
        <p:cNvPr id="1" name=""/>
        <p:cNvGrpSpPr/>
        <p:nvPr/>
      </p:nvGrpSpPr>
      <p:grpSpPr>
        <a:xfrm>
          <a:off x="0" y="0"/>
          <a:ext cx="0" cy="0"/>
          <a:chOff x="0" y="0"/>
          <a:chExt cx="0" cy="0"/>
        </a:xfrm>
      </p:grpSpPr>
      <p:sp>
        <p:nvSpPr>
          <p:cNvPr id="2" name="Text 0"/>
          <p:cNvSpPr/>
          <p:nvPr/>
        </p:nvSpPr>
        <p:spPr>
          <a:xfrm>
            <a:off x="3840480" y="6355080"/>
            <a:ext cx="7802575" cy="320040"/>
          </a:xfrm>
          <a:prstGeom prst="rect">
            <a:avLst/>
          </a:prstGeom>
          <a:noFill/>
          <a:ln/>
        </p:spPr>
        <p:txBody>
          <a:bodyPr wrap="square" lIns="0" tIns="0" rIns="0" bIns="0" rtlCol="0" anchor="ctr"/>
          <a:lstStyle/>
          <a:p>
            <a:pPr algn="r" indent="0" marL="0">
              <a:buNone/>
            </a:pPr>
            <a:r>
              <a:rPr lang="ar-IQ" altLang="en-US" sz="1100" dirty="0">
                <a:solidFill>
                  <a:schemeClr val="accent3"/>
                </a:solidFill>
              </a:rPr>
              <a:t>هيئة الإعلام والاتصالات — منصة إدارة المخالفات</a:t>
            </a:r>
            <a:endParaRPr lang="ar-IQ" sz="1100" dirty="0"/>
          </a:p>
        </p:txBody>
      </p:sp>
      <p:pic>
        <p:nvPicPr>
          <p:cNvPr id="3" name="Image 0" descr="/tmp/claude-0/-home-user-my-platform/8a9348b8-66ad-54f5-9996-cada56976f34/scratchpad/deck-assets/cmc-emblem.png">    </p:cNvPr>
          <p:cNvPicPr>
            <a:picLocks noChangeAspect="1"/>
          </p:cNvPicPr>
          <p:nvPr/>
        </p:nvPicPr>
        <p:blipFill>
          <a:blip r:embed="rId1"/>
          <a:stretch>
            <a:fillRect/>
          </a:stretch>
        </p:blipFill>
        <p:spPr>
          <a:xfrm>
            <a:off x="11231575" y="384048"/>
            <a:ext cx="411480" cy="411480"/>
          </a:xfrm>
          <a:prstGeom prst="rect">
            <a:avLst/>
          </a:prstGeom>
        </p:spPr>
      </p:pic>
      <p:sp>
        <p:nvSpPr>
          <p:cNvPr id="4" name="Text 1"/>
          <p:cNvSpPr/>
          <p:nvPr>
            <p:ph idx="102" type="title" hasCustomPrompt="1"/>
          </p:nvPr>
        </p:nvSpPr>
        <p:spPr>
          <a:xfrm>
            <a:off x="548640" y="320040"/>
            <a:ext cx="10545775" cy="594360"/>
          </a:xfrm>
          <a:prstGeom prst="rect">
            <a:avLst/>
          </a:prstGeom>
          <a:noFill/>
          <a:ln/>
        </p:spPr>
        <p:txBody>
          <a:bodyPr wrap="square" rtlCol="0"/>
          <a:lstStyle>
            <a:lvl1pPr rtl="1" algn="r" indent="0" marL="0">
              <a:buNone/>
              <a:defRPr lang="ar-IQ" altLang="en-US" sz="3000" b="1" dirty="0">
                <a:solidFill>
                  <a:schemeClr val="bg1"/>
                </a:solidFill>
              </a:defRPr>
            </a:lvl1pPr>
          </a:lstStyle>
          <a:p>
            <a:pPr algn="r" indent="0" marL="0">
              <a:buNone/>
            </a:pPr>
            <a:endParaRPr lang="ar-IQ" sz="3000" dirty="0"/>
          </a:p>
        </p:txBody>
      </p:sp>
      <p:sp>
        <p:nvSpPr>
          <p:cNvPr id="5" name="Text 1"/>
          <p:cNvSpPr/>
          <p:nvPr>
            <p:ph idx="103" type="body" hasCustomPrompt="1"/>
          </p:nvPr>
        </p:nvSpPr>
        <p:spPr>
          <a:xfrm>
            <a:off x="548640" y="914400"/>
            <a:ext cx="10545775" cy="320040"/>
          </a:xfrm>
          <a:prstGeom prst="rect">
            <a:avLst/>
          </a:prstGeom>
          <a:noFill/>
          <a:ln/>
        </p:spPr>
        <p:txBody>
          <a:bodyPr wrap="square" rtlCol="0"/>
          <a:lstStyle>
            <a:lvl1pPr rtl="1" algn="r" indent="0" marL="0">
              <a:buNone/>
              <a:defRPr lang="ar-IQ" altLang="en-US" sz="1300" dirty="0">
                <a:solidFill>
                  <a:schemeClr val="accent3"/>
                </a:solidFill>
              </a:defRPr>
            </a:lvl1pPr>
          </a:lstStyle>
          <a:p>
            <a:pPr algn="r" indent="0" marL="0">
              <a:buNone/>
            </a:pPr>
            <a:endParaRPr lang="ar-IQ" sz="13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D5D9E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my-platform-0l1t.netlify.app" TargetMode="Externa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disc"/>
          <p:cNvSpPr/>
          <p:nvPr/>
        </p:nvSpPr>
        <p:spPr>
          <a:xfrm>
            <a:off x="9814255" y="914400"/>
            <a:ext cx="1828800" cy="1828800"/>
          </a:xfrm>
          <a:prstGeom prst="ellipse">
            <a:avLst/>
          </a:prstGeom>
          <a:solidFill>
            <a:schemeClr val="bg1"/>
          </a:solidFill>
          <a:ln/>
        </p:spPr>
      </p:sp>
      <p:pic>
        <p:nvPicPr>
          <p:cNvPr id="3" name="logo" descr="شعار هيئة الإعلام والاتصالات">    </p:cNvPr>
          <p:cNvPicPr>
            <a:picLocks noChangeAspect="1"/>
          </p:cNvPicPr>
          <p:nvPr/>
        </p:nvPicPr>
        <p:blipFill>
          <a:blip r:embed="rId1"/>
          <a:stretch>
            <a:fillRect/>
          </a:stretch>
        </p:blipFill>
        <p:spPr>
          <a:xfrm>
            <a:off x="9878263" y="978408"/>
            <a:ext cx="1700784" cy="1700784"/>
          </a:xfrm>
          <a:prstGeom prst="rect">
            <a:avLst/>
          </a:prstGeom>
        </p:spPr>
      </p:pic>
      <p:pic>
        <p:nvPicPr>
          <p:cNvPr id="4" name="wordmark" descr="جمهورية العراق — هيئة الإعلام والاتصالات">    </p:cNvPr>
          <p:cNvPicPr>
            <a:picLocks noChangeAspect="1"/>
          </p:cNvPicPr>
          <p:nvPr/>
        </p:nvPicPr>
        <p:blipFill>
          <a:blip r:embed="rId2"/>
          <a:stretch>
            <a:fillRect/>
          </a:stretch>
        </p:blipFill>
        <p:spPr>
          <a:xfrm>
            <a:off x="4327855" y="960120"/>
            <a:ext cx="5120640" cy="1764792"/>
          </a:xfrm>
          <a:prstGeom prst="rect">
            <a:avLst/>
          </a:prstGeom>
        </p:spPr>
      </p:pic>
      <p:sp>
        <p:nvSpPr>
          <p:cNvPr id="5" name="Text 1"/>
          <p:cNvSpPr txBox="1"/>
          <p:nvPr/>
        </p:nvSpPr>
        <p:spPr>
          <a:xfrm>
            <a:off x="548640" y="3246120"/>
            <a:ext cx="11094415" cy="1005840"/>
          </a:xfrm>
          <a:prstGeom prst="rect">
            <a:avLst/>
          </a:prstGeom>
          <a:noFill/>
          <a:ln/>
        </p:spPr>
        <p:txBody>
          <a:bodyPr wrap="square" lIns="0" tIns="0" rIns="0" bIns="0" rtlCol="0" anchor="t"/>
          <a:lstStyle/>
          <a:p>
            <a:pPr rtl="1" algn="r" indent="0" marL="0">
              <a:buNone/>
            </a:pPr>
            <a:r>
              <a:rPr lang="ar-IQ" altLang="en-US" sz="5400" b="1" dirty="0">
                <a:solidFill>
                  <a:schemeClr val="bg1"/>
                </a:solidFill>
              </a:rPr>
              <a:t>منصة إدارة المخالفات</a:t>
            </a:r>
            <a:endParaRPr lang="ar-IQ" sz="5400" dirty="0"/>
          </a:p>
        </p:txBody>
      </p:sp>
      <p:sp>
        <p:nvSpPr>
          <p:cNvPr id="6" name="Text 2"/>
          <p:cNvSpPr txBox="1"/>
          <p:nvPr/>
        </p:nvSpPr>
        <p:spPr>
          <a:xfrm>
            <a:off x="548640" y="4343400"/>
            <a:ext cx="11094415" cy="548640"/>
          </a:xfrm>
          <a:prstGeom prst="rect">
            <a:avLst/>
          </a:prstGeom>
          <a:noFill/>
          <a:ln/>
        </p:spPr>
        <p:txBody>
          <a:bodyPr wrap="square" lIns="0" tIns="0" rIns="0" bIns="0" rtlCol="0" anchor="t"/>
          <a:lstStyle/>
          <a:p>
            <a:pPr rtl="1" algn="r" indent="0" marL="0">
              <a:buNone/>
            </a:pPr>
            <a:r>
              <a:rPr lang="ar-IQ" altLang="en-US" sz="2200" dirty="0">
                <a:solidFill>
                  <a:srgbClr val="D5D9E6"/>
                </a:solidFill>
              </a:rPr>
              <a:t>نظام موحّد لإدارة دورة المخالفة كاملة، من رصدها حتى إغلاقها الموثّق</a:t>
            </a:r>
            <a:endParaRPr lang="ar-IQ" sz="2200" dirty="0"/>
          </a:p>
        </p:txBody>
      </p:sp>
      <p:sp>
        <p:nvSpPr>
          <p:cNvPr id="7" name="Text 3"/>
          <p:cNvSpPr txBox="1"/>
          <p:nvPr/>
        </p:nvSpPr>
        <p:spPr>
          <a:xfrm>
            <a:off x="548640" y="6172200"/>
            <a:ext cx="11094415" cy="365760"/>
          </a:xfrm>
          <a:prstGeom prst="rect">
            <a:avLst/>
          </a:prstGeom>
          <a:noFill/>
          <a:ln/>
        </p:spPr>
        <p:txBody>
          <a:bodyPr wrap="square" lIns="0" tIns="0" rIns="0" bIns="0" rtlCol="0" anchor="t"/>
          <a:lstStyle/>
          <a:p>
            <a:pPr rtl="1" algn="r" indent="0" marL="0">
              <a:buNone/>
            </a:pPr>
            <a:r>
              <a:rPr lang="ar-IQ" altLang="en-US" sz="1400" dirty="0">
                <a:solidFill>
                  <a:srgbClr val="D5D9E6"/>
                </a:solidFill>
              </a:rPr>
              <a:t>عرض مقدَّم إلى الإدارة العليا — تشرين الأول 2026</a:t>
            </a:r>
            <a:endParaRPr lang="ar-IQ"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أربعة أهداف تحكم تصميم المنصة</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لماذا المنصة</a:t>
            </a:r>
            <a:endParaRPr lang="ar-IQ" sz="1300" dirty="0"/>
          </a:p>
        </p:txBody>
      </p:sp>
      <p:sp>
        <p:nvSpPr>
          <p:cNvPr id="4" name="goal-1"/>
          <p:cNvSpPr/>
          <p:nvPr/>
        </p:nvSpPr>
        <p:spPr>
          <a:xfrm>
            <a:off x="9075191" y="1600200"/>
            <a:ext cx="2567864" cy="4206240"/>
          </a:xfrm>
          <a:prstGeom prst="roundRect">
            <a:avLst>
              <a:gd name="adj" fmla="val 4273"/>
            </a:avLst>
          </a:prstGeom>
          <a:solidFill>
            <a:schemeClr val="bg2"/>
          </a:solidFill>
          <a:ln/>
        </p:spPr>
      </p:sp>
      <p:sp>
        <p:nvSpPr>
          <p:cNvPr id="5" name="goal-icon-1-circle"/>
          <p:cNvSpPr/>
          <p:nvPr/>
        </p:nvSpPr>
        <p:spPr>
          <a:xfrm>
            <a:off x="10682935" y="1920240"/>
            <a:ext cx="640080" cy="640080"/>
          </a:xfrm>
          <a:prstGeom prst="ellipse">
            <a:avLst/>
          </a:prstGeom>
          <a:solidFill>
            <a:schemeClr val="accent1"/>
          </a:solidFill>
          <a:ln/>
        </p:spPr>
      </p:sp>
      <p:pic>
        <p:nvPicPr>
          <p:cNvPr id="6" name="goal-icon-1" descr="preencoded.png">    </p:cNvPr>
          <p:cNvPicPr>
            <a:picLocks noChangeAspect="1"/>
          </p:cNvPicPr>
          <p:nvPr/>
        </p:nvPicPr>
        <p:blipFill>
          <a:blip r:embed="rId1"/>
          <a:stretch>
            <a:fillRect/>
          </a:stretch>
        </p:blipFill>
        <p:spPr>
          <a:xfrm>
            <a:off x="10823753" y="2061058"/>
            <a:ext cx="358445" cy="358445"/>
          </a:xfrm>
          <a:prstGeom prst="rect">
            <a:avLst/>
          </a:prstGeom>
        </p:spPr>
      </p:pic>
      <p:sp>
        <p:nvSpPr>
          <p:cNvPr id="7" name="Text 4"/>
          <p:cNvSpPr txBox="1"/>
          <p:nvPr/>
        </p:nvSpPr>
        <p:spPr>
          <a:xfrm>
            <a:off x="9349511" y="2788920"/>
            <a:ext cx="2019224" cy="822960"/>
          </a:xfrm>
          <a:prstGeom prst="rect">
            <a:avLst/>
          </a:prstGeom>
          <a:noFill/>
          <a:ln/>
        </p:spPr>
        <p:txBody>
          <a:bodyPr wrap="square" lIns="0" tIns="0" rIns="0" bIns="0" rtlCol="0" anchor="t"/>
          <a:lstStyle/>
          <a:p>
            <a:pPr rtl="1" algn="r" indent="0" marL="0">
              <a:buNone/>
            </a:pPr>
            <a:r>
              <a:rPr lang="ar-IQ" altLang="en-US" sz="2000" b="1" dirty="0">
                <a:solidFill>
                  <a:schemeClr val="tx1"/>
                </a:solidFill>
              </a:rPr>
              <a:t>ملف واحد لكل مخالفة</a:t>
            </a:r>
            <a:endParaRPr lang="ar-IQ" sz="2000" dirty="0"/>
          </a:p>
        </p:txBody>
      </p:sp>
      <p:sp>
        <p:nvSpPr>
          <p:cNvPr id="8" name="Text 5"/>
          <p:cNvSpPr txBox="1"/>
          <p:nvPr/>
        </p:nvSpPr>
        <p:spPr>
          <a:xfrm>
            <a:off x="9349511" y="3611880"/>
            <a:ext cx="2019224" cy="2011680"/>
          </a:xfrm>
          <a:prstGeom prst="rect">
            <a:avLst/>
          </a:prstGeom>
          <a:noFill/>
          <a:ln/>
        </p:spPr>
        <p:txBody>
          <a:bodyPr wrap="square" lIns="0" tIns="0" rIns="0" bIns="0" rtlCol="0" anchor="t"/>
          <a:lstStyle/>
          <a:p>
            <a:pPr rtl="1" algn="r" indent="0" marL="0">
              <a:lnSpc>
                <a:spcPct val="125000"/>
              </a:lnSpc>
              <a:buNone/>
            </a:pPr>
            <a:r>
              <a:rPr lang="ar-IQ" altLang="en-US" sz="1500" dirty="0">
                <a:solidFill>
                  <a:schemeClr val="accent2"/>
                </a:solidFill>
              </a:rPr>
              <a:t>المحضر والقرارات والإنذار والمراسلات والمستندات في مكان واحد، بدل تتبّعها بين الدوائر والأوراق.</a:t>
            </a:r>
            <a:endParaRPr lang="ar-IQ" sz="1500" dirty="0"/>
          </a:p>
        </p:txBody>
      </p:sp>
      <p:sp>
        <p:nvSpPr>
          <p:cNvPr id="9" name="goal-2"/>
          <p:cNvSpPr/>
          <p:nvPr/>
        </p:nvSpPr>
        <p:spPr>
          <a:xfrm>
            <a:off x="6233008" y="1600200"/>
            <a:ext cx="2567864" cy="4206240"/>
          </a:xfrm>
          <a:prstGeom prst="roundRect">
            <a:avLst>
              <a:gd name="adj" fmla="val 4273"/>
            </a:avLst>
          </a:prstGeom>
          <a:solidFill>
            <a:schemeClr val="bg2"/>
          </a:solidFill>
          <a:ln/>
        </p:spPr>
      </p:sp>
      <p:sp>
        <p:nvSpPr>
          <p:cNvPr id="10" name="goal-icon-2-circle"/>
          <p:cNvSpPr/>
          <p:nvPr/>
        </p:nvSpPr>
        <p:spPr>
          <a:xfrm>
            <a:off x="7840751" y="1920240"/>
            <a:ext cx="640080" cy="640080"/>
          </a:xfrm>
          <a:prstGeom prst="ellipse">
            <a:avLst/>
          </a:prstGeom>
          <a:solidFill>
            <a:schemeClr val="accent1"/>
          </a:solidFill>
          <a:ln/>
        </p:spPr>
      </p:sp>
      <p:pic>
        <p:nvPicPr>
          <p:cNvPr id="11" name="goal-icon-2" descr="preencoded.png">    </p:cNvPr>
          <p:cNvPicPr>
            <a:picLocks noChangeAspect="1"/>
          </p:cNvPicPr>
          <p:nvPr/>
        </p:nvPicPr>
        <p:blipFill>
          <a:blip r:embed="rId2"/>
          <a:stretch>
            <a:fillRect/>
          </a:stretch>
        </p:blipFill>
        <p:spPr>
          <a:xfrm>
            <a:off x="7981569" y="2061058"/>
            <a:ext cx="358445" cy="358445"/>
          </a:xfrm>
          <a:prstGeom prst="rect">
            <a:avLst/>
          </a:prstGeom>
        </p:spPr>
      </p:pic>
      <p:sp>
        <p:nvSpPr>
          <p:cNvPr id="12" name="Text 8"/>
          <p:cNvSpPr txBox="1"/>
          <p:nvPr/>
        </p:nvSpPr>
        <p:spPr>
          <a:xfrm>
            <a:off x="6507328" y="2788920"/>
            <a:ext cx="2019224" cy="822960"/>
          </a:xfrm>
          <a:prstGeom prst="rect">
            <a:avLst/>
          </a:prstGeom>
          <a:noFill/>
          <a:ln/>
        </p:spPr>
        <p:txBody>
          <a:bodyPr wrap="square" lIns="0" tIns="0" rIns="0" bIns="0" rtlCol="0" anchor="t"/>
          <a:lstStyle/>
          <a:p>
            <a:pPr rtl="1" algn="r" indent="0" marL="0">
              <a:buNone/>
            </a:pPr>
            <a:r>
              <a:rPr lang="ar-IQ" altLang="en-US" sz="2000" b="1" dirty="0">
                <a:solidFill>
                  <a:schemeClr val="tx1"/>
                </a:solidFill>
              </a:rPr>
              <a:t>مدد قانونية لا تفوت</a:t>
            </a:r>
            <a:endParaRPr lang="ar-IQ" sz="2000" dirty="0"/>
          </a:p>
        </p:txBody>
      </p:sp>
      <p:sp>
        <p:nvSpPr>
          <p:cNvPr id="13" name="Text 9"/>
          <p:cNvSpPr txBox="1"/>
          <p:nvPr/>
        </p:nvSpPr>
        <p:spPr>
          <a:xfrm>
            <a:off x="6507328" y="3611880"/>
            <a:ext cx="2019224" cy="2011680"/>
          </a:xfrm>
          <a:prstGeom prst="rect">
            <a:avLst/>
          </a:prstGeom>
          <a:noFill/>
          <a:ln/>
        </p:spPr>
        <p:txBody>
          <a:bodyPr wrap="square" lIns="0" tIns="0" rIns="0" bIns="0" rtlCol="0" anchor="t"/>
          <a:lstStyle/>
          <a:p>
            <a:pPr rtl="1" algn="r" indent="0" marL="0">
              <a:lnSpc>
                <a:spcPct val="125000"/>
              </a:lnSpc>
              <a:buNone/>
            </a:pPr>
            <a:r>
              <a:rPr lang="ar-IQ" altLang="en-US" sz="1500" dirty="0">
                <a:solidFill>
                  <a:schemeClr val="accent2"/>
                </a:solidFill>
              </a:rPr>
              <a:t>تُحتسب من تاريخ الاستلام الفعلي وفق قاعدة معتمدة، مع تنبيه قبل الانتهاء وعنده.</a:t>
            </a:r>
            <a:endParaRPr lang="ar-IQ" sz="1500" dirty="0"/>
          </a:p>
        </p:txBody>
      </p:sp>
      <p:sp>
        <p:nvSpPr>
          <p:cNvPr id="14" name="goal-3"/>
          <p:cNvSpPr/>
          <p:nvPr/>
        </p:nvSpPr>
        <p:spPr>
          <a:xfrm>
            <a:off x="3390824" y="1600200"/>
            <a:ext cx="2567864" cy="4206240"/>
          </a:xfrm>
          <a:prstGeom prst="roundRect">
            <a:avLst>
              <a:gd name="adj" fmla="val 4273"/>
            </a:avLst>
          </a:prstGeom>
          <a:solidFill>
            <a:schemeClr val="bg2"/>
          </a:solidFill>
          <a:ln/>
        </p:spPr>
      </p:sp>
      <p:sp>
        <p:nvSpPr>
          <p:cNvPr id="15" name="goal-icon-3-circle"/>
          <p:cNvSpPr/>
          <p:nvPr/>
        </p:nvSpPr>
        <p:spPr>
          <a:xfrm>
            <a:off x="4998568" y="1920240"/>
            <a:ext cx="640080" cy="640080"/>
          </a:xfrm>
          <a:prstGeom prst="ellipse">
            <a:avLst/>
          </a:prstGeom>
          <a:solidFill>
            <a:schemeClr val="accent1"/>
          </a:solidFill>
          <a:ln/>
        </p:spPr>
      </p:sp>
      <p:pic>
        <p:nvPicPr>
          <p:cNvPr id="16" name="goal-icon-3" descr="preencoded.png">    </p:cNvPr>
          <p:cNvPicPr>
            <a:picLocks noChangeAspect="1"/>
          </p:cNvPicPr>
          <p:nvPr/>
        </p:nvPicPr>
        <p:blipFill>
          <a:blip r:embed="rId3"/>
          <a:stretch>
            <a:fillRect/>
          </a:stretch>
        </p:blipFill>
        <p:spPr>
          <a:xfrm>
            <a:off x="5139385" y="2061058"/>
            <a:ext cx="358445" cy="358445"/>
          </a:xfrm>
          <a:prstGeom prst="rect">
            <a:avLst/>
          </a:prstGeom>
        </p:spPr>
      </p:pic>
      <p:sp>
        <p:nvSpPr>
          <p:cNvPr id="17" name="Text 12"/>
          <p:cNvSpPr txBox="1"/>
          <p:nvPr/>
        </p:nvSpPr>
        <p:spPr>
          <a:xfrm>
            <a:off x="3665144" y="2788920"/>
            <a:ext cx="2019224" cy="822960"/>
          </a:xfrm>
          <a:prstGeom prst="rect">
            <a:avLst/>
          </a:prstGeom>
          <a:noFill/>
          <a:ln/>
        </p:spPr>
        <p:txBody>
          <a:bodyPr wrap="square" lIns="0" tIns="0" rIns="0" bIns="0" rtlCol="0" anchor="t"/>
          <a:lstStyle/>
          <a:p>
            <a:pPr rtl="1" algn="r" indent="0" marL="0">
              <a:buNone/>
            </a:pPr>
            <a:r>
              <a:rPr lang="ar-IQ" altLang="en-US" sz="2000" b="1" dirty="0">
                <a:solidFill>
                  <a:schemeClr val="tx1"/>
                </a:solidFill>
              </a:rPr>
              <a:t>مساءلة كاملة</a:t>
            </a:r>
            <a:endParaRPr lang="ar-IQ" sz="2000" dirty="0"/>
          </a:p>
        </p:txBody>
      </p:sp>
      <p:sp>
        <p:nvSpPr>
          <p:cNvPr id="18" name="Text 13"/>
          <p:cNvSpPr txBox="1"/>
          <p:nvPr/>
        </p:nvSpPr>
        <p:spPr>
          <a:xfrm>
            <a:off x="3665144" y="3611880"/>
            <a:ext cx="2019224" cy="2011680"/>
          </a:xfrm>
          <a:prstGeom prst="rect">
            <a:avLst/>
          </a:prstGeom>
          <a:noFill/>
          <a:ln/>
        </p:spPr>
        <p:txBody>
          <a:bodyPr wrap="square" lIns="0" tIns="0" rIns="0" bIns="0" rtlCol="0" anchor="t"/>
          <a:lstStyle/>
          <a:p>
            <a:pPr rtl="1" algn="r" indent="0" marL="0">
              <a:lnSpc>
                <a:spcPct val="125000"/>
              </a:lnSpc>
              <a:buNone/>
            </a:pPr>
            <a:r>
              <a:rPr lang="ar-IQ" altLang="en-US" sz="1500" dirty="0">
                <a:solidFill>
                  <a:schemeClr val="accent2"/>
                </a:solidFill>
              </a:rPr>
              <a:t>كل إجراء مسجَّل باسم منفّذه ووقته وسببه، في سجل تدقيق لا يُعدَّل ولا يُحذف.</a:t>
            </a:r>
            <a:endParaRPr lang="ar-IQ" sz="1500" dirty="0"/>
          </a:p>
        </p:txBody>
      </p:sp>
      <p:sp>
        <p:nvSpPr>
          <p:cNvPr id="19" name="goal-4"/>
          <p:cNvSpPr/>
          <p:nvPr/>
        </p:nvSpPr>
        <p:spPr>
          <a:xfrm>
            <a:off x="548640" y="1600200"/>
            <a:ext cx="2567864" cy="4206240"/>
          </a:xfrm>
          <a:prstGeom prst="roundRect">
            <a:avLst>
              <a:gd name="adj" fmla="val 4273"/>
            </a:avLst>
          </a:prstGeom>
          <a:solidFill>
            <a:schemeClr val="bg2"/>
          </a:solidFill>
          <a:ln/>
        </p:spPr>
      </p:sp>
      <p:sp>
        <p:nvSpPr>
          <p:cNvPr id="20" name="goal-icon-4-circle"/>
          <p:cNvSpPr/>
          <p:nvPr/>
        </p:nvSpPr>
        <p:spPr>
          <a:xfrm>
            <a:off x="2156384" y="1920240"/>
            <a:ext cx="640080" cy="640080"/>
          </a:xfrm>
          <a:prstGeom prst="ellipse">
            <a:avLst/>
          </a:prstGeom>
          <a:solidFill>
            <a:schemeClr val="accent1"/>
          </a:solidFill>
          <a:ln/>
        </p:spPr>
      </p:sp>
      <p:pic>
        <p:nvPicPr>
          <p:cNvPr id="21" name="goal-icon-4" descr="preencoded.png">    </p:cNvPr>
          <p:cNvPicPr>
            <a:picLocks noChangeAspect="1"/>
          </p:cNvPicPr>
          <p:nvPr/>
        </p:nvPicPr>
        <p:blipFill>
          <a:blip r:embed="rId4"/>
          <a:stretch>
            <a:fillRect/>
          </a:stretch>
        </p:blipFill>
        <p:spPr>
          <a:xfrm>
            <a:off x="2297201" y="2061058"/>
            <a:ext cx="358445" cy="358445"/>
          </a:xfrm>
          <a:prstGeom prst="rect">
            <a:avLst/>
          </a:prstGeom>
        </p:spPr>
      </p:pic>
      <p:sp>
        <p:nvSpPr>
          <p:cNvPr id="22" name="Text 16"/>
          <p:cNvSpPr txBox="1"/>
          <p:nvPr/>
        </p:nvSpPr>
        <p:spPr>
          <a:xfrm>
            <a:off x="822960" y="2788920"/>
            <a:ext cx="2019224" cy="822960"/>
          </a:xfrm>
          <a:prstGeom prst="rect">
            <a:avLst/>
          </a:prstGeom>
          <a:noFill/>
          <a:ln/>
        </p:spPr>
        <p:txBody>
          <a:bodyPr wrap="square" lIns="0" tIns="0" rIns="0" bIns="0" rtlCol="0" anchor="t"/>
          <a:lstStyle/>
          <a:p>
            <a:pPr rtl="1" algn="r" indent="0" marL="0">
              <a:buNone/>
            </a:pPr>
            <a:r>
              <a:rPr lang="ar-IQ" altLang="en-US" sz="2000" b="1" dirty="0">
                <a:solidFill>
                  <a:schemeClr val="tx1"/>
                </a:solidFill>
              </a:rPr>
              <a:t>رؤية فورية للإدارة</a:t>
            </a:r>
            <a:endParaRPr lang="ar-IQ" sz="2000" dirty="0"/>
          </a:p>
        </p:txBody>
      </p:sp>
      <p:sp>
        <p:nvSpPr>
          <p:cNvPr id="23" name="Text 17"/>
          <p:cNvSpPr txBox="1"/>
          <p:nvPr/>
        </p:nvSpPr>
        <p:spPr>
          <a:xfrm>
            <a:off x="822960" y="3611880"/>
            <a:ext cx="2019224" cy="2011680"/>
          </a:xfrm>
          <a:prstGeom prst="rect">
            <a:avLst/>
          </a:prstGeom>
          <a:noFill/>
          <a:ln/>
        </p:spPr>
        <p:txBody>
          <a:bodyPr wrap="square" lIns="0" tIns="0" rIns="0" bIns="0" rtlCol="0" anchor="t"/>
          <a:lstStyle/>
          <a:p>
            <a:pPr rtl="1" algn="r" indent="0" marL="0">
              <a:lnSpc>
                <a:spcPct val="125000"/>
              </a:lnSpc>
              <a:buNone/>
            </a:pPr>
            <a:r>
              <a:rPr lang="ar-IQ" altLang="en-US" sz="1500" dirty="0">
                <a:solidFill>
                  <a:schemeClr val="accent2"/>
                </a:solidFill>
              </a:rPr>
              <a:t>لوحة معلومات وعشرون تقريراً بحسب المحافظة والنوع والمرحلة والفترة.</a:t>
            </a:r>
            <a:endParaRPr lang="ar-IQ"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bg1"/>
                </a:solidFill>
              </a:rPr>
              <a:t>نطاق يغطي عمل الهيئة كاملاً</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3"/>
                </a:solidFill>
              </a:rPr>
              <a:t>المنصة بالأرقام</a:t>
            </a:r>
            <a:endParaRPr lang="ar-IQ" sz="1300" dirty="0"/>
          </a:p>
        </p:txBody>
      </p:sp>
      <p:sp>
        <p:nvSpPr>
          <p:cNvPr id="4" name="stat-1"/>
          <p:cNvSpPr/>
          <p:nvPr/>
        </p:nvSpPr>
        <p:spPr>
          <a:xfrm>
            <a:off x="8158277" y="1600200"/>
            <a:ext cx="3484778" cy="1965960"/>
          </a:xfrm>
          <a:prstGeom prst="roundRect">
            <a:avLst>
              <a:gd name="adj" fmla="val 5581"/>
            </a:avLst>
          </a:prstGeom>
          <a:solidFill>
            <a:schemeClr val="tx2"/>
          </a:solidFill>
          <a:ln/>
        </p:spPr>
      </p:sp>
      <p:sp>
        <p:nvSpPr>
          <p:cNvPr id="5" name="Text 3"/>
          <p:cNvSpPr txBox="1"/>
          <p:nvPr/>
        </p:nvSpPr>
        <p:spPr>
          <a:xfrm>
            <a:off x="8478317" y="1783080"/>
            <a:ext cx="2844698" cy="1005840"/>
          </a:xfrm>
          <a:prstGeom prst="rect">
            <a:avLst/>
          </a:prstGeom>
          <a:noFill/>
          <a:ln/>
        </p:spPr>
        <p:txBody>
          <a:bodyPr wrap="square" lIns="0" tIns="0" rIns="0" bIns="0" rtlCol="0" anchor="ctr"/>
          <a:lstStyle/>
          <a:p>
            <a:pPr rtl="1" algn="r" indent="0" marL="0">
              <a:buNone/>
            </a:pPr>
            <a:r>
              <a:rPr lang="ar-IQ" altLang="en-US" sz="6000" b="1" dirty="0">
                <a:solidFill>
                  <a:schemeClr val="accent1"/>
                </a:solidFill>
              </a:rPr>
              <a:t>24</a:t>
            </a:r>
            <a:endParaRPr lang="ar-IQ" sz="6000" dirty="0"/>
          </a:p>
        </p:txBody>
      </p:sp>
      <p:sp>
        <p:nvSpPr>
          <p:cNvPr id="6" name="Text 4"/>
          <p:cNvSpPr txBox="1"/>
          <p:nvPr/>
        </p:nvSpPr>
        <p:spPr>
          <a:xfrm>
            <a:off x="8478317" y="2834640"/>
            <a:ext cx="2844698" cy="548640"/>
          </a:xfrm>
          <a:prstGeom prst="rect">
            <a:avLst/>
          </a:prstGeom>
          <a:noFill/>
          <a:ln/>
        </p:spPr>
        <p:txBody>
          <a:bodyPr wrap="square" lIns="0" tIns="0" rIns="0" bIns="0" rtlCol="0" anchor="t"/>
          <a:lstStyle/>
          <a:p>
            <a:pPr rtl="1" algn="r" indent="0" marL="0">
              <a:buNone/>
            </a:pPr>
            <a:r>
              <a:rPr lang="ar-IQ" altLang="en-US" sz="1700" dirty="0">
                <a:solidFill>
                  <a:schemeClr val="bg1"/>
                </a:solidFill>
              </a:rPr>
              <a:t>مرحلة إجرائية مضبوطة</a:t>
            </a:r>
            <a:endParaRPr lang="ar-IQ" sz="1700" dirty="0"/>
          </a:p>
        </p:txBody>
      </p:sp>
      <p:sp>
        <p:nvSpPr>
          <p:cNvPr id="7" name="stat-2"/>
          <p:cNvSpPr/>
          <p:nvPr/>
        </p:nvSpPr>
        <p:spPr>
          <a:xfrm>
            <a:off x="4353458" y="1600200"/>
            <a:ext cx="3484778" cy="1965960"/>
          </a:xfrm>
          <a:prstGeom prst="roundRect">
            <a:avLst>
              <a:gd name="adj" fmla="val 5581"/>
            </a:avLst>
          </a:prstGeom>
          <a:solidFill>
            <a:schemeClr val="tx2"/>
          </a:solidFill>
          <a:ln/>
        </p:spPr>
      </p:sp>
      <p:sp>
        <p:nvSpPr>
          <p:cNvPr id="8" name="Text 6"/>
          <p:cNvSpPr txBox="1"/>
          <p:nvPr/>
        </p:nvSpPr>
        <p:spPr>
          <a:xfrm>
            <a:off x="4673498" y="1783080"/>
            <a:ext cx="2844698" cy="1005840"/>
          </a:xfrm>
          <a:prstGeom prst="rect">
            <a:avLst/>
          </a:prstGeom>
          <a:noFill/>
          <a:ln/>
        </p:spPr>
        <p:txBody>
          <a:bodyPr wrap="square" lIns="0" tIns="0" rIns="0" bIns="0" rtlCol="0" anchor="ctr"/>
          <a:lstStyle/>
          <a:p>
            <a:pPr rtl="1" algn="r" indent="0" marL="0">
              <a:buNone/>
            </a:pPr>
            <a:r>
              <a:rPr lang="ar-IQ" altLang="en-US" sz="6000" b="1" dirty="0">
                <a:solidFill>
                  <a:schemeClr val="accent1"/>
                </a:solidFill>
              </a:rPr>
              <a:t>9</a:t>
            </a:r>
            <a:endParaRPr lang="ar-IQ" sz="6000" dirty="0"/>
          </a:p>
        </p:txBody>
      </p:sp>
      <p:sp>
        <p:nvSpPr>
          <p:cNvPr id="9" name="Text 7"/>
          <p:cNvSpPr txBox="1"/>
          <p:nvPr/>
        </p:nvSpPr>
        <p:spPr>
          <a:xfrm>
            <a:off x="4673498" y="2834640"/>
            <a:ext cx="2844698" cy="548640"/>
          </a:xfrm>
          <a:prstGeom prst="rect">
            <a:avLst/>
          </a:prstGeom>
          <a:noFill/>
          <a:ln/>
        </p:spPr>
        <p:txBody>
          <a:bodyPr wrap="square" lIns="0" tIns="0" rIns="0" bIns="0" rtlCol="0" anchor="t"/>
          <a:lstStyle/>
          <a:p>
            <a:pPr rtl="1" algn="r" indent="0" marL="0">
              <a:buNone/>
            </a:pPr>
            <a:r>
              <a:rPr lang="ar-IQ" altLang="en-US" sz="1700" dirty="0">
                <a:solidFill>
                  <a:schemeClr val="bg1"/>
                </a:solidFill>
              </a:rPr>
              <a:t>أدوار وظيفية</a:t>
            </a:r>
            <a:endParaRPr lang="ar-IQ" sz="1700" dirty="0"/>
          </a:p>
        </p:txBody>
      </p:sp>
      <p:sp>
        <p:nvSpPr>
          <p:cNvPr id="10" name="stat-3"/>
          <p:cNvSpPr/>
          <p:nvPr/>
        </p:nvSpPr>
        <p:spPr>
          <a:xfrm>
            <a:off x="548640" y="1600200"/>
            <a:ext cx="3484778" cy="1965960"/>
          </a:xfrm>
          <a:prstGeom prst="roundRect">
            <a:avLst>
              <a:gd name="adj" fmla="val 5581"/>
            </a:avLst>
          </a:prstGeom>
          <a:solidFill>
            <a:schemeClr val="tx2"/>
          </a:solidFill>
          <a:ln/>
        </p:spPr>
      </p:sp>
      <p:sp>
        <p:nvSpPr>
          <p:cNvPr id="11" name="Text 9"/>
          <p:cNvSpPr txBox="1"/>
          <p:nvPr/>
        </p:nvSpPr>
        <p:spPr>
          <a:xfrm>
            <a:off x="868680" y="1783080"/>
            <a:ext cx="2844698" cy="1005840"/>
          </a:xfrm>
          <a:prstGeom prst="rect">
            <a:avLst/>
          </a:prstGeom>
          <a:noFill/>
          <a:ln/>
        </p:spPr>
        <p:txBody>
          <a:bodyPr wrap="square" lIns="0" tIns="0" rIns="0" bIns="0" rtlCol="0" anchor="ctr"/>
          <a:lstStyle/>
          <a:p>
            <a:pPr rtl="1" algn="r" indent="0" marL="0">
              <a:buNone/>
            </a:pPr>
            <a:r>
              <a:rPr lang="ar-IQ" altLang="en-US" sz="6000" b="1" dirty="0">
                <a:solidFill>
                  <a:schemeClr val="accent1"/>
                </a:solidFill>
              </a:rPr>
              <a:t>53</a:t>
            </a:r>
            <a:endParaRPr lang="ar-IQ" sz="6000" dirty="0"/>
          </a:p>
        </p:txBody>
      </p:sp>
      <p:sp>
        <p:nvSpPr>
          <p:cNvPr id="12" name="Text 10"/>
          <p:cNvSpPr txBox="1"/>
          <p:nvPr/>
        </p:nvSpPr>
        <p:spPr>
          <a:xfrm>
            <a:off x="868680" y="2834640"/>
            <a:ext cx="2844698" cy="548640"/>
          </a:xfrm>
          <a:prstGeom prst="rect">
            <a:avLst/>
          </a:prstGeom>
          <a:noFill/>
          <a:ln/>
        </p:spPr>
        <p:txBody>
          <a:bodyPr wrap="square" lIns="0" tIns="0" rIns="0" bIns="0" rtlCol="0" anchor="t"/>
          <a:lstStyle/>
          <a:p>
            <a:pPr rtl="1" algn="r" indent="0" marL="0">
              <a:buNone/>
            </a:pPr>
            <a:r>
              <a:rPr lang="ar-IQ" altLang="en-US" sz="1700" dirty="0">
                <a:solidFill>
                  <a:schemeClr val="bg1"/>
                </a:solidFill>
              </a:rPr>
              <a:t>صلاحية دقيقة قابلة للإسناد</a:t>
            </a:r>
            <a:endParaRPr lang="ar-IQ" sz="1700" dirty="0"/>
          </a:p>
        </p:txBody>
      </p:sp>
      <p:sp>
        <p:nvSpPr>
          <p:cNvPr id="13" name="stat-4"/>
          <p:cNvSpPr/>
          <p:nvPr/>
        </p:nvSpPr>
        <p:spPr>
          <a:xfrm>
            <a:off x="8158277" y="3886200"/>
            <a:ext cx="3484778" cy="1965960"/>
          </a:xfrm>
          <a:prstGeom prst="roundRect">
            <a:avLst>
              <a:gd name="adj" fmla="val 5581"/>
            </a:avLst>
          </a:prstGeom>
          <a:solidFill>
            <a:schemeClr val="tx2"/>
          </a:solidFill>
          <a:ln/>
        </p:spPr>
      </p:sp>
      <p:sp>
        <p:nvSpPr>
          <p:cNvPr id="14" name="Text 12"/>
          <p:cNvSpPr txBox="1"/>
          <p:nvPr/>
        </p:nvSpPr>
        <p:spPr>
          <a:xfrm>
            <a:off x="8478317" y="4069080"/>
            <a:ext cx="2844698" cy="1005840"/>
          </a:xfrm>
          <a:prstGeom prst="rect">
            <a:avLst/>
          </a:prstGeom>
          <a:noFill/>
          <a:ln/>
        </p:spPr>
        <p:txBody>
          <a:bodyPr wrap="square" lIns="0" tIns="0" rIns="0" bIns="0" rtlCol="0" anchor="ctr"/>
          <a:lstStyle/>
          <a:p>
            <a:pPr rtl="1" algn="r" indent="0" marL="0">
              <a:buNone/>
            </a:pPr>
            <a:r>
              <a:rPr lang="ar-IQ" altLang="en-US" sz="6000" b="1" dirty="0">
                <a:solidFill>
                  <a:schemeClr val="accent1"/>
                </a:solidFill>
              </a:rPr>
              <a:t>20</a:t>
            </a:r>
            <a:endParaRPr lang="ar-IQ" sz="6000" dirty="0"/>
          </a:p>
        </p:txBody>
      </p:sp>
      <p:sp>
        <p:nvSpPr>
          <p:cNvPr id="15" name="Text 13"/>
          <p:cNvSpPr txBox="1"/>
          <p:nvPr/>
        </p:nvSpPr>
        <p:spPr>
          <a:xfrm>
            <a:off x="8478317" y="5120640"/>
            <a:ext cx="2844698" cy="548640"/>
          </a:xfrm>
          <a:prstGeom prst="rect">
            <a:avLst/>
          </a:prstGeom>
          <a:noFill/>
          <a:ln/>
        </p:spPr>
        <p:txBody>
          <a:bodyPr wrap="square" lIns="0" tIns="0" rIns="0" bIns="0" rtlCol="0" anchor="t"/>
          <a:lstStyle/>
          <a:p>
            <a:pPr rtl="1" algn="r" indent="0" marL="0">
              <a:buNone/>
            </a:pPr>
            <a:r>
              <a:rPr lang="ar-IQ" altLang="en-US" sz="1700" dirty="0">
                <a:solidFill>
                  <a:schemeClr val="bg1"/>
                </a:solidFill>
              </a:rPr>
              <a:t>تقريراً بتصدير Excel وWord وPDF</a:t>
            </a:r>
            <a:endParaRPr lang="ar-IQ" sz="1700" dirty="0"/>
          </a:p>
        </p:txBody>
      </p:sp>
      <p:sp>
        <p:nvSpPr>
          <p:cNvPr id="16" name="stat-5"/>
          <p:cNvSpPr/>
          <p:nvPr/>
        </p:nvSpPr>
        <p:spPr>
          <a:xfrm>
            <a:off x="4353458" y="3886200"/>
            <a:ext cx="3484778" cy="1965960"/>
          </a:xfrm>
          <a:prstGeom prst="roundRect">
            <a:avLst>
              <a:gd name="adj" fmla="val 5581"/>
            </a:avLst>
          </a:prstGeom>
          <a:solidFill>
            <a:schemeClr val="tx2"/>
          </a:solidFill>
          <a:ln/>
        </p:spPr>
      </p:sp>
      <p:sp>
        <p:nvSpPr>
          <p:cNvPr id="17" name="Text 15"/>
          <p:cNvSpPr txBox="1"/>
          <p:nvPr/>
        </p:nvSpPr>
        <p:spPr>
          <a:xfrm>
            <a:off x="4673498" y="4069080"/>
            <a:ext cx="2844698" cy="1005840"/>
          </a:xfrm>
          <a:prstGeom prst="rect">
            <a:avLst/>
          </a:prstGeom>
          <a:noFill/>
          <a:ln/>
        </p:spPr>
        <p:txBody>
          <a:bodyPr wrap="square" lIns="0" tIns="0" rIns="0" bIns="0" rtlCol="0" anchor="ctr"/>
          <a:lstStyle/>
          <a:p>
            <a:pPr rtl="1" algn="r" indent="0" marL="0">
              <a:buNone/>
            </a:pPr>
            <a:r>
              <a:rPr lang="ar-IQ" altLang="en-US" sz="6000" b="1" dirty="0">
                <a:solidFill>
                  <a:schemeClr val="accent1"/>
                </a:solidFill>
              </a:rPr>
              <a:t>19</a:t>
            </a:r>
            <a:endParaRPr lang="ar-IQ" sz="6000" dirty="0"/>
          </a:p>
        </p:txBody>
      </p:sp>
      <p:sp>
        <p:nvSpPr>
          <p:cNvPr id="18" name="Text 16"/>
          <p:cNvSpPr txBox="1"/>
          <p:nvPr/>
        </p:nvSpPr>
        <p:spPr>
          <a:xfrm>
            <a:off x="4673498" y="5120640"/>
            <a:ext cx="2844698" cy="548640"/>
          </a:xfrm>
          <a:prstGeom prst="rect">
            <a:avLst/>
          </a:prstGeom>
          <a:noFill/>
          <a:ln/>
        </p:spPr>
        <p:txBody>
          <a:bodyPr wrap="square" lIns="0" tIns="0" rIns="0" bIns="0" rtlCol="0" anchor="t"/>
          <a:lstStyle/>
          <a:p>
            <a:pPr rtl="1" algn="r" indent="0" marL="0">
              <a:buNone/>
            </a:pPr>
            <a:r>
              <a:rPr lang="ar-IQ" altLang="en-US" sz="1700" dirty="0">
                <a:solidFill>
                  <a:schemeClr val="bg1"/>
                </a:solidFill>
              </a:rPr>
              <a:t>محافظة مع مكاتبها</a:t>
            </a:r>
            <a:endParaRPr lang="ar-IQ" sz="1700" dirty="0"/>
          </a:p>
        </p:txBody>
      </p:sp>
      <p:sp>
        <p:nvSpPr>
          <p:cNvPr id="19" name="stat-6"/>
          <p:cNvSpPr/>
          <p:nvPr/>
        </p:nvSpPr>
        <p:spPr>
          <a:xfrm>
            <a:off x="548640" y="3886200"/>
            <a:ext cx="3484778" cy="1965960"/>
          </a:xfrm>
          <a:prstGeom prst="roundRect">
            <a:avLst>
              <a:gd name="adj" fmla="val 5581"/>
            </a:avLst>
          </a:prstGeom>
          <a:solidFill>
            <a:schemeClr val="tx2"/>
          </a:solidFill>
          <a:ln/>
        </p:spPr>
      </p:sp>
      <p:sp>
        <p:nvSpPr>
          <p:cNvPr id="20" name="Text 18"/>
          <p:cNvSpPr txBox="1"/>
          <p:nvPr/>
        </p:nvSpPr>
        <p:spPr>
          <a:xfrm>
            <a:off x="868680" y="4069080"/>
            <a:ext cx="2844698" cy="1005840"/>
          </a:xfrm>
          <a:prstGeom prst="rect">
            <a:avLst/>
          </a:prstGeom>
          <a:noFill/>
          <a:ln/>
        </p:spPr>
        <p:txBody>
          <a:bodyPr wrap="square" lIns="0" tIns="0" rIns="0" bIns="0" rtlCol="0" anchor="ctr"/>
          <a:lstStyle/>
          <a:p>
            <a:pPr rtl="1" algn="r" indent="0" marL="0">
              <a:buNone/>
            </a:pPr>
            <a:r>
              <a:rPr lang="ar-IQ" altLang="en-US" sz="6000" b="1" dirty="0">
                <a:solidFill>
                  <a:schemeClr val="accent1"/>
                </a:solidFill>
              </a:rPr>
              <a:t>3</a:t>
            </a:r>
            <a:endParaRPr lang="ar-IQ" sz="6000" dirty="0"/>
          </a:p>
        </p:txBody>
      </p:sp>
      <p:sp>
        <p:nvSpPr>
          <p:cNvPr id="21" name="Text 19"/>
          <p:cNvSpPr txBox="1"/>
          <p:nvPr/>
        </p:nvSpPr>
        <p:spPr>
          <a:xfrm>
            <a:off x="868680" y="5120640"/>
            <a:ext cx="2844698" cy="548640"/>
          </a:xfrm>
          <a:prstGeom prst="rect">
            <a:avLst/>
          </a:prstGeom>
          <a:noFill/>
          <a:ln/>
        </p:spPr>
        <p:txBody>
          <a:bodyPr wrap="square" lIns="0" tIns="0" rIns="0" bIns="0" rtlCol="0" anchor="t"/>
          <a:lstStyle/>
          <a:p>
            <a:pPr rtl="1" algn="r" indent="0" marL="0">
              <a:buNone/>
            </a:pPr>
            <a:r>
              <a:rPr lang="ar-IQ" altLang="en-US" sz="1700" dirty="0">
                <a:solidFill>
                  <a:schemeClr val="bg1"/>
                </a:solidFill>
              </a:rPr>
              <a:t>مستويات اطلاع: مكتب، محافظة، مركزي</a:t>
            </a:r>
            <a:endParaRPr lang="ar-IQ" sz="17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D5D9E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دورة الملف من الرصد إلى الإغلاق</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كيف تعمل</a:t>
            </a:r>
            <a:endParaRPr lang="ar-IQ" sz="1300" dirty="0"/>
          </a:p>
        </p:txBody>
      </p:sp>
      <p:sp>
        <p:nvSpPr>
          <p:cNvPr id="4" name="step-1"/>
          <p:cNvSpPr/>
          <p:nvPr/>
        </p:nvSpPr>
        <p:spPr>
          <a:xfrm>
            <a:off x="9658259" y="1600200"/>
            <a:ext cx="1984797" cy="1325880"/>
          </a:xfrm>
          <a:prstGeom prst="roundRect">
            <a:avLst>
              <a:gd name="adj" fmla="val 8276"/>
            </a:avLst>
          </a:prstGeom>
          <a:solidFill>
            <a:schemeClr val="tx1"/>
          </a:solidFill>
          <a:ln/>
        </p:spPr>
      </p:sp>
      <p:sp>
        <p:nvSpPr>
          <p:cNvPr id="5" name="Text 3"/>
          <p:cNvSpPr txBox="1"/>
          <p:nvPr/>
        </p:nvSpPr>
        <p:spPr>
          <a:xfrm>
            <a:off x="9841139" y="1737360"/>
            <a:ext cx="1619037" cy="411480"/>
          </a:xfrm>
          <a:prstGeom prst="rect">
            <a:avLst/>
          </a:prstGeom>
          <a:noFill/>
          <a:ln/>
        </p:spPr>
        <p:txBody>
          <a:bodyPr wrap="square" lIns="0" tIns="0" rIns="0" bIns="0" rtlCol="0" anchor="t"/>
          <a:lstStyle/>
          <a:p>
            <a:pPr rtl="1" algn="r" indent="0" marL="0">
              <a:buNone/>
            </a:pPr>
            <a:r>
              <a:rPr lang="ar-IQ" altLang="en-US" sz="1800" b="1" dirty="0">
                <a:solidFill>
                  <a:schemeClr val="accent1"/>
                </a:solidFill>
              </a:rPr>
              <a:t>1</a:t>
            </a:r>
            <a:endParaRPr lang="ar-IQ" sz="1800" dirty="0"/>
          </a:p>
        </p:txBody>
      </p:sp>
      <p:sp>
        <p:nvSpPr>
          <p:cNvPr id="6" name="Text 4"/>
          <p:cNvSpPr txBox="1"/>
          <p:nvPr/>
        </p:nvSpPr>
        <p:spPr>
          <a:xfrm>
            <a:off x="9841139" y="2148840"/>
            <a:ext cx="1619037" cy="685800"/>
          </a:xfrm>
          <a:prstGeom prst="rect">
            <a:avLst/>
          </a:prstGeom>
          <a:noFill/>
          <a:ln/>
        </p:spPr>
        <p:txBody>
          <a:bodyPr wrap="square" lIns="0" tIns="0" rIns="0" bIns="0" rtlCol="0" anchor="t"/>
          <a:lstStyle/>
          <a:p>
            <a:pPr rtl="1" algn="r" indent="0" marL="0">
              <a:buNone/>
            </a:pPr>
            <a:r>
              <a:rPr lang="ar-IQ" altLang="en-US" sz="1500" b="1" dirty="0">
                <a:solidFill>
                  <a:schemeClr val="bg1"/>
                </a:solidFill>
              </a:rPr>
              <a:t>التسجيل ورفع المحضر</a:t>
            </a:r>
            <a:endParaRPr lang="ar-IQ" sz="1500" dirty="0"/>
          </a:p>
        </p:txBody>
      </p:sp>
      <p:sp>
        <p:nvSpPr>
          <p:cNvPr id="7" name="arrow-1"/>
          <p:cNvSpPr/>
          <p:nvPr/>
        </p:nvSpPr>
        <p:spPr>
          <a:xfrm>
            <a:off x="9420515" y="2171700"/>
            <a:ext cx="182880" cy="182880"/>
          </a:xfrm>
          <a:prstGeom prst="leftArrow">
            <a:avLst/>
          </a:prstGeom>
          <a:solidFill>
            <a:schemeClr val="accent5"/>
          </a:solidFill>
          <a:ln/>
        </p:spPr>
      </p:sp>
      <p:sp>
        <p:nvSpPr>
          <p:cNvPr id="8" name="step-2"/>
          <p:cNvSpPr/>
          <p:nvPr/>
        </p:nvSpPr>
        <p:spPr>
          <a:xfrm>
            <a:off x="7380854" y="1600200"/>
            <a:ext cx="1984797" cy="1325880"/>
          </a:xfrm>
          <a:prstGeom prst="roundRect">
            <a:avLst>
              <a:gd name="adj" fmla="val 8276"/>
            </a:avLst>
          </a:prstGeom>
          <a:solidFill>
            <a:schemeClr val="tx1"/>
          </a:solidFill>
          <a:ln/>
        </p:spPr>
      </p:sp>
      <p:sp>
        <p:nvSpPr>
          <p:cNvPr id="9" name="Text 7"/>
          <p:cNvSpPr txBox="1"/>
          <p:nvPr/>
        </p:nvSpPr>
        <p:spPr>
          <a:xfrm>
            <a:off x="7563734" y="1737360"/>
            <a:ext cx="1619037" cy="411480"/>
          </a:xfrm>
          <a:prstGeom prst="rect">
            <a:avLst/>
          </a:prstGeom>
          <a:noFill/>
          <a:ln/>
        </p:spPr>
        <p:txBody>
          <a:bodyPr wrap="square" lIns="0" tIns="0" rIns="0" bIns="0" rtlCol="0" anchor="t"/>
          <a:lstStyle/>
          <a:p>
            <a:pPr rtl="1" algn="r" indent="0" marL="0">
              <a:buNone/>
            </a:pPr>
            <a:r>
              <a:rPr lang="ar-IQ" altLang="en-US" sz="1800" b="1" dirty="0">
                <a:solidFill>
                  <a:schemeClr val="accent1"/>
                </a:solidFill>
              </a:rPr>
              <a:t>2</a:t>
            </a:r>
            <a:endParaRPr lang="ar-IQ" sz="1800" dirty="0"/>
          </a:p>
        </p:txBody>
      </p:sp>
      <p:sp>
        <p:nvSpPr>
          <p:cNvPr id="10" name="Text 8"/>
          <p:cNvSpPr txBox="1"/>
          <p:nvPr/>
        </p:nvSpPr>
        <p:spPr>
          <a:xfrm>
            <a:off x="7563734" y="2148840"/>
            <a:ext cx="1619037" cy="685800"/>
          </a:xfrm>
          <a:prstGeom prst="rect">
            <a:avLst/>
          </a:prstGeom>
          <a:noFill/>
          <a:ln/>
        </p:spPr>
        <p:txBody>
          <a:bodyPr wrap="square" lIns="0" tIns="0" rIns="0" bIns="0" rtlCol="0" anchor="t"/>
          <a:lstStyle/>
          <a:p>
            <a:pPr rtl="1" algn="r" indent="0" marL="0">
              <a:buNone/>
            </a:pPr>
            <a:r>
              <a:rPr lang="ar-IQ" altLang="en-US" sz="1500" b="1" dirty="0">
                <a:solidFill>
                  <a:schemeClr val="bg1"/>
                </a:solidFill>
              </a:rPr>
              <a:t>مصادقة رئيس الهيئة</a:t>
            </a:r>
            <a:endParaRPr lang="ar-IQ" sz="1500" dirty="0"/>
          </a:p>
        </p:txBody>
      </p:sp>
      <p:sp>
        <p:nvSpPr>
          <p:cNvPr id="11" name="arrow-2"/>
          <p:cNvSpPr/>
          <p:nvPr/>
        </p:nvSpPr>
        <p:spPr>
          <a:xfrm>
            <a:off x="7143110" y="2171700"/>
            <a:ext cx="182880" cy="182880"/>
          </a:xfrm>
          <a:prstGeom prst="leftArrow">
            <a:avLst/>
          </a:prstGeom>
          <a:solidFill>
            <a:schemeClr val="accent5"/>
          </a:solidFill>
          <a:ln/>
        </p:spPr>
      </p:sp>
      <p:sp>
        <p:nvSpPr>
          <p:cNvPr id="12" name="step-3"/>
          <p:cNvSpPr/>
          <p:nvPr/>
        </p:nvSpPr>
        <p:spPr>
          <a:xfrm>
            <a:off x="5103449" y="1600200"/>
            <a:ext cx="1984797" cy="1325880"/>
          </a:xfrm>
          <a:prstGeom prst="roundRect">
            <a:avLst>
              <a:gd name="adj" fmla="val 8276"/>
            </a:avLst>
          </a:prstGeom>
          <a:solidFill>
            <a:schemeClr val="tx1"/>
          </a:solidFill>
          <a:ln/>
        </p:spPr>
      </p:sp>
      <p:sp>
        <p:nvSpPr>
          <p:cNvPr id="13" name="Text 11"/>
          <p:cNvSpPr txBox="1"/>
          <p:nvPr/>
        </p:nvSpPr>
        <p:spPr>
          <a:xfrm>
            <a:off x="5286329" y="1737360"/>
            <a:ext cx="1619037" cy="411480"/>
          </a:xfrm>
          <a:prstGeom prst="rect">
            <a:avLst/>
          </a:prstGeom>
          <a:noFill/>
          <a:ln/>
        </p:spPr>
        <p:txBody>
          <a:bodyPr wrap="square" lIns="0" tIns="0" rIns="0" bIns="0" rtlCol="0" anchor="t"/>
          <a:lstStyle/>
          <a:p>
            <a:pPr rtl="1" algn="r" indent="0" marL="0">
              <a:buNone/>
            </a:pPr>
            <a:r>
              <a:rPr lang="ar-IQ" altLang="en-US" sz="1800" b="1" dirty="0">
                <a:solidFill>
                  <a:schemeClr val="accent1"/>
                </a:solidFill>
              </a:rPr>
              <a:t>3</a:t>
            </a:r>
            <a:endParaRPr lang="ar-IQ" sz="1800" dirty="0"/>
          </a:p>
        </p:txBody>
      </p:sp>
      <p:sp>
        <p:nvSpPr>
          <p:cNvPr id="14" name="Text 12"/>
          <p:cNvSpPr txBox="1"/>
          <p:nvPr/>
        </p:nvSpPr>
        <p:spPr>
          <a:xfrm>
            <a:off x="5286329" y="2148840"/>
            <a:ext cx="1619037" cy="685800"/>
          </a:xfrm>
          <a:prstGeom prst="rect">
            <a:avLst/>
          </a:prstGeom>
          <a:noFill/>
          <a:ln/>
        </p:spPr>
        <p:txBody>
          <a:bodyPr wrap="square" lIns="0" tIns="0" rIns="0" bIns="0" rtlCol="0" anchor="t"/>
          <a:lstStyle/>
          <a:p>
            <a:pPr rtl="1" algn="r" indent="0" marL="0">
              <a:buNone/>
            </a:pPr>
            <a:r>
              <a:rPr lang="ar-IQ" altLang="en-US" sz="1500" b="1" dirty="0">
                <a:solidFill>
                  <a:schemeClr val="bg1"/>
                </a:solidFill>
              </a:rPr>
              <a:t>الموقف الفني والرأي القانوني</a:t>
            </a:r>
            <a:endParaRPr lang="ar-IQ" sz="1500" dirty="0"/>
          </a:p>
        </p:txBody>
      </p:sp>
      <p:sp>
        <p:nvSpPr>
          <p:cNvPr id="15" name="arrow-3"/>
          <p:cNvSpPr/>
          <p:nvPr/>
        </p:nvSpPr>
        <p:spPr>
          <a:xfrm>
            <a:off x="4865705" y="2171700"/>
            <a:ext cx="182880" cy="182880"/>
          </a:xfrm>
          <a:prstGeom prst="leftArrow">
            <a:avLst/>
          </a:prstGeom>
          <a:solidFill>
            <a:schemeClr val="accent5"/>
          </a:solidFill>
          <a:ln/>
        </p:spPr>
      </p:sp>
      <p:sp>
        <p:nvSpPr>
          <p:cNvPr id="16" name="step-4"/>
          <p:cNvSpPr/>
          <p:nvPr/>
        </p:nvSpPr>
        <p:spPr>
          <a:xfrm>
            <a:off x="2826045" y="1600200"/>
            <a:ext cx="1984797" cy="1325880"/>
          </a:xfrm>
          <a:prstGeom prst="roundRect">
            <a:avLst>
              <a:gd name="adj" fmla="val 8276"/>
            </a:avLst>
          </a:prstGeom>
          <a:solidFill>
            <a:schemeClr val="tx1"/>
          </a:solidFill>
          <a:ln/>
        </p:spPr>
      </p:sp>
      <p:sp>
        <p:nvSpPr>
          <p:cNvPr id="17" name="Text 15"/>
          <p:cNvSpPr txBox="1"/>
          <p:nvPr/>
        </p:nvSpPr>
        <p:spPr>
          <a:xfrm>
            <a:off x="3008925" y="1737360"/>
            <a:ext cx="1619037" cy="411480"/>
          </a:xfrm>
          <a:prstGeom prst="rect">
            <a:avLst/>
          </a:prstGeom>
          <a:noFill/>
          <a:ln/>
        </p:spPr>
        <p:txBody>
          <a:bodyPr wrap="square" lIns="0" tIns="0" rIns="0" bIns="0" rtlCol="0" anchor="t"/>
          <a:lstStyle/>
          <a:p>
            <a:pPr rtl="1" algn="r" indent="0" marL="0">
              <a:buNone/>
            </a:pPr>
            <a:r>
              <a:rPr lang="ar-IQ" altLang="en-US" sz="1800" b="1" dirty="0">
                <a:solidFill>
                  <a:schemeClr val="accent1"/>
                </a:solidFill>
              </a:rPr>
              <a:t>4</a:t>
            </a:r>
            <a:endParaRPr lang="ar-IQ" sz="1800" dirty="0"/>
          </a:p>
        </p:txBody>
      </p:sp>
      <p:sp>
        <p:nvSpPr>
          <p:cNvPr id="18" name="Text 16"/>
          <p:cNvSpPr txBox="1"/>
          <p:nvPr/>
        </p:nvSpPr>
        <p:spPr>
          <a:xfrm>
            <a:off x="3008925" y="2148840"/>
            <a:ext cx="1619037" cy="685800"/>
          </a:xfrm>
          <a:prstGeom prst="rect">
            <a:avLst/>
          </a:prstGeom>
          <a:noFill/>
          <a:ln/>
        </p:spPr>
        <p:txBody>
          <a:bodyPr wrap="square" lIns="0" tIns="0" rIns="0" bIns="0" rtlCol="0" anchor="t"/>
          <a:lstStyle/>
          <a:p>
            <a:pPr rtl="1" algn="r" indent="0" marL="0">
              <a:buNone/>
            </a:pPr>
            <a:r>
              <a:rPr lang="ar-IQ" altLang="en-US" sz="1500" b="1" dirty="0">
                <a:solidFill>
                  <a:schemeClr val="bg1"/>
                </a:solidFill>
              </a:rPr>
              <a:t>الموافقة على الإنذار وإصداره</a:t>
            </a:r>
            <a:endParaRPr lang="ar-IQ" sz="1500" dirty="0"/>
          </a:p>
        </p:txBody>
      </p:sp>
      <p:sp>
        <p:nvSpPr>
          <p:cNvPr id="19" name="arrow-4"/>
          <p:cNvSpPr/>
          <p:nvPr/>
        </p:nvSpPr>
        <p:spPr>
          <a:xfrm>
            <a:off x="2588301" y="2171700"/>
            <a:ext cx="182880" cy="182880"/>
          </a:xfrm>
          <a:prstGeom prst="leftArrow">
            <a:avLst/>
          </a:prstGeom>
          <a:solidFill>
            <a:schemeClr val="accent5"/>
          </a:solidFill>
          <a:ln/>
        </p:spPr>
      </p:sp>
      <p:sp>
        <p:nvSpPr>
          <p:cNvPr id="20" name="step-5"/>
          <p:cNvSpPr/>
          <p:nvPr/>
        </p:nvSpPr>
        <p:spPr>
          <a:xfrm>
            <a:off x="548640" y="1600200"/>
            <a:ext cx="1984797" cy="1325880"/>
          </a:xfrm>
          <a:prstGeom prst="roundRect">
            <a:avLst>
              <a:gd name="adj" fmla="val 8276"/>
            </a:avLst>
          </a:prstGeom>
          <a:solidFill>
            <a:schemeClr val="tx1"/>
          </a:solidFill>
          <a:ln/>
        </p:spPr>
      </p:sp>
      <p:sp>
        <p:nvSpPr>
          <p:cNvPr id="21" name="Text 19"/>
          <p:cNvSpPr txBox="1"/>
          <p:nvPr/>
        </p:nvSpPr>
        <p:spPr>
          <a:xfrm>
            <a:off x="731520" y="1737360"/>
            <a:ext cx="1619037" cy="411480"/>
          </a:xfrm>
          <a:prstGeom prst="rect">
            <a:avLst/>
          </a:prstGeom>
          <a:noFill/>
          <a:ln/>
        </p:spPr>
        <p:txBody>
          <a:bodyPr wrap="square" lIns="0" tIns="0" rIns="0" bIns="0" rtlCol="0" anchor="t"/>
          <a:lstStyle/>
          <a:p>
            <a:pPr rtl="1" algn="r" indent="0" marL="0">
              <a:buNone/>
            </a:pPr>
            <a:r>
              <a:rPr lang="ar-IQ" altLang="en-US" sz="1800" b="1" dirty="0">
                <a:solidFill>
                  <a:schemeClr val="accent1"/>
                </a:solidFill>
              </a:rPr>
              <a:t>5</a:t>
            </a:r>
            <a:endParaRPr lang="ar-IQ" sz="1800" dirty="0"/>
          </a:p>
        </p:txBody>
      </p:sp>
      <p:sp>
        <p:nvSpPr>
          <p:cNvPr id="22" name="Text 20"/>
          <p:cNvSpPr txBox="1"/>
          <p:nvPr/>
        </p:nvSpPr>
        <p:spPr>
          <a:xfrm>
            <a:off x="731520" y="2148840"/>
            <a:ext cx="1619037" cy="685800"/>
          </a:xfrm>
          <a:prstGeom prst="rect">
            <a:avLst/>
          </a:prstGeom>
          <a:noFill/>
          <a:ln/>
        </p:spPr>
        <p:txBody>
          <a:bodyPr wrap="square" lIns="0" tIns="0" rIns="0" bIns="0" rtlCol="0" anchor="t"/>
          <a:lstStyle/>
          <a:p>
            <a:pPr rtl="1" algn="r" indent="0" marL="0">
              <a:buNone/>
            </a:pPr>
            <a:r>
              <a:rPr lang="ar-IQ" altLang="en-US" sz="1500" b="1" dirty="0">
                <a:solidFill>
                  <a:schemeClr val="bg1"/>
                </a:solidFill>
              </a:rPr>
              <a:t>التبليغ ووصل الاستلام</a:t>
            </a:r>
            <a:endParaRPr lang="ar-IQ" sz="1500" dirty="0"/>
          </a:p>
        </p:txBody>
      </p:sp>
      <p:sp>
        <p:nvSpPr>
          <p:cNvPr id="23" name="step-6"/>
          <p:cNvSpPr/>
          <p:nvPr/>
        </p:nvSpPr>
        <p:spPr>
          <a:xfrm>
            <a:off x="9599737" y="3291840"/>
            <a:ext cx="2043318" cy="1463040"/>
          </a:xfrm>
          <a:prstGeom prst="roundRect">
            <a:avLst>
              <a:gd name="adj" fmla="val 7500"/>
            </a:avLst>
          </a:prstGeom>
          <a:solidFill>
            <a:schemeClr val="bg1"/>
          </a:solidFill>
          <a:ln w="15875">
            <a:solidFill>
              <a:srgbClr val="2A314D"/>
            </a:solidFill>
            <a:prstDash val="solid"/>
          </a:ln>
        </p:spPr>
      </p:sp>
      <p:sp>
        <p:nvSpPr>
          <p:cNvPr id="24" name="Text 22"/>
          <p:cNvSpPr txBox="1"/>
          <p:nvPr/>
        </p:nvSpPr>
        <p:spPr>
          <a:xfrm>
            <a:off x="9782617" y="3429000"/>
            <a:ext cx="1677558" cy="411480"/>
          </a:xfrm>
          <a:prstGeom prst="rect">
            <a:avLst/>
          </a:prstGeom>
          <a:noFill/>
          <a:ln/>
        </p:spPr>
        <p:txBody>
          <a:bodyPr wrap="square" lIns="0" tIns="0" rIns="0" bIns="0" rtlCol="0" anchor="t"/>
          <a:lstStyle/>
          <a:p>
            <a:pPr rtl="1" algn="r" indent="0" marL="0">
              <a:buNone/>
            </a:pPr>
            <a:r>
              <a:rPr lang="ar-IQ" altLang="en-US" sz="1800" b="1" dirty="0">
                <a:solidFill>
                  <a:schemeClr val="accent4"/>
                </a:solidFill>
              </a:rPr>
              <a:t>6</a:t>
            </a:r>
            <a:endParaRPr lang="ar-IQ" sz="1800" dirty="0"/>
          </a:p>
        </p:txBody>
      </p:sp>
      <p:sp>
        <p:nvSpPr>
          <p:cNvPr id="25" name="Text 23"/>
          <p:cNvSpPr txBox="1"/>
          <p:nvPr/>
        </p:nvSpPr>
        <p:spPr>
          <a:xfrm>
            <a:off x="9782617" y="3840480"/>
            <a:ext cx="1677558" cy="822960"/>
          </a:xfrm>
          <a:prstGeom prst="rect">
            <a:avLst/>
          </a:prstGeom>
          <a:noFill/>
          <a:ln/>
        </p:spPr>
        <p:txBody>
          <a:bodyPr wrap="square" lIns="0" tIns="0" rIns="0" bIns="0" rtlCol="0" anchor="t"/>
          <a:lstStyle/>
          <a:p>
            <a:pPr rtl="1" algn="r" indent="0" marL="0">
              <a:buNone/>
            </a:pPr>
            <a:r>
              <a:rPr lang="ar-IQ" altLang="en-US" sz="1500" b="1" dirty="0">
                <a:solidFill>
                  <a:schemeClr val="tx1"/>
                </a:solidFill>
              </a:rPr>
              <a:t>سريان المدة القانونية</a:t>
            </a:r>
            <a:endParaRPr lang="ar-IQ" sz="1500" dirty="0"/>
          </a:p>
        </p:txBody>
      </p:sp>
      <p:sp>
        <p:nvSpPr>
          <p:cNvPr id="26" name="arrow-6"/>
          <p:cNvSpPr/>
          <p:nvPr/>
        </p:nvSpPr>
        <p:spPr>
          <a:xfrm>
            <a:off x="9361993" y="3931920"/>
            <a:ext cx="182880" cy="182880"/>
          </a:xfrm>
          <a:prstGeom prst="leftArrow">
            <a:avLst/>
          </a:prstGeom>
          <a:solidFill>
            <a:schemeClr val="accent5"/>
          </a:solidFill>
          <a:ln/>
        </p:spPr>
      </p:sp>
      <p:sp>
        <p:nvSpPr>
          <p:cNvPr id="27" name="step-7"/>
          <p:cNvSpPr/>
          <p:nvPr/>
        </p:nvSpPr>
        <p:spPr>
          <a:xfrm>
            <a:off x="5220492" y="3291840"/>
            <a:ext cx="4086636" cy="1463040"/>
          </a:xfrm>
          <a:prstGeom prst="roundRect">
            <a:avLst>
              <a:gd name="adj" fmla="val 7500"/>
            </a:avLst>
          </a:prstGeom>
          <a:solidFill>
            <a:schemeClr val="bg1"/>
          </a:solidFill>
          <a:ln w="15875">
            <a:solidFill>
              <a:srgbClr val="2A314D"/>
            </a:solidFill>
            <a:prstDash val="solid"/>
          </a:ln>
        </p:spPr>
      </p:sp>
      <p:sp>
        <p:nvSpPr>
          <p:cNvPr id="28" name="Text 26"/>
          <p:cNvSpPr txBox="1"/>
          <p:nvPr/>
        </p:nvSpPr>
        <p:spPr>
          <a:xfrm>
            <a:off x="5403372" y="3429000"/>
            <a:ext cx="3720876" cy="411480"/>
          </a:xfrm>
          <a:prstGeom prst="rect">
            <a:avLst/>
          </a:prstGeom>
          <a:noFill/>
          <a:ln/>
        </p:spPr>
        <p:txBody>
          <a:bodyPr wrap="square" lIns="0" tIns="0" rIns="0" bIns="0" rtlCol="0" anchor="t"/>
          <a:lstStyle/>
          <a:p>
            <a:pPr rtl="1" algn="r" indent="0" marL="0">
              <a:buNone/>
            </a:pPr>
            <a:r>
              <a:rPr lang="ar-IQ" altLang="en-US" sz="1800" b="1" dirty="0">
                <a:solidFill>
                  <a:schemeClr val="accent4"/>
                </a:solidFill>
              </a:rPr>
              <a:t>7</a:t>
            </a:r>
            <a:endParaRPr lang="ar-IQ" sz="1800" dirty="0"/>
          </a:p>
        </p:txBody>
      </p:sp>
      <p:sp>
        <p:nvSpPr>
          <p:cNvPr id="29" name="Text 27"/>
          <p:cNvSpPr txBox="1"/>
          <p:nvPr/>
        </p:nvSpPr>
        <p:spPr>
          <a:xfrm>
            <a:off x="5403372" y="3840480"/>
            <a:ext cx="3720876" cy="822960"/>
          </a:xfrm>
          <a:prstGeom prst="rect">
            <a:avLst/>
          </a:prstGeom>
          <a:noFill/>
          <a:ln/>
        </p:spPr>
        <p:txBody>
          <a:bodyPr wrap="square" lIns="0" tIns="0" rIns="0" bIns="0" rtlCol="0" anchor="t"/>
          <a:lstStyle/>
          <a:p>
            <a:pPr rtl="1" algn="r" indent="0" marL="0">
              <a:buNone/>
            </a:pPr>
            <a:r>
              <a:rPr lang="ar-IQ" altLang="en-US" sz="1500" b="1" dirty="0">
                <a:solidFill>
                  <a:schemeClr val="tx1"/>
                </a:solidFill>
              </a:rPr>
              <a:t>استجابة (مالية، فنية، قانونية، إزالة) أو اعتراض، أو عدم استجابة فدعوى جزائية</a:t>
            </a:r>
            <a:endParaRPr lang="ar-IQ" sz="1500" dirty="0"/>
          </a:p>
        </p:txBody>
      </p:sp>
      <p:sp>
        <p:nvSpPr>
          <p:cNvPr id="30" name="arrow-7"/>
          <p:cNvSpPr/>
          <p:nvPr/>
        </p:nvSpPr>
        <p:spPr>
          <a:xfrm>
            <a:off x="4982748" y="3931920"/>
            <a:ext cx="182880" cy="182880"/>
          </a:xfrm>
          <a:prstGeom prst="leftArrow">
            <a:avLst/>
          </a:prstGeom>
          <a:solidFill>
            <a:schemeClr val="accent5"/>
          </a:solidFill>
          <a:ln/>
        </p:spPr>
      </p:sp>
      <p:sp>
        <p:nvSpPr>
          <p:cNvPr id="31" name="step-8"/>
          <p:cNvSpPr/>
          <p:nvPr/>
        </p:nvSpPr>
        <p:spPr>
          <a:xfrm>
            <a:off x="2884566" y="3291840"/>
            <a:ext cx="2043318" cy="1463040"/>
          </a:xfrm>
          <a:prstGeom prst="roundRect">
            <a:avLst>
              <a:gd name="adj" fmla="val 7500"/>
            </a:avLst>
          </a:prstGeom>
          <a:solidFill>
            <a:schemeClr val="bg1"/>
          </a:solidFill>
          <a:ln w="15875">
            <a:solidFill>
              <a:srgbClr val="2A314D"/>
            </a:solidFill>
            <a:prstDash val="solid"/>
          </a:ln>
        </p:spPr>
      </p:sp>
      <p:sp>
        <p:nvSpPr>
          <p:cNvPr id="32" name="Text 30"/>
          <p:cNvSpPr txBox="1"/>
          <p:nvPr/>
        </p:nvSpPr>
        <p:spPr>
          <a:xfrm>
            <a:off x="3067446" y="3429000"/>
            <a:ext cx="1677558" cy="411480"/>
          </a:xfrm>
          <a:prstGeom prst="rect">
            <a:avLst/>
          </a:prstGeom>
          <a:noFill/>
          <a:ln/>
        </p:spPr>
        <p:txBody>
          <a:bodyPr wrap="square" lIns="0" tIns="0" rIns="0" bIns="0" rtlCol="0" anchor="t"/>
          <a:lstStyle/>
          <a:p>
            <a:pPr rtl="1" algn="r" indent="0" marL="0">
              <a:buNone/>
            </a:pPr>
            <a:r>
              <a:rPr lang="ar-IQ" altLang="en-US" sz="1800" b="1" dirty="0">
                <a:solidFill>
                  <a:schemeClr val="accent4"/>
                </a:solidFill>
              </a:rPr>
              <a:t>8</a:t>
            </a:r>
            <a:endParaRPr lang="ar-IQ" sz="1800" dirty="0"/>
          </a:p>
        </p:txBody>
      </p:sp>
      <p:sp>
        <p:nvSpPr>
          <p:cNvPr id="33" name="Text 31"/>
          <p:cNvSpPr txBox="1"/>
          <p:nvPr/>
        </p:nvSpPr>
        <p:spPr>
          <a:xfrm>
            <a:off x="3067446" y="3840480"/>
            <a:ext cx="1677558" cy="822960"/>
          </a:xfrm>
          <a:prstGeom prst="rect">
            <a:avLst/>
          </a:prstGeom>
          <a:noFill/>
          <a:ln/>
        </p:spPr>
        <p:txBody>
          <a:bodyPr wrap="square" lIns="0" tIns="0" rIns="0" bIns="0" rtlCol="0" anchor="t"/>
          <a:lstStyle/>
          <a:p>
            <a:pPr rtl="1" algn="r" indent="0" marL="0">
              <a:buNone/>
            </a:pPr>
            <a:r>
              <a:rPr lang="ar-IQ" altLang="en-US" sz="1500" b="1" dirty="0">
                <a:solidFill>
                  <a:schemeClr val="tx1"/>
                </a:solidFill>
              </a:rPr>
              <a:t>التحقق النهائي</a:t>
            </a:r>
            <a:endParaRPr lang="ar-IQ" sz="1500" dirty="0"/>
          </a:p>
        </p:txBody>
      </p:sp>
      <p:sp>
        <p:nvSpPr>
          <p:cNvPr id="34" name="arrow-8"/>
          <p:cNvSpPr/>
          <p:nvPr/>
        </p:nvSpPr>
        <p:spPr>
          <a:xfrm>
            <a:off x="2646822" y="3931920"/>
            <a:ext cx="182880" cy="182880"/>
          </a:xfrm>
          <a:prstGeom prst="leftArrow">
            <a:avLst/>
          </a:prstGeom>
          <a:solidFill>
            <a:schemeClr val="accent5"/>
          </a:solidFill>
          <a:ln/>
        </p:spPr>
      </p:sp>
      <p:sp>
        <p:nvSpPr>
          <p:cNvPr id="35" name="step-9"/>
          <p:cNvSpPr/>
          <p:nvPr/>
        </p:nvSpPr>
        <p:spPr>
          <a:xfrm>
            <a:off x="548640" y="3291840"/>
            <a:ext cx="2043318" cy="1463040"/>
          </a:xfrm>
          <a:prstGeom prst="roundRect">
            <a:avLst>
              <a:gd name="adj" fmla="val 7500"/>
            </a:avLst>
          </a:prstGeom>
          <a:solidFill>
            <a:schemeClr val="accent1"/>
          </a:solidFill>
          <a:ln/>
        </p:spPr>
      </p:sp>
      <p:sp>
        <p:nvSpPr>
          <p:cNvPr id="36" name="Text 34"/>
          <p:cNvSpPr txBox="1"/>
          <p:nvPr/>
        </p:nvSpPr>
        <p:spPr>
          <a:xfrm>
            <a:off x="731520" y="3429000"/>
            <a:ext cx="1677558" cy="411480"/>
          </a:xfrm>
          <a:prstGeom prst="rect">
            <a:avLst/>
          </a:prstGeom>
          <a:noFill/>
          <a:ln/>
        </p:spPr>
        <p:txBody>
          <a:bodyPr wrap="square" lIns="0" tIns="0" rIns="0" bIns="0" rtlCol="0" anchor="t"/>
          <a:lstStyle/>
          <a:p>
            <a:pPr rtl="1" algn="r" indent="0" marL="0">
              <a:buNone/>
            </a:pPr>
            <a:r>
              <a:rPr lang="ar-IQ" altLang="en-US" sz="1800" b="1" dirty="0">
                <a:solidFill>
                  <a:schemeClr val="tx1"/>
                </a:solidFill>
              </a:rPr>
              <a:t>9</a:t>
            </a:r>
            <a:endParaRPr lang="ar-IQ" sz="1800" dirty="0"/>
          </a:p>
        </p:txBody>
      </p:sp>
      <p:sp>
        <p:nvSpPr>
          <p:cNvPr id="37" name="Text 35"/>
          <p:cNvSpPr txBox="1"/>
          <p:nvPr/>
        </p:nvSpPr>
        <p:spPr>
          <a:xfrm>
            <a:off x="731520" y="3840480"/>
            <a:ext cx="1677558" cy="822960"/>
          </a:xfrm>
          <a:prstGeom prst="rect">
            <a:avLst/>
          </a:prstGeom>
          <a:noFill/>
          <a:ln/>
        </p:spPr>
        <p:txBody>
          <a:bodyPr wrap="square" lIns="0" tIns="0" rIns="0" bIns="0" rtlCol="0" anchor="t"/>
          <a:lstStyle/>
          <a:p>
            <a:pPr rtl="1" algn="r" indent="0" marL="0">
              <a:buNone/>
            </a:pPr>
            <a:r>
              <a:rPr lang="ar-IQ" altLang="en-US" sz="1500" b="1" dirty="0">
                <a:solidFill>
                  <a:schemeClr val="tx1"/>
                </a:solidFill>
              </a:rPr>
              <a:t>إغلاق باعتماد ثانٍ</a:t>
            </a:r>
            <a:endParaRPr lang="ar-IQ" sz="1500" dirty="0"/>
          </a:p>
        </p:txBody>
      </p:sp>
      <p:sp>
        <p:nvSpPr>
          <p:cNvPr id="38" name="Text 36"/>
          <p:cNvSpPr txBox="1"/>
          <p:nvPr/>
        </p:nvSpPr>
        <p:spPr>
          <a:xfrm>
            <a:off x="548640" y="5120640"/>
            <a:ext cx="11094415" cy="731520"/>
          </a:xfrm>
          <a:prstGeom prst="rect">
            <a:avLst/>
          </a:prstGeom>
          <a:noFill/>
          <a:ln/>
        </p:spPr>
        <p:txBody>
          <a:bodyPr wrap="square" lIns="0" tIns="0" rIns="0" bIns="0" rtlCol="0" anchor="t"/>
          <a:lstStyle/>
          <a:p>
            <a:pPr rtl="1" algn="r" indent="0" marL="0">
              <a:buNone/>
            </a:pPr>
            <a:r>
              <a:rPr lang="ar-IQ" altLang="en-US" sz="1600" b="1" dirty="0">
                <a:solidFill>
                  <a:schemeClr val="accent2"/>
                </a:solidFill>
              </a:rPr>
              <a:t>لا شيء ينتقل تلقائياً دون قرار: </a:t>
            </a:r>
            <a:pPr rtl="1" algn="r" indent="0" marL="0">
              <a:buNone/>
            </a:pPr>
            <a:r>
              <a:rPr lang="ar-IQ" altLang="en-US" sz="1600" dirty="0">
                <a:solidFill>
                  <a:schemeClr val="accent2"/>
                </a:solidFill>
              </a:rPr>
              <a:t>انتهاء المدة لا يحوّل الملف إلى دعوى، وقبول الاستجابة لا يغلقه، والحكم غير القطعي يمنع الإغلاق.</a:t>
            </a:r>
            <a:endParaRPr lang="ar-IQ" sz="16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كل موظف يرى ويفعل ما يخصه فقط</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الأدوار والصلاحيات</a:t>
            </a:r>
            <a:endParaRPr lang="ar-IQ" sz="1300" dirty="0"/>
          </a:p>
        </p:txBody>
      </p:sp>
      <p:graphicFrame>
        <p:nvGraphicFramePr>
          <p:cNvPr id="6" name="roles-table"/>
          <p:cNvGraphicFramePr>
            <a:graphicFrameLocks noGrp="1"/>
          </p:cNvGraphicFramePr>
          <p:nvPr>
            <p:extLst>
              <p:ext uri="{D42A27DB-BD31-4B8C-83A1-F6EECF244321}">
                <p14:modId xmlns:p14="http://schemas.microsoft.com/office/powerpoint/2010/main" val="1579011935"/>
              </p:ext>
            </p:extLst>
          </p:nvPr>
        </p:nvGraphicFramePr>
        <p:xfrm>
          <a:off x="4693615" y="1554480"/>
          <a:ext cx="6949440" cy="914400"/>
        </p:xfrm>
        <a:graphic>
          <a:graphicData uri="http://schemas.openxmlformats.org/drawingml/2006/table">
            <a:tbl>
              <a:tblPr/>
              <a:tblGrid>
                <a:gridCol w="4480560"/>
                <a:gridCol w="2468880"/>
              </a:tblGrid>
              <a:tr h="402336">
                <a:tc>
                  <a:txBody>
                    <a:bodyPr/>
                    <a:lstStyle/>
                    <a:p>
                      <a:pPr rtl="1" algn="r" indent="0" marL="0">
                        <a:buNone/>
                      </a:pPr>
                      <a:r>
                        <a:rPr lang="ar-IQ" altLang="en-US" sz="1300" b="1" dirty="0">
                          <a:solidFill>
                            <a:srgbClr val="FFFFFF"/>
                          </a:solidFill>
                        </a:rPr>
                        <a:t>ما يتولاه</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2A314D"/>
                    </a:solidFill>
                  </a:tcPr>
                </a:tc>
                <a:tc>
                  <a:txBody>
                    <a:bodyPr/>
                    <a:lstStyle/>
                    <a:p>
                      <a:pPr rtl="1" algn="r" indent="0" marL="0">
                        <a:buNone/>
                      </a:pPr>
                      <a:r>
                        <a:rPr lang="ar-IQ" altLang="en-US" sz="1300" b="1" dirty="0">
                          <a:solidFill>
                            <a:srgbClr val="FFFFFF"/>
                          </a:solidFill>
                        </a:rPr>
                        <a:t>الدور</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2A314D"/>
                    </a:solidFill>
                  </a:tcPr>
                </a:tc>
              </a:tr>
              <a:tr h="402336">
                <a:tc>
                  <a:txBody>
                    <a:bodyPr/>
                    <a:lstStyle/>
                    <a:p>
                      <a:pPr rtl="1" algn="r" indent="0" marL="0">
                        <a:buNone/>
                      </a:pPr>
                      <a:r>
                        <a:rPr lang="ar-IQ" altLang="en-US" sz="1300" dirty="0">
                          <a:solidFill>
                            <a:srgbClr val="2A314D"/>
                          </a:solidFill>
                        </a:rPr>
                        <a:t>تسجيل المخالفات ورفع المحاضر والإحالة</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300" b="1" dirty="0">
                          <a:solidFill>
                            <a:srgbClr val="2A314D"/>
                          </a:solidFill>
                        </a:rPr>
                        <a:t>موظف التسجيل</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402336">
                <a:tc>
                  <a:txBody>
                    <a:bodyPr/>
                    <a:lstStyle/>
                    <a:p>
                      <a:pPr rtl="1" algn="r" indent="0" marL="0">
                        <a:buNone/>
                      </a:pPr>
                      <a:r>
                        <a:rPr lang="ar-IQ" altLang="en-US" sz="1300" dirty="0">
                          <a:solidFill>
                            <a:srgbClr val="2A314D"/>
                          </a:solidFill>
                        </a:rPr>
                        <a:t>الموقف الفني والتحقق من الامتثال</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300" b="1" dirty="0">
                          <a:solidFill>
                            <a:srgbClr val="2A314D"/>
                          </a:solidFill>
                        </a:rPr>
                        <a:t>القسم الفني</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r h="402336">
                <a:tc>
                  <a:txBody>
                    <a:bodyPr/>
                    <a:lstStyle/>
                    <a:p>
                      <a:pPr rtl="1" algn="r" indent="0" marL="0">
                        <a:buNone/>
                      </a:pPr>
                      <a:r>
                        <a:rPr lang="ar-IQ" altLang="en-US" sz="1300" dirty="0">
                          <a:solidFill>
                            <a:srgbClr val="2A314D"/>
                          </a:solidFill>
                        </a:rPr>
                        <a:t>الرأي القانوني والإنذار والدعاوى والأحكام</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300" b="1" dirty="0">
                          <a:solidFill>
                            <a:srgbClr val="2A314D"/>
                          </a:solidFill>
                        </a:rPr>
                        <a:t>الدائرة القانونية</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402336">
                <a:tc>
                  <a:txBody>
                    <a:bodyPr/>
                    <a:lstStyle/>
                    <a:p>
                      <a:pPr rtl="1" algn="r" indent="0" marL="0">
                        <a:buNone/>
                      </a:pPr>
                      <a:r>
                        <a:rPr lang="ar-IQ" altLang="en-US" sz="1300" dirty="0">
                          <a:solidFill>
                            <a:srgbClr val="2A314D"/>
                          </a:solidFill>
                        </a:rPr>
                        <a:t>المصادقة النهائية والقرارات العليا والإغلاق</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300" b="1" dirty="0">
                          <a:solidFill>
                            <a:srgbClr val="2A314D"/>
                          </a:solidFill>
                        </a:rPr>
                        <a:t>رئيس الهيئة</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r h="402336">
                <a:tc>
                  <a:txBody>
                    <a:bodyPr/>
                    <a:lstStyle/>
                    <a:p>
                      <a:pPr rtl="1" algn="r" indent="0" marL="0">
                        <a:buNone/>
                      </a:pPr>
                      <a:r>
                        <a:rPr lang="ar-IQ" altLang="en-US" sz="1300" dirty="0">
                          <a:solidFill>
                            <a:srgbClr val="2A314D"/>
                          </a:solidFill>
                        </a:rPr>
                        <a:t>اطلاع مركزي ومتابعة وتقارير</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300" b="1" dirty="0">
                          <a:solidFill>
                            <a:srgbClr val="2A314D"/>
                          </a:solidFill>
                        </a:rPr>
                        <a:t>الإدارة العليا</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402336">
                <a:tc>
                  <a:txBody>
                    <a:bodyPr/>
                    <a:lstStyle/>
                    <a:p>
                      <a:pPr rtl="1" algn="r" indent="0" marL="0">
                        <a:buNone/>
                      </a:pPr>
                      <a:r>
                        <a:rPr lang="ar-IQ" altLang="en-US" sz="1300" dirty="0">
                          <a:solidFill>
                            <a:srgbClr val="2A314D"/>
                          </a:solidFill>
                        </a:rPr>
                        <a:t>الاستجابات المالية والتسديدات</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300" b="1" dirty="0">
                          <a:solidFill>
                            <a:srgbClr val="2A314D"/>
                          </a:solidFill>
                        </a:rPr>
                        <a:t>القسم المالي</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r h="402336">
                <a:tc>
                  <a:txBody>
                    <a:bodyPr/>
                    <a:lstStyle/>
                    <a:p>
                      <a:pPr rtl="1" algn="r" indent="0" marL="0">
                        <a:buNone/>
                      </a:pPr>
                      <a:r>
                        <a:rPr lang="ar-IQ" altLang="en-US" sz="1300" dirty="0">
                          <a:solidFill>
                            <a:srgbClr val="2A314D"/>
                          </a:solidFill>
                        </a:rPr>
                        <a:t>إرسال الإنذارات ووصولات الاستلام</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300" b="1" dirty="0">
                          <a:solidFill>
                            <a:srgbClr val="2A314D"/>
                          </a:solidFill>
                        </a:rPr>
                        <a:t>شعبة التبليغات</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402336">
                <a:tc>
                  <a:txBody>
                    <a:bodyPr/>
                    <a:lstStyle/>
                    <a:p>
                      <a:pPr rtl="1" algn="r" indent="0" marL="0">
                        <a:buNone/>
                      </a:pPr>
                      <a:r>
                        <a:rPr lang="ar-IQ" altLang="en-US" sz="1300" dirty="0">
                          <a:solidFill>
                            <a:srgbClr val="2A314D"/>
                          </a:solidFill>
                        </a:rPr>
                        <a:t>متابعة مخالفات الفرع وإجراءاته المحلية</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300" b="1" dirty="0">
                          <a:solidFill>
                            <a:srgbClr val="2A314D"/>
                          </a:solidFill>
                        </a:rPr>
                        <a:t>مدير الفرع</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r h="402336">
                <a:tc>
                  <a:txBody>
                    <a:bodyPr/>
                    <a:lstStyle/>
                    <a:p>
                      <a:pPr rtl="1" algn="r" indent="0" marL="0">
                        <a:buNone/>
                      </a:pPr>
                      <a:r>
                        <a:rPr lang="ar-IQ" altLang="en-US" sz="1300" dirty="0">
                          <a:solidFill>
                            <a:srgbClr val="2A314D"/>
                          </a:solidFill>
                        </a:rPr>
                        <a:t>الحسابات والإعدادات التقنية فقط</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300" b="1" dirty="0">
                          <a:solidFill>
                            <a:srgbClr val="2A314D"/>
                          </a:solidFill>
                        </a:rPr>
                        <a:t>مدير النظام</a:t>
                      </a:r>
                      <a:endParaRPr lang="ar-IQ" sz="1300" dirty="0"/>
                    </a:p>
                  </a:txBody>
                  <a:tcPr marL="109728" marR="109728" marT="36576" marB="36576"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bl>
          </a:graphicData>
        </a:graphic>
      </p:graphicFrame>
      <p:sp>
        <p:nvSpPr>
          <p:cNvPr id="5" name="duties-card"/>
          <p:cNvSpPr/>
          <p:nvPr/>
        </p:nvSpPr>
        <p:spPr>
          <a:xfrm>
            <a:off x="548640" y="1554480"/>
            <a:ext cx="3779215" cy="4023360"/>
          </a:xfrm>
          <a:prstGeom prst="roundRect">
            <a:avLst>
              <a:gd name="adj" fmla="val 2903"/>
            </a:avLst>
          </a:prstGeom>
          <a:solidFill>
            <a:schemeClr val="tx1"/>
          </a:solidFill>
          <a:ln/>
        </p:spPr>
      </p:sp>
      <p:sp>
        <p:nvSpPr>
          <p:cNvPr id="6" name="duties-icon-circle"/>
          <p:cNvSpPr/>
          <p:nvPr/>
        </p:nvSpPr>
        <p:spPr>
          <a:xfrm>
            <a:off x="3459175" y="1783080"/>
            <a:ext cx="548640" cy="548640"/>
          </a:xfrm>
          <a:prstGeom prst="ellipse">
            <a:avLst/>
          </a:prstGeom>
          <a:solidFill>
            <a:schemeClr val="accent1"/>
          </a:solidFill>
          <a:ln/>
        </p:spPr>
      </p:sp>
      <p:pic>
        <p:nvPicPr>
          <p:cNvPr id="7" name="duties-icon" descr="preencoded.png">    </p:cNvPr>
          <p:cNvPicPr>
            <a:picLocks noChangeAspect="1"/>
          </p:cNvPicPr>
          <p:nvPr/>
        </p:nvPicPr>
        <p:blipFill>
          <a:blip r:embed="rId1"/>
          <a:stretch>
            <a:fillRect/>
          </a:stretch>
        </p:blipFill>
        <p:spPr>
          <a:xfrm>
            <a:off x="3579876" y="1903781"/>
            <a:ext cx="307238" cy="307238"/>
          </a:xfrm>
          <a:prstGeom prst="rect">
            <a:avLst/>
          </a:prstGeom>
        </p:spPr>
      </p:pic>
      <p:sp>
        <p:nvSpPr>
          <p:cNvPr id="8" name="Text 4"/>
          <p:cNvSpPr txBox="1"/>
          <p:nvPr/>
        </p:nvSpPr>
        <p:spPr>
          <a:xfrm>
            <a:off x="868680" y="2468880"/>
            <a:ext cx="3139135" cy="777240"/>
          </a:xfrm>
          <a:prstGeom prst="rect">
            <a:avLst/>
          </a:prstGeom>
          <a:noFill/>
          <a:ln/>
        </p:spPr>
        <p:txBody>
          <a:bodyPr wrap="square" lIns="0" tIns="0" rIns="0" bIns="0" rtlCol="0" anchor="t"/>
          <a:lstStyle/>
          <a:p>
            <a:pPr rtl="1" algn="r" indent="0" marL="0">
              <a:buNone/>
            </a:pPr>
            <a:r>
              <a:rPr lang="ar-IQ" altLang="en-US" sz="1900" b="1" dirty="0">
                <a:solidFill>
                  <a:schemeClr val="bg1"/>
                </a:solidFill>
              </a:rPr>
              <a:t>فصل المهام مفروض في النظام</a:t>
            </a:r>
            <a:endParaRPr lang="ar-IQ" sz="1900" dirty="0"/>
          </a:p>
        </p:txBody>
      </p:sp>
      <p:sp>
        <p:nvSpPr>
          <p:cNvPr id="9" name="Text 5"/>
          <p:cNvSpPr txBox="1"/>
          <p:nvPr/>
        </p:nvSpPr>
        <p:spPr>
          <a:xfrm>
            <a:off x="868680" y="3337560"/>
            <a:ext cx="3139135" cy="2103120"/>
          </a:xfrm>
          <a:prstGeom prst="rect">
            <a:avLst/>
          </a:prstGeom>
          <a:noFill/>
          <a:ln/>
        </p:spPr>
        <p:txBody>
          <a:bodyPr wrap="square" lIns="0" tIns="0" rIns="0" bIns="0" rtlCol="0" anchor="t"/>
          <a:lstStyle/>
          <a:p>
            <a:pPr rtl="1" algn="r" marL="342900" indent="-342900">
              <a:spcAft>
                <a:spcPts val="1000"/>
              </a:spcAft>
              <a:buSzPct val="100000"/>
              <a:buChar char="•"/>
            </a:pPr>
            <a:r>
              <a:rPr lang="ar-IQ" altLang="en-US" sz="1500" dirty="0">
                <a:solidFill>
                  <a:srgbClr val="D5D9E6"/>
                </a:solidFill>
              </a:rPr>
              <a:t>مدير النظام لا يملك أي صلاحية مصادقة رسمية، ولا يمكن منحه إياها.</a:t>
            </a:r>
            <a:endParaRPr lang="ar-IQ" sz="1500" dirty="0"/>
          </a:p>
          <a:p>
            <a:pPr rtl="1" algn="r" marL="342900" indent="-342900">
              <a:spcAft>
                <a:spcPts val="1000"/>
              </a:spcAft>
              <a:buSzPct val="100000"/>
              <a:buChar char="•"/>
            </a:pPr>
            <a:r>
              <a:rPr lang="ar-IQ" altLang="en-US" sz="1500" dirty="0">
                <a:solidFill>
                  <a:srgbClr val="D5D9E6"/>
                </a:solidFill>
              </a:rPr>
              <a:t>المصادقة القانونية واعتماد الحكم والإغلاق يعتمدها شخص غير من أعدّها أو طلبها.</a:t>
            </a:r>
            <a:endParaRPr lang="ar-IQ" sz="1500" dirty="0"/>
          </a:p>
          <a:p>
            <a:pPr rtl="1" algn="r" marL="342900" indent="-342900">
              <a:spcAft>
                <a:spcPts val="1000"/>
              </a:spcAft>
              <a:buSzPct val="100000"/>
              <a:buChar char="•"/>
            </a:pPr>
            <a:r>
              <a:rPr lang="ar-IQ" altLang="en-US" sz="1500" dirty="0">
                <a:solidFill>
                  <a:srgbClr val="D5D9E6"/>
                </a:solidFill>
              </a:rPr>
              <a:t>الصلاحية تُفحص في الخادم عند كل إجراء، لا بإخفاء الأزرار فقط.</a:t>
            </a:r>
            <a:endParaRPr lang="ar-IQ"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احتساب منضبط بقواعد تعتمدها الدائرة القانونية</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المدد القانونية</a:t>
            </a:r>
            <a:endParaRPr lang="ar-IQ" sz="1300" dirty="0"/>
          </a:p>
        </p:txBody>
      </p:sp>
      <p:sp>
        <p:nvSpPr>
          <p:cNvPr id="4" name="rule-1"/>
          <p:cNvSpPr/>
          <p:nvPr/>
        </p:nvSpPr>
        <p:spPr>
          <a:xfrm>
            <a:off x="548640" y="1600200"/>
            <a:ext cx="11094415" cy="896112"/>
          </a:xfrm>
          <a:prstGeom prst="roundRect">
            <a:avLst>
              <a:gd name="adj" fmla="val 12245"/>
            </a:avLst>
          </a:prstGeom>
          <a:solidFill>
            <a:schemeClr val="bg2"/>
          </a:solidFill>
          <a:ln/>
        </p:spPr>
      </p:sp>
      <p:sp>
        <p:nvSpPr>
          <p:cNvPr id="5" name="rule-icon-1-circle"/>
          <p:cNvSpPr/>
          <p:nvPr/>
        </p:nvSpPr>
        <p:spPr>
          <a:xfrm>
            <a:off x="10865815" y="1773936"/>
            <a:ext cx="548640" cy="548640"/>
          </a:xfrm>
          <a:prstGeom prst="ellipse">
            <a:avLst/>
          </a:prstGeom>
          <a:solidFill>
            <a:schemeClr val="accent1"/>
          </a:solidFill>
          <a:ln/>
        </p:spPr>
      </p:sp>
      <p:pic>
        <p:nvPicPr>
          <p:cNvPr id="6" name="rule-icon-1" descr="preencoded.png">    </p:cNvPr>
          <p:cNvPicPr>
            <a:picLocks noChangeAspect="1"/>
          </p:cNvPicPr>
          <p:nvPr/>
        </p:nvPicPr>
        <p:blipFill>
          <a:blip r:embed="rId1"/>
          <a:stretch>
            <a:fillRect/>
          </a:stretch>
        </p:blipFill>
        <p:spPr>
          <a:xfrm>
            <a:off x="10986516" y="1894637"/>
            <a:ext cx="307238" cy="307238"/>
          </a:xfrm>
          <a:prstGeom prst="rect">
            <a:avLst/>
          </a:prstGeom>
        </p:spPr>
      </p:pic>
      <p:sp>
        <p:nvSpPr>
          <p:cNvPr id="7" name="Text 4"/>
          <p:cNvSpPr txBox="1"/>
          <p:nvPr/>
        </p:nvSpPr>
        <p:spPr>
          <a:xfrm>
            <a:off x="822960" y="1728216"/>
            <a:ext cx="9814255" cy="640080"/>
          </a:xfrm>
          <a:prstGeom prst="rect">
            <a:avLst/>
          </a:prstGeom>
          <a:noFill/>
          <a:ln/>
        </p:spPr>
        <p:txBody>
          <a:bodyPr wrap="square" lIns="0" tIns="0" rIns="0" bIns="0" rtlCol="0" anchor="ctr"/>
          <a:lstStyle/>
          <a:p>
            <a:pPr rtl="1" algn="r" indent="0" marL="0">
              <a:buNone/>
            </a:pPr>
            <a:r>
              <a:rPr lang="ar-IQ" altLang="en-US" sz="1700" b="1" dirty="0">
                <a:solidFill>
                  <a:schemeClr val="tx1"/>
                </a:solidFill>
              </a:rPr>
              <a:t>قاعدة لكل نوع مخالفة مع سندها: </a:t>
            </a:r>
            <a:pPr rtl="1" algn="r" indent="0" marL="0">
              <a:buNone/>
            </a:pPr>
            <a:r>
              <a:rPr lang="ar-IQ" altLang="en-US" sz="1700" dirty="0">
                <a:solidFill>
                  <a:schemeClr val="tx1"/>
                </a:solidFill>
              </a:rPr>
              <a:t>المدة، أيام تقويمية أو أيام عمل، بداية الاحتساب، العطل الرسمية، وحدود التمديد.</a:t>
            </a:r>
            <a:endParaRPr lang="ar-IQ" sz="1700" dirty="0"/>
          </a:p>
        </p:txBody>
      </p:sp>
      <p:sp>
        <p:nvSpPr>
          <p:cNvPr id="8" name="rule-2"/>
          <p:cNvSpPr/>
          <p:nvPr/>
        </p:nvSpPr>
        <p:spPr>
          <a:xfrm>
            <a:off x="548640" y="2679192"/>
            <a:ext cx="11094415" cy="896112"/>
          </a:xfrm>
          <a:prstGeom prst="roundRect">
            <a:avLst>
              <a:gd name="adj" fmla="val 12245"/>
            </a:avLst>
          </a:prstGeom>
          <a:solidFill>
            <a:schemeClr val="bg2"/>
          </a:solidFill>
          <a:ln/>
        </p:spPr>
      </p:sp>
      <p:sp>
        <p:nvSpPr>
          <p:cNvPr id="9" name="rule-icon-2-circle"/>
          <p:cNvSpPr/>
          <p:nvPr/>
        </p:nvSpPr>
        <p:spPr>
          <a:xfrm>
            <a:off x="10865815" y="2852928"/>
            <a:ext cx="548640" cy="548640"/>
          </a:xfrm>
          <a:prstGeom prst="ellipse">
            <a:avLst/>
          </a:prstGeom>
          <a:solidFill>
            <a:schemeClr val="accent1"/>
          </a:solidFill>
          <a:ln/>
        </p:spPr>
      </p:sp>
      <p:pic>
        <p:nvPicPr>
          <p:cNvPr id="10" name="rule-icon-2" descr="preencoded.png">    </p:cNvPr>
          <p:cNvPicPr>
            <a:picLocks noChangeAspect="1"/>
          </p:cNvPicPr>
          <p:nvPr/>
        </p:nvPicPr>
        <p:blipFill>
          <a:blip r:embed="rId2"/>
          <a:stretch>
            <a:fillRect/>
          </a:stretch>
        </p:blipFill>
        <p:spPr>
          <a:xfrm>
            <a:off x="10986516" y="2973629"/>
            <a:ext cx="307238" cy="307238"/>
          </a:xfrm>
          <a:prstGeom prst="rect">
            <a:avLst/>
          </a:prstGeom>
        </p:spPr>
      </p:pic>
      <p:sp>
        <p:nvSpPr>
          <p:cNvPr id="11" name="Text 7"/>
          <p:cNvSpPr txBox="1"/>
          <p:nvPr/>
        </p:nvSpPr>
        <p:spPr>
          <a:xfrm>
            <a:off x="822960" y="2807208"/>
            <a:ext cx="9814255" cy="640080"/>
          </a:xfrm>
          <a:prstGeom prst="rect">
            <a:avLst/>
          </a:prstGeom>
          <a:noFill/>
          <a:ln/>
        </p:spPr>
        <p:txBody>
          <a:bodyPr wrap="square" lIns="0" tIns="0" rIns="0" bIns="0" rtlCol="0" anchor="ctr"/>
          <a:lstStyle/>
          <a:p>
            <a:pPr rtl="1" algn="r" indent="0" marL="0">
              <a:buNone/>
            </a:pPr>
            <a:r>
              <a:rPr lang="ar-IQ" altLang="en-US" sz="1700" b="1" dirty="0">
                <a:solidFill>
                  <a:schemeClr val="tx1"/>
                </a:solidFill>
              </a:rPr>
              <a:t>لا أثر رجعي: </a:t>
            </a:r>
            <a:pPr rtl="1" algn="r" indent="0" marL="0">
              <a:buNone/>
            </a:pPr>
            <a:r>
              <a:rPr lang="ar-IQ" altLang="en-US" sz="1700" dirty="0">
                <a:solidFill>
                  <a:schemeClr val="tx1"/>
                </a:solidFill>
              </a:rPr>
              <a:t>تُحفظ نسخة القاعدة والتقويم مع كل مدة، فتعديل القاعدة لا يغيّر مدة جارية.</a:t>
            </a:r>
            <a:endParaRPr lang="ar-IQ" sz="1700" dirty="0"/>
          </a:p>
        </p:txBody>
      </p:sp>
      <p:sp>
        <p:nvSpPr>
          <p:cNvPr id="12" name="rule-3"/>
          <p:cNvSpPr/>
          <p:nvPr/>
        </p:nvSpPr>
        <p:spPr>
          <a:xfrm>
            <a:off x="548640" y="3758184"/>
            <a:ext cx="11094415" cy="896112"/>
          </a:xfrm>
          <a:prstGeom prst="roundRect">
            <a:avLst>
              <a:gd name="adj" fmla="val 12245"/>
            </a:avLst>
          </a:prstGeom>
          <a:solidFill>
            <a:schemeClr val="bg2"/>
          </a:solidFill>
          <a:ln/>
        </p:spPr>
      </p:sp>
      <p:sp>
        <p:nvSpPr>
          <p:cNvPr id="13" name="rule-icon-3-circle"/>
          <p:cNvSpPr/>
          <p:nvPr/>
        </p:nvSpPr>
        <p:spPr>
          <a:xfrm>
            <a:off x="10865815" y="3931920"/>
            <a:ext cx="548640" cy="548640"/>
          </a:xfrm>
          <a:prstGeom prst="ellipse">
            <a:avLst/>
          </a:prstGeom>
          <a:solidFill>
            <a:schemeClr val="accent1"/>
          </a:solidFill>
          <a:ln/>
        </p:spPr>
      </p:sp>
      <p:pic>
        <p:nvPicPr>
          <p:cNvPr id="14" name="rule-icon-3" descr="preencoded.png">    </p:cNvPr>
          <p:cNvPicPr>
            <a:picLocks noChangeAspect="1"/>
          </p:cNvPicPr>
          <p:nvPr/>
        </p:nvPicPr>
        <p:blipFill>
          <a:blip r:embed="rId3"/>
          <a:stretch>
            <a:fillRect/>
          </a:stretch>
        </p:blipFill>
        <p:spPr>
          <a:xfrm>
            <a:off x="10986516" y="4052621"/>
            <a:ext cx="307238" cy="307238"/>
          </a:xfrm>
          <a:prstGeom prst="rect">
            <a:avLst/>
          </a:prstGeom>
        </p:spPr>
      </p:pic>
      <p:sp>
        <p:nvSpPr>
          <p:cNvPr id="15" name="Text 10"/>
          <p:cNvSpPr txBox="1"/>
          <p:nvPr/>
        </p:nvSpPr>
        <p:spPr>
          <a:xfrm>
            <a:off x="822960" y="3886200"/>
            <a:ext cx="9814255" cy="640080"/>
          </a:xfrm>
          <a:prstGeom prst="rect">
            <a:avLst/>
          </a:prstGeom>
          <a:noFill/>
          <a:ln/>
        </p:spPr>
        <p:txBody>
          <a:bodyPr wrap="square" lIns="0" tIns="0" rIns="0" bIns="0" rtlCol="0" anchor="ctr"/>
          <a:lstStyle/>
          <a:p>
            <a:pPr rtl="1" algn="r" indent="0" marL="0">
              <a:buNone/>
            </a:pPr>
            <a:r>
              <a:rPr lang="ar-IQ" altLang="en-US" sz="1700" b="1" dirty="0">
                <a:solidFill>
                  <a:schemeClr val="tx1"/>
                </a:solidFill>
              </a:rPr>
              <a:t>تنبيهات دون تكرار: </a:t>
            </a:r>
            <a:pPr rtl="1" algn="r" indent="0" marL="0">
              <a:buNone/>
            </a:pPr>
            <a:r>
              <a:rPr lang="ar-IQ" altLang="en-US" sz="1700" dirty="0">
                <a:solidFill>
                  <a:schemeClr val="tx1"/>
                </a:solidFill>
              </a:rPr>
              <a:t>قبل الانتهاء وعنده، تصل إلى المسؤولين عن الإجراء التالي.</a:t>
            </a:r>
            <a:endParaRPr lang="ar-IQ" sz="1700" dirty="0"/>
          </a:p>
        </p:txBody>
      </p:sp>
      <p:sp>
        <p:nvSpPr>
          <p:cNvPr id="16" name="rule-4"/>
          <p:cNvSpPr/>
          <p:nvPr/>
        </p:nvSpPr>
        <p:spPr>
          <a:xfrm>
            <a:off x="548640" y="4837176"/>
            <a:ext cx="11094415" cy="896112"/>
          </a:xfrm>
          <a:prstGeom prst="roundRect">
            <a:avLst>
              <a:gd name="adj" fmla="val 12245"/>
            </a:avLst>
          </a:prstGeom>
          <a:solidFill>
            <a:schemeClr val="bg2"/>
          </a:solidFill>
          <a:ln/>
        </p:spPr>
      </p:sp>
      <p:sp>
        <p:nvSpPr>
          <p:cNvPr id="17" name="rule-icon-4-circle"/>
          <p:cNvSpPr/>
          <p:nvPr/>
        </p:nvSpPr>
        <p:spPr>
          <a:xfrm>
            <a:off x="10865815" y="5010912"/>
            <a:ext cx="548640" cy="548640"/>
          </a:xfrm>
          <a:prstGeom prst="ellipse">
            <a:avLst/>
          </a:prstGeom>
          <a:solidFill>
            <a:schemeClr val="accent1"/>
          </a:solidFill>
          <a:ln/>
        </p:spPr>
      </p:sp>
      <p:pic>
        <p:nvPicPr>
          <p:cNvPr id="18" name="rule-icon-4" descr="preencoded.png">    </p:cNvPr>
          <p:cNvPicPr>
            <a:picLocks noChangeAspect="1"/>
          </p:cNvPicPr>
          <p:nvPr/>
        </p:nvPicPr>
        <p:blipFill>
          <a:blip r:embed="rId4"/>
          <a:stretch>
            <a:fillRect/>
          </a:stretch>
        </p:blipFill>
        <p:spPr>
          <a:xfrm>
            <a:off x="10986516" y="5131613"/>
            <a:ext cx="307238" cy="307238"/>
          </a:xfrm>
          <a:prstGeom prst="rect">
            <a:avLst/>
          </a:prstGeom>
        </p:spPr>
      </p:pic>
      <p:sp>
        <p:nvSpPr>
          <p:cNvPr id="19" name="Text 13"/>
          <p:cNvSpPr txBox="1"/>
          <p:nvPr/>
        </p:nvSpPr>
        <p:spPr>
          <a:xfrm>
            <a:off x="822960" y="4965192"/>
            <a:ext cx="9814255" cy="640080"/>
          </a:xfrm>
          <a:prstGeom prst="rect">
            <a:avLst/>
          </a:prstGeom>
          <a:noFill/>
          <a:ln/>
        </p:spPr>
        <p:txBody>
          <a:bodyPr wrap="square" lIns="0" tIns="0" rIns="0" bIns="0" rtlCol="0" anchor="ctr"/>
          <a:lstStyle/>
          <a:p>
            <a:pPr rtl="1" algn="r" indent="0" marL="0">
              <a:buNone/>
            </a:pPr>
            <a:r>
              <a:rPr lang="ar-IQ" altLang="en-US" sz="1700" b="1" dirty="0">
                <a:solidFill>
                  <a:schemeClr val="tx1"/>
                </a:solidFill>
              </a:rPr>
              <a:t>لا مدة مخترعة: </a:t>
            </a:r>
            <a:pPr rtl="1" algn="r" indent="0" marL="0">
              <a:buNone/>
            </a:pPr>
            <a:r>
              <a:rPr lang="ar-IQ" altLang="en-US" sz="1700" dirty="0">
                <a:solidFill>
                  <a:schemeClr val="tx1"/>
                </a:solidFill>
              </a:rPr>
              <a:t>إن لم توجد قاعدة سارية تبقى المدة «بانتظار المراجعة» حتى تُعتمد قاعدة.</a:t>
            </a:r>
            <a:endParaRPr lang="ar-IQ" sz="17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مساران موثّقان حتى النتيجة النهائية</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بعد التبليغ</a:t>
            </a:r>
            <a:endParaRPr lang="ar-IQ" sz="1300" dirty="0"/>
          </a:p>
        </p:txBody>
      </p:sp>
      <p:sp>
        <p:nvSpPr>
          <p:cNvPr id="4" name="response"/>
          <p:cNvSpPr/>
          <p:nvPr/>
        </p:nvSpPr>
        <p:spPr>
          <a:xfrm>
            <a:off x="6278728" y="1600200"/>
            <a:ext cx="5364328" cy="4160520"/>
          </a:xfrm>
          <a:prstGeom prst="roundRect">
            <a:avLst>
              <a:gd name="adj" fmla="val 2637"/>
            </a:avLst>
          </a:prstGeom>
          <a:solidFill>
            <a:schemeClr val="bg2"/>
          </a:solidFill>
          <a:ln/>
        </p:spPr>
      </p:sp>
      <p:sp>
        <p:nvSpPr>
          <p:cNvPr id="5" name="Text 3"/>
          <p:cNvSpPr txBox="1"/>
          <p:nvPr/>
        </p:nvSpPr>
        <p:spPr>
          <a:xfrm>
            <a:off x="6644488" y="1874520"/>
            <a:ext cx="4632808" cy="502920"/>
          </a:xfrm>
          <a:prstGeom prst="rect">
            <a:avLst/>
          </a:prstGeom>
          <a:noFill/>
          <a:ln/>
        </p:spPr>
        <p:txBody>
          <a:bodyPr wrap="square" lIns="0" tIns="0" rIns="0" bIns="0" rtlCol="0" anchor="t"/>
          <a:lstStyle/>
          <a:p>
            <a:pPr rtl="1" algn="r" indent="0" marL="0">
              <a:buNone/>
            </a:pPr>
            <a:r>
              <a:rPr lang="ar-IQ" altLang="en-US" sz="2100" b="1" dirty="0">
                <a:solidFill>
                  <a:schemeClr val="tx1"/>
                </a:solidFill>
              </a:rPr>
              <a:t>عند الاستجابة</a:t>
            </a:r>
            <a:endParaRPr lang="ar-IQ" sz="2100" dirty="0"/>
          </a:p>
        </p:txBody>
      </p:sp>
      <p:sp>
        <p:nvSpPr>
          <p:cNvPr id="6" name="Text 4"/>
          <p:cNvSpPr txBox="1"/>
          <p:nvPr/>
        </p:nvSpPr>
        <p:spPr>
          <a:xfrm>
            <a:off x="6644488" y="2514600"/>
            <a:ext cx="4632808" cy="2971800"/>
          </a:xfrm>
          <a:prstGeom prst="rect">
            <a:avLst/>
          </a:prstGeom>
          <a:noFill/>
          <a:ln/>
        </p:spPr>
        <p:txBody>
          <a:bodyPr wrap="square" lIns="0" tIns="0" rIns="0" bIns="0" rtlCol="0" anchor="t"/>
          <a:lstStyle/>
          <a:p>
            <a:pPr rtl="1" algn="r" marL="342900" indent="-342900">
              <a:spcAft>
                <a:spcPts val="1200"/>
              </a:spcAft>
              <a:buSzPct val="100000"/>
              <a:buChar char="•"/>
            </a:pPr>
            <a:r>
              <a:rPr lang="ar-IQ" altLang="en-US" sz="1500" b="1" dirty="0">
                <a:solidFill>
                  <a:schemeClr val="accent2"/>
                </a:solidFill>
              </a:rPr>
              <a:t>مالية: </a:t>
            </a:r>
            <a:pPr rtl="1" algn="r" indent="0" marL="0">
              <a:spcAft>
                <a:spcPts val="1200"/>
              </a:spcAft>
              <a:buNone/>
            </a:pPr>
            <a:r>
              <a:rPr lang="ar-IQ" altLang="en-US" sz="1500" dirty="0">
                <a:solidFill>
                  <a:schemeClr val="accent2"/>
                </a:solidFill>
              </a:rPr>
              <a:t>المبلغ المستحق من سند معتمد، وتسديد جزئي ومتعدد، ومنع التجاوز إلا بصلاحية.</a:t>
            </a:r>
            <a:endParaRPr lang="ar-IQ" sz="1500" dirty="0"/>
          </a:p>
          <a:p>
            <a:pPr rtl="1" algn="r" marL="342900" indent="-342900">
              <a:spcAft>
                <a:spcPts val="1200"/>
              </a:spcAft>
              <a:buSzPct val="100000"/>
              <a:buChar char="•"/>
            </a:pPr>
            <a:r>
              <a:rPr lang="ar-IQ" altLang="en-US" sz="1500" b="1" dirty="0">
                <a:solidFill>
                  <a:schemeClr val="accent2"/>
                </a:solidFill>
              </a:rPr>
              <a:t>فنية أو قانونية: </a:t>
            </a:r>
            <a:pPr rtl="1" algn="r" indent="0" marL="0">
              <a:spcAft>
                <a:spcPts val="1200"/>
              </a:spcAft>
              <a:buNone/>
            </a:pPr>
            <a:r>
              <a:rPr lang="ar-IQ" altLang="en-US" sz="1500" dirty="0">
                <a:solidFill>
                  <a:schemeClr val="accent2"/>
                </a:solidFill>
              </a:rPr>
              <a:t>تحقق القسم المختص ورأيه قبل القرار.</a:t>
            </a:r>
            <a:endParaRPr lang="ar-IQ" sz="1500" dirty="0"/>
          </a:p>
          <a:p>
            <a:pPr rtl="1" algn="r" marL="342900" indent="-342900">
              <a:spcAft>
                <a:spcPts val="1200"/>
              </a:spcAft>
              <a:buSzPct val="100000"/>
              <a:buChar char="•"/>
            </a:pPr>
            <a:r>
              <a:rPr lang="ar-IQ" altLang="en-US" sz="1500" b="1" dirty="0">
                <a:solidFill>
                  <a:schemeClr val="accent2"/>
                </a:solidFill>
              </a:rPr>
              <a:t>إزالة المخالفة: </a:t>
            </a:r>
            <a:pPr rtl="1" algn="r" indent="0" marL="0">
              <a:spcAft>
                <a:spcPts val="1200"/>
              </a:spcAft>
              <a:buNone/>
            </a:pPr>
            <a:r>
              <a:rPr lang="ar-IQ" altLang="en-US" sz="1500" dirty="0">
                <a:solidFill>
                  <a:schemeClr val="accent2"/>
                </a:solidFill>
              </a:rPr>
              <a:t>بأدلة واعتماد.</a:t>
            </a:r>
            <a:endParaRPr lang="ar-IQ" sz="1500" dirty="0"/>
          </a:p>
          <a:p>
            <a:pPr rtl="1" algn="r" marL="342900" indent="-342900">
              <a:spcAft>
                <a:spcPts val="1200"/>
              </a:spcAft>
              <a:buSzPct val="100000"/>
              <a:buChar char="•"/>
            </a:pPr>
            <a:r>
              <a:rPr lang="ar-IQ" altLang="en-US" sz="1500" b="1" dirty="0">
                <a:solidFill>
                  <a:schemeClr val="accent2"/>
                </a:solidFill>
              </a:rPr>
              <a:t>اعتراض أو طعن: </a:t>
            </a:r>
            <a:pPr rtl="1" algn="r" indent="0" marL="0">
              <a:spcAft>
                <a:spcPts val="1200"/>
              </a:spcAft>
              <a:buNone/>
            </a:pPr>
            <a:r>
              <a:rPr lang="ar-IQ" altLang="en-US" sz="1500" dirty="0">
                <a:solidFill>
                  <a:schemeClr val="accent2"/>
                </a:solidFill>
              </a:rPr>
              <a:t>يُسجَّل بمستنداته، وأثره على المدة بحسب القاعدة.</a:t>
            </a:r>
            <a:endParaRPr lang="ar-IQ" sz="1500" dirty="0"/>
          </a:p>
        </p:txBody>
      </p:sp>
      <p:sp>
        <p:nvSpPr>
          <p:cNvPr id="7" name="no-response"/>
          <p:cNvSpPr/>
          <p:nvPr/>
        </p:nvSpPr>
        <p:spPr>
          <a:xfrm>
            <a:off x="548640" y="1600200"/>
            <a:ext cx="5364328" cy="4160520"/>
          </a:xfrm>
          <a:prstGeom prst="roundRect">
            <a:avLst>
              <a:gd name="adj" fmla="val 2637"/>
            </a:avLst>
          </a:prstGeom>
          <a:solidFill>
            <a:schemeClr val="tx1"/>
          </a:solidFill>
          <a:ln/>
        </p:spPr>
      </p:sp>
      <p:sp>
        <p:nvSpPr>
          <p:cNvPr id="8" name="Text 6"/>
          <p:cNvSpPr txBox="1"/>
          <p:nvPr/>
        </p:nvSpPr>
        <p:spPr>
          <a:xfrm>
            <a:off x="914400" y="1874520"/>
            <a:ext cx="4632808" cy="502920"/>
          </a:xfrm>
          <a:prstGeom prst="rect">
            <a:avLst/>
          </a:prstGeom>
          <a:noFill/>
          <a:ln/>
        </p:spPr>
        <p:txBody>
          <a:bodyPr wrap="square" lIns="0" tIns="0" rIns="0" bIns="0" rtlCol="0" anchor="t"/>
          <a:lstStyle/>
          <a:p>
            <a:pPr rtl="1" algn="r" indent="0" marL="0">
              <a:buNone/>
            </a:pPr>
            <a:r>
              <a:rPr lang="ar-IQ" altLang="en-US" sz="2100" b="1" dirty="0">
                <a:solidFill>
                  <a:schemeClr val="bg1"/>
                </a:solidFill>
              </a:rPr>
              <a:t>عند عدم الاستجابة</a:t>
            </a:r>
            <a:endParaRPr lang="ar-IQ" sz="2100" dirty="0"/>
          </a:p>
        </p:txBody>
      </p:sp>
      <p:sp>
        <p:nvSpPr>
          <p:cNvPr id="9" name="Text 7"/>
          <p:cNvSpPr txBox="1"/>
          <p:nvPr/>
        </p:nvSpPr>
        <p:spPr>
          <a:xfrm>
            <a:off x="914400" y="2514600"/>
            <a:ext cx="4632808" cy="2971800"/>
          </a:xfrm>
          <a:prstGeom prst="rect">
            <a:avLst/>
          </a:prstGeom>
          <a:noFill/>
          <a:ln/>
        </p:spPr>
        <p:txBody>
          <a:bodyPr wrap="square" lIns="0" tIns="0" rIns="0" bIns="0" rtlCol="0" anchor="t"/>
          <a:lstStyle/>
          <a:p>
            <a:pPr rtl="1" algn="r" marL="342900" indent="-342900">
              <a:spcAft>
                <a:spcPts val="1200"/>
              </a:spcAft>
              <a:buSzPct val="100000"/>
              <a:buChar char="•"/>
            </a:pPr>
            <a:r>
              <a:rPr lang="ar-IQ" altLang="en-US" sz="1500" b="1" dirty="0">
                <a:solidFill>
                  <a:srgbClr val="D5D9E6"/>
                </a:solidFill>
              </a:rPr>
              <a:t>إثبات عدم الاستجابة </a:t>
            </a:r>
            <a:pPr rtl="1" algn="r" indent="0" marL="0">
              <a:spcAft>
                <a:spcPts val="1200"/>
              </a:spcAft>
              <a:buNone/>
            </a:pPr>
            <a:r>
              <a:rPr lang="ar-IQ" altLang="en-US" sz="1500" dirty="0">
                <a:solidFill>
                  <a:srgbClr val="D5D9E6"/>
                </a:solidFill>
              </a:rPr>
              <a:t>بعد انتهاء المدة فعلاً، ثم اعتماده من غير مقدّمه.</a:t>
            </a:r>
            <a:endParaRPr lang="ar-IQ" sz="1500" dirty="0"/>
          </a:p>
          <a:p>
            <a:pPr rtl="1" algn="r" marL="342900" indent="-342900">
              <a:spcAft>
                <a:spcPts val="1200"/>
              </a:spcAft>
              <a:buSzPct val="100000"/>
              <a:buChar char="•"/>
            </a:pPr>
            <a:r>
              <a:rPr lang="ar-IQ" altLang="en-US" sz="1500" b="1" dirty="0">
                <a:solidFill>
                  <a:srgbClr val="D5D9E6"/>
                </a:solidFill>
              </a:rPr>
              <a:t>ملف دعوى جزائية </a:t>
            </a:r>
            <a:pPr rtl="1" algn="r" indent="0" marL="0">
              <a:spcAft>
                <a:spcPts val="1200"/>
              </a:spcAft>
              <a:buNone/>
            </a:pPr>
            <a:r>
              <a:rPr lang="ar-IQ" altLang="en-US" sz="1500" dirty="0">
                <a:solidFill>
                  <a:srgbClr val="D5D9E6"/>
                </a:solidFill>
              </a:rPr>
              <a:t>برقم مستقل، والإحالة بمستندها، ومتابعة الجلسات.</a:t>
            </a:r>
            <a:endParaRPr lang="ar-IQ" sz="1500" dirty="0"/>
          </a:p>
          <a:p>
            <a:pPr rtl="1" algn="r" marL="342900" indent="-342900">
              <a:spcAft>
                <a:spcPts val="1200"/>
              </a:spcAft>
              <a:buSzPct val="100000"/>
              <a:buChar char="•"/>
            </a:pPr>
            <a:r>
              <a:rPr lang="ar-IQ" altLang="en-US" sz="1500" b="1" dirty="0">
                <a:solidFill>
                  <a:srgbClr val="D5D9E6"/>
                </a:solidFill>
              </a:rPr>
              <a:t>الحكم القضائي </a:t>
            </a:r>
            <a:pPr rtl="1" algn="r" indent="0" marL="0">
              <a:spcAft>
                <a:spcPts val="1200"/>
              </a:spcAft>
              <a:buNone/>
            </a:pPr>
            <a:r>
              <a:rPr lang="ar-IQ" altLang="en-US" sz="1500" dirty="0">
                <a:solidFill>
                  <a:srgbClr val="D5D9E6"/>
                </a:solidFill>
              </a:rPr>
              <a:t>بنسخته واعتماده، وغير القطعي يمنع الإغلاق.</a:t>
            </a:r>
            <a:endParaRPr lang="ar-IQ" sz="1500" dirty="0"/>
          </a:p>
          <a:p>
            <a:pPr rtl="1" algn="r" marL="342900" indent="-342900">
              <a:spcAft>
                <a:spcPts val="1200"/>
              </a:spcAft>
              <a:buSzPct val="100000"/>
              <a:buChar char="•"/>
            </a:pPr>
            <a:r>
              <a:rPr lang="ar-IQ" altLang="en-US" sz="1500" b="1" dirty="0">
                <a:solidFill>
                  <a:srgbClr val="D5D9E6"/>
                </a:solidFill>
              </a:rPr>
              <a:t>إعادة الفتح </a:t>
            </a:r>
            <a:pPr rtl="1" algn="r" indent="0" marL="0">
              <a:spcAft>
                <a:spcPts val="1200"/>
              </a:spcAft>
              <a:buNone/>
            </a:pPr>
            <a:r>
              <a:rPr lang="ar-IQ" altLang="en-US" sz="1500" dirty="0">
                <a:solidFill>
                  <a:srgbClr val="D5D9E6"/>
                </a:solidFill>
              </a:rPr>
              <a:t>بصلاحية خاصة وسبب، مع بقاء سجل الإغلاق السابق.</a:t>
            </a:r>
            <a:endParaRPr lang="ar-IQ"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كل المخالفات في قائمة واحدة قابلة للبحث</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من النسخة المنشورة</a:t>
            </a:r>
            <a:endParaRPr lang="ar-IQ" sz="1300" dirty="0"/>
          </a:p>
        </p:txBody>
      </p:sp>
      <p:sp>
        <p:nvSpPr>
          <p:cNvPr id="4" name="screenshot-frame"/>
          <p:cNvSpPr/>
          <p:nvPr/>
        </p:nvSpPr>
        <p:spPr>
          <a:xfrm>
            <a:off x="548640" y="1554480"/>
            <a:ext cx="7370064" cy="4206240"/>
          </a:xfrm>
          <a:prstGeom prst="rect">
            <a:avLst/>
          </a:prstGeom>
          <a:solidFill>
            <a:schemeClr val="bg1"/>
          </a:solidFill>
          <a:ln w="12700">
            <a:solidFill>
              <a:srgbClr val="D8DBE2"/>
            </a:solidFill>
            <a:prstDash val="solid"/>
          </a:ln>
          <a:effectLst>
            <a:outerShdw sx="100000" sy="100000" kx="0" ky="0" algn="bl" rotWithShape="0" blurRad="127000" dist="38100" dir="5400000">
              <a:srgbClr val="2A314D">
                <a:alpha val="18000"/>
              </a:srgbClr>
            </a:outerShdw>
          </a:effectLst>
        </p:spPr>
      </p:sp>
      <p:pic>
        <p:nvPicPr>
          <p:cNvPr id="5" name="screenshot" descr="لقطة من صفحة جميع المخالفات في المنصة المنشورة، تعرض أدوات البحث والفلاتر وقائمة المخالفات التجريبية بمراحلها">    </p:cNvPr>
          <p:cNvPicPr>
            <a:picLocks noChangeAspect="1"/>
          </p:cNvPicPr>
          <p:nvPr/>
        </p:nvPicPr>
        <p:blipFill>
          <a:blip r:embed="rId1"/>
          <a:stretch>
            <a:fillRect/>
          </a:stretch>
        </p:blipFill>
        <p:spPr>
          <a:xfrm>
            <a:off x="621792" y="1627632"/>
            <a:ext cx="7223760" cy="4059936"/>
          </a:xfrm>
          <a:prstGeom prst="rect">
            <a:avLst/>
          </a:prstGeom>
        </p:spPr>
      </p:pic>
      <p:sp>
        <p:nvSpPr>
          <p:cNvPr id="6" name="point-icon-1-circle"/>
          <p:cNvSpPr/>
          <p:nvPr/>
        </p:nvSpPr>
        <p:spPr>
          <a:xfrm>
            <a:off x="11140135" y="1691640"/>
            <a:ext cx="502920" cy="502920"/>
          </a:xfrm>
          <a:prstGeom prst="ellipse">
            <a:avLst/>
          </a:prstGeom>
          <a:solidFill>
            <a:schemeClr val="accent1"/>
          </a:solidFill>
          <a:ln/>
        </p:spPr>
      </p:sp>
      <p:pic>
        <p:nvPicPr>
          <p:cNvPr id="7" name="point-icon-1" descr="preencoded.png">    </p:cNvPr>
          <p:cNvPicPr>
            <a:picLocks noChangeAspect="1"/>
          </p:cNvPicPr>
          <p:nvPr/>
        </p:nvPicPr>
        <p:blipFill>
          <a:blip r:embed="rId2"/>
          <a:stretch>
            <a:fillRect/>
          </a:stretch>
        </p:blipFill>
        <p:spPr>
          <a:xfrm>
            <a:off x="11250778" y="1802282"/>
            <a:ext cx="281635" cy="281635"/>
          </a:xfrm>
          <a:prstGeom prst="rect">
            <a:avLst/>
          </a:prstGeom>
        </p:spPr>
      </p:pic>
      <p:sp>
        <p:nvSpPr>
          <p:cNvPr id="8" name="Text 4"/>
          <p:cNvSpPr txBox="1"/>
          <p:nvPr/>
        </p:nvSpPr>
        <p:spPr>
          <a:xfrm>
            <a:off x="8076895" y="1673352"/>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بحث سريع </a:t>
            </a:r>
            <a:pPr rtl="1" algn="r" indent="0" marL="0">
              <a:buNone/>
            </a:pPr>
            <a:r>
              <a:rPr lang="ar-IQ" altLang="en-US" sz="1500" dirty="0">
                <a:solidFill>
                  <a:schemeClr val="tx1"/>
                </a:solidFill>
              </a:rPr>
              <a:t>بالرقم أو الجهة أو المحضر أو الكتاب أو الإجازة.</a:t>
            </a:r>
            <a:endParaRPr lang="ar-IQ" sz="1500" dirty="0"/>
          </a:p>
        </p:txBody>
      </p:sp>
      <p:sp>
        <p:nvSpPr>
          <p:cNvPr id="9" name="point-icon-2-circle"/>
          <p:cNvSpPr/>
          <p:nvPr/>
        </p:nvSpPr>
        <p:spPr>
          <a:xfrm>
            <a:off x="11140135" y="2770632"/>
            <a:ext cx="502920" cy="502920"/>
          </a:xfrm>
          <a:prstGeom prst="ellipse">
            <a:avLst/>
          </a:prstGeom>
          <a:solidFill>
            <a:schemeClr val="accent1"/>
          </a:solidFill>
          <a:ln/>
        </p:spPr>
      </p:sp>
      <p:pic>
        <p:nvPicPr>
          <p:cNvPr id="10" name="point-icon-2" descr="preencoded.png">    </p:cNvPr>
          <p:cNvPicPr>
            <a:picLocks noChangeAspect="1"/>
          </p:cNvPicPr>
          <p:nvPr/>
        </p:nvPicPr>
        <p:blipFill>
          <a:blip r:embed="rId3"/>
          <a:stretch>
            <a:fillRect/>
          </a:stretch>
        </p:blipFill>
        <p:spPr>
          <a:xfrm>
            <a:off x="11250778" y="2881274"/>
            <a:ext cx="281635" cy="281635"/>
          </a:xfrm>
          <a:prstGeom prst="rect">
            <a:avLst/>
          </a:prstGeom>
        </p:spPr>
      </p:pic>
      <p:sp>
        <p:nvSpPr>
          <p:cNvPr id="11" name="Text 6"/>
          <p:cNvSpPr txBox="1"/>
          <p:nvPr/>
        </p:nvSpPr>
        <p:spPr>
          <a:xfrm>
            <a:off x="8076895" y="2752344"/>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فلاتر </a:t>
            </a:r>
            <a:pPr rtl="1" algn="r" indent="0" marL="0">
              <a:buNone/>
            </a:pPr>
            <a:r>
              <a:rPr lang="ar-IQ" altLang="en-US" sz="1500" dirty="0">
                <a:solidFill>
                  <a:schemeClr val="tx1"/>
                </a:solidFill>
              </a:rPr>
              <a:t>بالمحافظة والفرع والنوع والمرحلة والحالة.</a:t>
            </a:r>
            <a:endParaRPr lang="ar-IQ" sz="1500" dirty="0"/>
          </a:p>
        </p:txBody>
      </p:sp>
      <p:sp>
        <p:nvSpPr>
          <p:cNvPr id="12" name="point-icon-3-circle"/>
          <p:cNvSpPr/>
          <p:nvPr/>
        </p:nvSpPr>
        <p:spPr>
          <a:xfrm>
            <a:off x="11140135" y="3849624"/>
            <a:ext cx="502920" cy="502920"/>
          </a:xfrm>
          <a:prstGeom prst="ellipse">
            <a:avLst/>
          </a:prstGeom>
          <a:solidFill>
            <a:schemeClr val="accent1"/>
          </a:solidFill>
          <a:ln/>
        </p:spPr>
      </p:sp>
      <p:pic>
        <p:nvPicPr>
          <p:cNvPr id="13" name="point-icon-3" descr="preencoded.png">    </p:cNvPr>
          <p:cNvPicPr>
            <a:picLocks noChangeAspect="1"/>
          </p:cNvPicPr>
          <p:nvPr/>
        </p:nvPicPr>
        <p:blipFill>
          <a:blip r:embed="rId4"/>
          <a:stretch>
            <a:fillRect/>
          </a:stretch>
        </p:blipFill>
        <p:spPr>
          <a:xfrm>
            <a:off x="11250778" y="3960266"/>
            <a:ext cx="281635" cy="281635"/>
          </a:xfrm>
          <a:prstGeom prst="rect">
            <a:avLst/>
          </a:prstGeom>
        </p:spPr>
      </p:pic>
      <p:sp>
        <p:nvSpPr>
          <p:cNvPr id="14" name="Text 8"/>
          <p:cNvSpPr txBox="1"/>
          <p:nvPr/>
        </p:nvSpPr>
        <p:spPr>
          <a:xfrm>
            <a:off x="8076895" y="3831336"/>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ملف موحد </a:t>
            </a:r>
            <a:pPr rtl="1" algn="r" indent="0" marL="0">
              <a:buNone/>
            </a:pPr>
            <a:r>
              <a:rPr lang="ar-IQ" altLang="en-US" sz="1500" dirty="0">
                <a:solidFill>
                  <a:schemeClr val="tx1"/>
                </a:solidFill>
              </a:rPr>
              <a:t>لكل مخالفة: المرفقات بإصداراتها، والقرارات، وتاريخ كل انتقال.</a:t>
            </a:r>
            <a:endParaRPr lang="ar-IQ" sz="1500" dirty="0"/>
          </a:p>
        </p:txBody>
      </p:sp>
      <p:sp>
        <p:nvSpPr>
          <p:cNvPr id="15" name="point-icon-4-circle"/>
          <p:cNvSpPr/>
          <p:nvPr/>
        </p:nvSpPr>
        <p:spPr>
          <a:xfrm>
            <a:off x="11140135" y="4928616"/>
            <a:ext cx="502920" cy="502920"/>
          </a:xfrm>
          <a:prstGeom prst="ellipse">
            <a:avLst/>
          </a:prstGeom>
          <a:solidFill>
            <a:schemeClr val="accent1"/>
          </a:solidFill>
          <a:ln/>
        </p:spPr>
      </p:sp>
      <p:pic>
        <p:nvPicPr>
          <p:cNvPr id="16" name="point-icon-4" descr="preencoded.png">    </p:cNvPr>
          <p:cNvPicPr>
            <a:picLocks noChangeAspect="1"/>
          </p:cNvPicPr>
          <p:nvPr/>
        </p:nvPicPr>
        <p:blipFill>
          <a:blip r:embed="rId5"/>
          <a:stretch>
            <a:fillRect/>
          </a:stretch>
        </p:blipFill>
        <p:spPr>
          <a:xfrm>
            <a:off x="11250778" y="5039258"/>
            <a:ext cx="281635" cy="281635"/>
          </a:xfrm>
          <a:prstGeom prst="rect">
            <a:avLst/>
          </a:prstGeom>
        </p:spPr>
      </p:pic>
      <p:sp>
        <p:nvSpPr>
          <p:cNvPr id="17" name="Text 10"/>
          <p:cNvSpPr txBox="1"/>
          <p:nvPr/>
        </p:nvSpPr>
        <p:spPr>
          <a:xfrm>
            <a:off x="8076895" y="4910328"/>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البيانات التجريبية موسومة </a:t>
            </a:r>
            <a:pPr rtl="1" algn="r" indent="0" marL="0">
              <a:buNone/>
            </a:pPr>
            <a:r>
              <a:rPr lang="ar-IQ" altLang="en-US" sz="1500" dirty="0">
                <a:solidFill>
                  <a:schemeClr val="tx1"/>
                </a:solidFill>
              </a:rPr>
              <a:t>ولا تدخل الإحصاءات.</a:t>
            </a:r>
            <a:endParaRPr lang="ar-IQ"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الإنذار يصدر بهوية الهيئة ورقمها الرسمي</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من النسخة المنشورة</a:t>
            </a:r>
            <a:endParaRPr lang="ar-IQ" sz="1300" dirty="0"/>
          </a:p>
        </p:txBody>
      </p:sp>
      <p:sp>
        <p:nvSpPr>
          <p:cNvPr id="4" name="screenshot-frame"/>
          <p:cNvSpPr/>
          <p:nvPr/>
        </p:nvSpPr>
        <p:spPr>
          <a:xfrm>
            <a:off x="548640" y="1554480"/>
            <a:ext cx="4718304" cy="4315968"/>
          </a:xfrm>
          <a:prstGeom prst="rect">
            <a:avLst/>
          </a:prstGeom>
          <a:solidFill>
            <a:schemeClr val="bg1"/>
          </a:solidFill>
          <a:ln w="12700">
            <a:solidFill>
              <a:srgbClr val="D8DBE2"/>
            </a:solidFill>
            <a:prstDash val="solid"/>
          </a:ln>
          <a:effectLst>
            <a:outerShdw sx="100000" sy="100000" kx="0" ky="0" algn="bl" rotWithShape="0" blurRad="127000" dist="38100" dir="5400000">
              <a:srgbClr val="2A314D">
                <a:alpha val="18000"/>
              </a:srgbClr>
            </a:outerShdw>
          </a:effectLst>
        </p:spPr>
      </p:sp>
      <p:pic>
        <p:nvPicPr>
          <p:cNvPr id="5" name="screenshot" descr="لقطة لنسخة الطباعة من إنذار تجريبي، بشعار الهيئة والعدد والتاريخ ورقم المخالفة ونص الإنذار وخانة التوقيع">    </p:cNvPr>
          <p:cNvPicPr>
            <a:picLocks noChangeAspect="1"/>
          </p:cNvPicPr>
          <p:nvPr/>
        </p:nvPicPr>
        <p:blipFill>
          <a:blip r:embed="rId1"/>
          <a:stretch>
            <a:fillRect/>
          </a:stretch>
        </p:blipFill>
        <p:spPr>
          <a:xfrm>
            <a:off x="621792" y="1627632"/>
            <a:ext cx="4572000" cy="4169664"/>
          </a:xfrm>
          <a:prstGeom prst="rect">
            <a:avLst/>
          </a:prstGeom>
        </p:spPr>
      </p:pic>
      <p:sp>
        <p:nvSpPr>
          <p:cNvPr id="6" name="point-icon-1-circle"/>
          <p:cNvSpPr/>
          <p:nvPr/>
        </p:nvSpPr>
        <p:spPr>
          <a:xfrm>
            <a:off x="11140135" y="1691640"/>
            <a:ext cx="502920" cy="502920"/>
          </a:xfrm>
          <a:prstGeom prst="ellipse">
            <a:avLst/>
          </a:prstGeom>
          <a:solidFill>
            <a:schemeClr val="accent1"/>
          </a:solidFill>
          <a:ln/>
        </p:spPr>
      </p:sp>
      <p:pic>
        <p:nvPicPr>
          <p:cNvPr id="7" name="point-icon-1" descr="preencoded.png">    </p:cNvPr>
          <p:cNvPicPr>
            <a:picLocks noChangeAspect="1"/>
          </p:cNvPicPr>
          <p:nvPr/>
        </p:nvPicPr>
        <p:blipFill>
          <a:blip r:embed="rId2"/>
          <a:stretch>
            <a:fillRect/>
          </a:stretch>
        </p:blipFill>
        <p:spPr>
          <a:xfrm>
            <a:off x="11250778" y="1802282"/>
            <a:ext cx="281635" cy="281635"/>
          </a:xfrm>
          <a:prstGeom prst="rect">
            <a:avLst/>
          </a:prstGeom>
        </p:spPr>
      </p:pic>
      <p:sp>
        <p:nvSpPr>
          <p:cNvPr id="8" name="Text 4"/>
          <p:cNvSpPr txBox="1"/>
          <p:nvPr/>
        </p:nvSpPr>
        <p:spPr>
          <a:xfrm>
            <a:off x="8076895" y="1673352"/>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قالب معتمد </a:t>
            </a:r>
            <a:pPr rtl="1" algn="r" indent="0" marL="0">
              <a:buNone/>
            </a:pPr>
            <a:r>
              <a:rPr lang="ar-IQ" altLang="en-US" sz="1500" dirty="0">
                <a:solidFill>
                  <a:schemeClr val="tx1"/>
                </a:solidFill>
              </a:rPr>
              <a:t>تديره الدائرة القانونية، وتعديل القالب لا يغيّر إنذاراً صدر.</a:t>
            </a:r>
            <a:endParaRPr lang="ar-IQ" sz="1500" dirty="0"/>
          </a:p>
        </p:txBody>
      </p:sp>
      <p:sp>
        <p:nvSpPr>
          <p:cNvPr id="9" name="point-icon-2-circle"/>
          <p:cNvSpPr/>
          <p:nvPr/>
        </p:nvSpPr>
        <p:spPr>
          <a:xfrm>
            <a:off x="11140135" y="2770632"/>
            <a:ext cx="502920" cy="502920"/>
          </a:xfrm>
          <a:prstGeom prst="ellipse">
            <a:avLst/>
          </a:prstGeom>
          <a:solidFill>
            <a:schemeClr val="accent1"/>
          </a:solidFill>
          <a:ln/>
        </p:spPr>
      </p:sp>
      <p:pic>
        <p:nvPicPr>
          <p:cNvPr id="10" name="point-icon-2" descr="preencoded.png">    </p:cNvPr>
          <p:cNvPicPr>
            <a:picLocks noChangeAspect="1"/>
          </p:cNvPicPr>
          <p:nvPr/>
        </p:nvPicPr>
        <p:blipFill>
          <a:blip r:embed="rId3"/>
          <a:stretch>
            <a:fillRect/>
          </a:stretch>
        </p:blipFill>
        <p:spPr>
          <a:xfrm>
            <a:off x="11250778" y="2881274"/>
            <a:ext cx="281635" cy="281635"/>
          </a:xfrm>
          <a:prstGeom prst="rect">
            <a:avLst/>
          </a:prstGeom>
        </p:spPr>
      </p:pic>
      <p:sp>
        <p:nvSpPr>
          <p:cNvPr id="11" name="Text 6"/>
          <p:cNvSpPr txBox="1"/>
          <p:nvPr/>
        </p:nvSpPr>
        <p:spPr>
          <a:xfrm>
            <a:off x="8076895" y="2752344"/>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طباعة PDF وتصدير Word </a:t>
            </a:r>
            <a:pPr rtl="1" algn="r" indent="0" marL="0">
              <a:buNone/>
            </a:pPr>
            <a:r>
              <a:rPr lang="ar-IQ" altLang="en-US" sz="1500" dirty="0">
                <a:solidFill>
                  <a:schemeClr val="tx1"/>
                </a:solidFill>
              </a:rPr>
              <a:t>بشعار الهيئة الرسمي.</a:t>
            </a:r>
            <a:endParaRPr lang="ar-IQ" sz="1500" dirty="0"/>
          </a:p>
        </p:txBody>
      </p:sp>
      <p:sp>
        <p:nvSpPr>
          <p:cNvPr id="12" name="point-icon-3-circle"/>
          <p:cNvSpPr/>
          <p:nvPr/>
        </p:nvSpPr>
        <p:spPr>
          <a:xfrm>
            <a:off x="11140135" y="3849624"/>
            <a:ext cx="502920" cy="502920"/>
          </a:xfrm>
          <a:prstGeom prst="ellipse">
            <a:avLst/>
          </a:prstGeom>
          <a:solidFill>
            <a:schemeClr val="accent1"/>
          </a:solidFill>
          <a:ln/>
        </p:spPr>
      </p:sp>
      <p:pic>
        <p:nvPicPr>
          <p:cNvPr id="13" name="point-icon-3" descr="preencoded.png">    </p:cNvPr>
          <p:cNvPicPr>
            <a:picLocks noChangeAspect="1"/>
          </p:cNvPicPr>
          <p:nvPr/>
        </p:nvPicPr>
        <p:blipFill>
          <a:blip r:embed="rId4"/>
          <a:stretch>
            <a:fillRect/>
          </a:stretch>
        </p:blipFill>
        <p:spPr>
          <a:xfrm>
            <a:off x="11250778" y="3960266"/>
            <a:ext cx="281635" cy="281635"/>
          </a:xfrm>
          <a:prstGeom prst="rect">
            <a:avLst/>
          </a:prstGeom>
        </p:spPr>
      </p:pic>
      <p:sp>
        <p:nvSpPr>
          <p:cNvPr id="14" name="Text 8"/>
          <p:cNvSpPr txBox="1"/>
          <p:nvPr/>
        </p:nvSpPr>
        <p:spPr>
          <a:xfrm>
            <a:off x="8076895" y="3831336"/>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النسخة الموقعة </a:t>
            </a:r>
            <a:pPr rtl="1" algn="r" indent="0" marL="0">
              <a:buNone/>
            </a:pPr>
            <a:r>
              <a:rPr lang="ar-IQ" altLang="en-US" sz="1500" dirty="0">
                <a:solidFill>
                  <a:schemeClr val="tx1"/>
                </a:solidFill>
              </a:rPr>
              <a:t>يدوياً تُرفع ضوئياً لتكون المرجع الرسمي.</a:t>
            </a:r>
            <a:endParaRPr lang="ar-IQ"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لوحة معلومات وعشرون تقريراً جاهزاً</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للإدارة العليا</a:t>
            </a:r>
            <a:endParaRPr lang="ar-IQ" sz="1300" dirty="0"/>
          </a:p>
        </p:txBody>
      </p:sp>
      <p:sp>
        <p:nvSpPr>
          <p:cNvPr id="4" name="screenshot-frame"/>
          <p:cNvSpPr/>
          <p:nvPr/>
        </p:nvSpPr>
        <p:spPr>
          <a:xfrm>
            <a:off x="548640" y="1554480"/>
            <a:ext cx="7370064" cy="4206240"/>
          </a:xfrm>
          <a:prstGeom prst="rect">
            <a:avLst/>
          </a:prstGeom>
          <a:solidFill>
            <a:schemeClr val="bg1"/>
          </a:solidFill>
          <a:ln w="12700">
            <a:solidFill>
              <a:srgbClr val="D8DBE2"/>
            </a:solidFill>
            <a:prstDash val="solid"/>
          </a:ln>
          <a:effectLst>
            <a:outerShdw sx="100000" sy="100000" kx="0" ky="0" algn="bl" rotWithShape="0" blurRad="127000" dist="38100" dir="5400000">
              <a:srgbClr val="2A314D">
                <a:alpha val="18000"/>
              </a:srgbClr>
            </a:outerShdw>
          </a:effectLst>
        </p:spPr>
      </p:sp>
      <p:pic>
        <p:nvPicPr>
          <p:cNvPr id="5" name="screenshot" descr="لقطة من صفحة التقارير والإحصائيات في المنصة المنشورة، تعرض بطاقات التقارير المرقمة">    </p:cNvPr>
          <p:cNvPicPr>
            <a:picLocks noChangeAspect="1"/>
          </p:cNvPicPr>
          <p:nvPr/>
        </p:nvPicPr>
        <p:blipFill>
          <a:blip r:embed="rId1"/>
          <a:stretch>
            <a:fillRect/>
          </a:stretch>
        </p:blipFill>
        <p:spPr>
          <a:xfrm>
            <a:off x="621792" y="1627632"/>
            <a:ext cx="7223760" cy="4059936"/>
          </a:xfrm>
          <a:prstGeom prst="rect">
            <a:avLst/>
          </a:prstGeom>
        </p:spPr>
      </p:pic>
      <p:sp>
        <p:nvSpPr>
          <p:cNvPr id="6" name="point-icon-1-circle"/>
          <p:cNvSpPr/>
          <p:nvPr/>
        </p:nvSpPr>
        <p:spPr>
          <a:xfrm>
            <a:off x="11140135" y="1691640"/>
            <a:ext cx="502920" cy="502920"/>
          </a:xfrm>
          <a:prstGeom prst="ellipse">
            <a:avLst/>
          </a:prstGeom>
          <a:solidFill>
            <a:schemeClr val="accent1"/>
          </a:solidFill>
          <a:ln/>
        </p:spPr>
      </p:sp>
      <p:pic>
        <p:nvPicPr>
          <p:cNvPr id="7" name="point-icon-1" descr="preencoded.png">    </p:cNvPr>
          <p:cNvPicPr>
            <a:picLocks noChangeAspect="1"/>
          </p:cNvPicPr>
          <p:nvPr/>
        </p:nvPicPr>
        <p:blipFill>
          <a:blip r:embed="rId2"/>
          <a:stretch>
            <a:fillRect/>
          </a:stretch>
        </p:blipFill>
        <p:spPr>
          <a:xfrm>
            <a:off x="11250778" y="1802282"/>
            <a:ext cx="281635" cy="281635"/>
          </a:xfrm>
          <a:prstGeom prst="rect">
            <a:avLst/>
          </a:prstGeom>
        </p:spPr>
      </p:pic>
      <p:sp>
        <p:nvSpPr>
          <p:cNvPr id="8" name="Text 4"/>
          <p:cNvSpPr txBox="1"/>
          <p:nvPr/>
        </p:nvSpPr>
        <p:spPr>
          <a:xfrm>
            <a:off x="8076895" y="1673352"/>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حسب </a:t>
            </a:r>
            <a:pPr rtl="1" algn="r" indent="0" marL="0">
              <a:buNone/>
            </a:pPr>
            <a:r>
              <a:rPr lang="ar-IQ" altLang="en-US" sz="1500" dirty="0">
                <a:solidFill>
                  <a:schemeClr val="tx1"/>
                </a:solidFill>
              </a:rPr>
              <a:t>المحافظة والنوع والمرحلة والفترة، والمدد المنتهية، والإنذارات، والتسديدات، والدعاوى.</a:t>
            </a:r>
            <a:endParaRPr lang="ar-IQ" sz="1500" dirty="0"/>
          </a:p>
        </p:txBody>
      </p:sp>
      <p:sp>
        <p:nvSpPr>
          <p:cNvPr id="9" name="point-icon-2-circle"/>
          <p:cNvSpPr/>
          <p:nvPr/>
        </p:nvSpPr>
        <p:spPr>
          <a:xfrm>
            <a:off x="11140135" y="2770632"/>
            <a:ext cx="502920" cy="502920"/>
          </a:xfrm>
          <a:prstGeom prst="ellipse">
            <a:avLst/>
          </a:prstGeom>
          <a:solidFill>
            <a:schemeClr val="accent1"/>
          </a:solidFill>
          <a:ln/>
        </p:spPr>
      </p:sp>
      <p:pic>
        <p:nvPicPr>
          <p:cNvPr id="10" name="point-icon-2" descr="preencoded.png">    </p:cNvPr>
          <p:cNvPicPr>
            <a:picLocks noChangeAspect="1"/>
          </p:cNvPicPr>
          <p:nvPr/>
        </p:nvPicPr>
        <p:blipFill>
          <a:blip r:embed="rId3"/>
          <a:stretch>
            <a:fillRect/>
          </a:stretch>
        </p:blipFill>
        <p:spPr>
          <a:xfrm>
            <a:off x="11250778" y="2881274"/>
            <a:ext cx="281635" cy="281635"/>
          </a:xfrm>
          <a:prstGeom prst="rect">
            <a:avLst/>
          </a:prstGeom>
        </p:spPr>
      </p:pic>
      <p:sp>
        <p:nvSpPr>
          <p:cNvPr id="11" name="Text 6"/>
          <p:cNvSpPr txBox="1"/>
          <p:nvPr/>
        </p:nvSpPr>
        <p:spPr>
          <a:xfrm>
            <a:off x="8076895" y="2752344"/>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أداء الموظفين </a:t>
            </a:r>
            <a:pPr rtl="1" algn="r" indent="0" marL="0">
              <a:buNone/>
            </a:pPr>
            <a:r>
              <a:rPr lang="ar-IQ" altLang="en-US" sz="1500" dirty="0">
                <a:solidFill>
                  <a:schemeClr val="tx1"/>
                </a:solidFill>
              </a:rPr>
              <a:t>ومدد الإنجاز بين المراحل، والجهات المتكررة المخالفة.</a:t>
            </a:r>
            <a:endParaRPr lang="ar-IQ" sz="1500" dirty="0"/>
          </a:p>
        </p:txBody>
      </p:sp>
      <p:sp>
        <p:nvSpPr>
          <p:cNvPr id="12" name="point-icon-3-circle"/>
          <p:cNvSpPr/>
          <p:nvPr/>
        </p:nvSpPr>
        <p:spPr>
          <a:xfrm>
            <a:off x="11140135" y="3849624"/>
            <a:ext cx="502920" cy="502920"/>
          </a:xfrm>
          <a:prstGeom prst="ellipse">
            <a:avLst/>
          </a:prstGeom>
          <a:solidFill>
            <a:schemeClr val="accent1"/>
          </a:solidFill>
          <a:ln/>
        </p:spPr>
      </p:sp>
      <p:pic>
        <p:nvPicPr>
          <p:cNvPr id="13" name="point-icon-3" descr="preencoded.png">    </p:cNvPr>
          <p:cNvPicPr>
            <a:picLocks noChangeAspect="1"/>
          </p:cNvPicPr>
          <p:nvPr/>
        </p:nvPicPr>
        <p:blipFill>
          <a:blip r:embed="rId4"/>
          <a:stretch>
            <a:fillRect/>
          </a:stretch>
        </p:blipFill>
        <p:spPr>
          <a:xfrm>
            <a:off x="11250778" y="3960266"/>
            <a:ext cx="281635" cy="281635"/>
          </a:xfrm>
          <a:prstGeom prst="rect">
            <a:avLst/>
          </a:prstGeom>
        </p:spPr>
      </p:pic>
      <p:sp>
        <p:nvSpPr>
          <p:cNvPr id="14" name="Text 8"/>
          <p:cNvSpPr txBox="1"/>
          <p:nvPr/>
        </p:nvSpPr>
        <p:spPr>
          <a:xfrm>
            <a:off x="8076895" y="3831336"/>
            <a:ext cx="2880360" cy="960120"/>
          </a:xfrm>
          <a:prstGeom prst="rect">
            <a:avLst/>
          </a:prstGeom>
          <a:noFill/>
          <a:ln/>
        </p:spPr>
        <p:txBody>
          <a:bodyPr wrap="square" lIns="0" tIns="0" rIns="0" bIns="0" rtlCol="0" anchor="t"/>
          <a:lstStyle/>
          <a:p>
            <a:pPr rtl="1" algn="r" indent="0" marL="0">
              <a:buNone/>
            </a:pPr>
            <a:r>
              <a:rPr lang="ar-IQ" altLang="en-US" sz="1500" b="1" dirty="0">
                <a:solidFill>
                  <a:schemeClr val="tx1"/>
                </a:solidFill>
              </a:rPr>
              <a:t>تصدير </a:t>
            </a:r>
            <a:pPr rtl="1" algn="r" indent="0" marL="0">
              <a:buNone/>
            </a:pPr>
            <a:r>
              <a:rPr lang="ar-IQ" altLang="en-US" sz="1500" dirty="0">
                <a:solidFill>
                  <a:schemeClr val="tx1"/>
                </a:solidFill>
              </a:rPr>
              <a:t>Excel وWord وPDF، وكل تصدير مسجَّل.</a:t>
            </a:r>
            <a:endParaRPr lang="ar-IQ"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أثر لا يُمحى وحماية على كل المستويات</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الحوكمة والأمن</a:t>
            </a:r>
            <a:endParaRPr lang="ar-IQ" sz="1300" dirty="0"/>
          </a:p>
        </p:txBody>
      </p:sp>
      <p:sp>
        <p:nvSpPr>
          <p:cNvPr id="4" name="control-1"/>
          <p:cNvSpPr/>
          <p:nvPr/>
        </p:nvSpPr>
        <p:spPr>
          <a:xfrm>
            <a:off x="8127797" y="1554480"/>
            <a:ext cx="3515258" cy="1965960"/>
          </a:xfrm>
          <a:prstGeom prst="roundRect">
            <a:avLst>
              <a:gd name="adj" fmla="val 5581"/>
            </a:avLst>
          </a:prstGeom>
          <a:solidFill>
            <a:schemeClr val="bg2"/>
          </a:solidFill>
          <a:ln/>
        </p:spPr>
      </p:sp>
      <p:sp>
        <p:nvSpPr>
          <p:cNvPr id="5" name="control-icon-1-circle"/>
          <p:cNvSpPr/>
          <p:nvPr/>
        </p:nvSpPr>
        <p:spPr>
          <a:xfrm>
            <a:off x="10865815" y="1828800"/>
            <a:ext cx="502920" cy="502920"/>
          </a:xfrm>
          <a:prstGeom prst="ellipse">
            <a:avLst/>
          </a:prstGeom>
          <a:solidFill>
            <a:schemeClr val="accent1"/>
          </a:solidFill>
          <a:ln/>
        </p:spPr>
      </p:sp>
      <p:pic>
        <p:nvPicPr>
          <p:cNvPr id="6" name="control-icon-1" descr="preencoded.png">    </p:cNvPr>
          <p:cNvPicPr>
            <a:picLocks noChangeAspect="1"/>
          </p:cNvPicPr>
          <p:nvPr/>
        </p:nvPicPr>
        <p:blipFill>
          <a:blip r:embed="rId1"/>
          <a:stretch>
            <a:fillRect/>
          </a:stretch>
        </p:blipFill>
        <p:spPr>
          <a:xfrm>
            <a:off x="10976458" y="1939442"/>
            <a:ext cx="281635" cy="281635"/>
          </a:xfrm>
          <a:prstGeom prst="rect">
            <a:avLst/>
          </a:prstGeom>
        </p:spPr>
      </p:pic>
      <p:sp>
        <p:nvSpPr>
          <p:cNvPr id="7" name="Text 4"/>
          <p:cNvSpPr txBox="1"/>
          <p:nvPr/>
        </p:nvSpPr>
        <p:spPr>
          <a:xfrm>
            <a:off x="8402117" y="1847088"/>
            <a:ext cx="2417978" cy="457200"/>
          </a:xfrm>
          <a:prstGeom prst="rect">
            <a:avLst/>
          </a:prstGeom>
          <a:noFill/>
          <a:ln/>
        </p:spPr>
        <p:txBody>
          <a:bodyPr wrap="square" lIns="0" tIns="0" rIns="0" bIns="0" rtlCol="0" anchor="ctr"/>
          <a:lstStyle/>
          <a:p>
            <a:pPr rtl="1" algn="r" indent="0" marL="0">
              <a:buNone/>
            </a:pPr>
            <a:r>
              <a:rPr lang="ar-IQ" altLang="en-US" sz="1800" b="1" dirty="0">
                <a:solidFill>
                  <a:schemeClr val="tx1"/>
                </a:solidFill>
              </a:rPr>
              <a:t>سجل تدقيق محمي</a:t>
            </a:r>
            <a:endParaRPr lang="ar-IQ" sz="1800" dirty="0"/>
          </a:p>
        </p:txBody>
      </p:sp>
      <p:sp>
        <p:nvSpPr>
          <p:cNvPr id="8" name="Text 5"/>
          <p:cNvSpPr txBox="1"/>
          <p:nvPr/>
        </p:nvSpPr>
        <p:spPr>
          <a:xfrm>
            <a:off x="8402117" y="2514600"/>
            <a:ext cx="2966618" cy="8686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لا يُعدَّل ولا يُحذف، وسلسلة بصمات تكشف أي عبث بقيد واحد.</a:t>
            </a:r>
            <a:endParaRPr lang="ar-IQ" sz="1400" dirty="0"/>
          </a:p>
        </p:txBody>
      </p:sp>
      <p:sp>
        <p:nvSpPr>
          <p:cNvPr id="9" name="control-2"/>
          <p:cNvSpPr/>
          <p:nvPr/>
        </p:nvSpPr>
        <p:spPr>
          <a:xfrm>
            <a:off x="4338218" y="1554480"/>
            <a:ext cx="3515258" cy="1965960"/>
          </a:xfrm>
          <a:prstGeom prst="roundRect">
            <a:avLst>
              <a:gd name="adj" fmla="val 5581"/>
            </a:avLst>
          </a:prstGeom>
          <a:solidFill>
            <a:schemeClr val="bg2"/>
          </a:solidFill>
          <a:ln/>
        </p:spPr>
      </p:sp>
      <p:sp>
        <p:nvSpPr>
          <p:cNvPr id="10" name="control-icon-2-circle"/>
          <p:cNvSpPr/>
          <p:nvPr/>
        </p:nvSpPr>
        <p:spPr>
          <a:xfrm>
            <a:off x="7076237" y="1828800"/>
            <a:ext cx="502920" cy="502920"/>
          </a:xfrm>
          <a:prstGeom prst="ellipse">
            <a:avLst/>
          </a:prstGeom>
          <a:solidFill>
            <a:schemeClr val="accent1"/>
          </a:solidFill>
          <a:ln/>
        </p:spPr>
      </p:sp>
      <p:pic>
        <p:nvPicPr>
          <p:cNvPr id="11" name="control-icon-2" descr="preencoded.png">    </p:cNvPr>
          <p:cNvPicPr>
            <a:picLocks noChangeAspect="1"/>
          </p:cNvPicPr>
          <p:nvPr/>
        </p:nvPicPr>
        <p:blipFill>
          <a:blip r:embed="rId2"/>
          <a:stretch>
            <a:fillRect/>
          </a:stretch>
        </p:blipFill>
        <p:spPr>
          <a:xfrm>
            <a:off x="7186879" y="1939442"/>
            <a:ext cx="281635" cy="281635"/>
          </a:xfrm>
          <a:prstGeom prst="rect">
            <a:avLst/>
          </a:prstGeom>
        </p:spPr>
      </p:pic>
      <p:sp>
        <p:nvSpPr>
          <p:cNvPr id="12" name="Text 8"/>
          <p:cNvSpPr txBox="1"/>
          <p:nvPr/>
        </p:nvSpPr>
        <p:spPr>
          <a:xfrm>
            <a:off x="4612538" y="1847088"/>
            <a:ext cx="2417978" cy="457200"/>
          </a:xfrm>
          <a:prstGeom prst="rect">
            <a:avLst/>
          </a:prstGeom>
          <a:noFill/>
          <a:ln/>
        </p:spPr>
        <p:txBody>
          <a:bodyPr wrap="square" lIns="0" tIns="0" rIns="0" bIns="0" rtlCol="0" anchor="ctr"/>
          <a:lstStyle/>
          <a:p>
            <a:pPr rtl="1" algn="r" indent="0" marL="0">
              <a:buNone/>
            </a:pPr>
            <a:r>
              <a:rPr lang="ar-IQ" altLang="en-US" sz="1800" b="1" dirty="0">
                <a:solidFill>
                  <a:schemeClr val="tx1"/>
                </a:solidFill>
              </a:rPr>
              <a:t>حماية في قاعدة البيانات</a:t>
            </a:r>
            <a:endParaRPr lang="ar-IQ" sz="1800" dirty="0"/>
          </a:p>
        </p:txBody>
      </p:sp>
      <p:sp>
        <p:nvSpPr>
          <p:cNvPr id="13" name="Text 9"/>
          <p:cNvSpPr txBox="1"/>
          <p:nvPr/>
        </p:nvSpPr>
        <p:spPr>
          <a:xfrm>
            <a:off x="4612538" y="2514600"/>
            <a:ext cx="2966618" cy="8686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التطبيق يعمل بحساب محدود لا يستطيع تعديل السجلات المحمية.</a:t>
            </a:r>
            <a:endParaRPr lang="ar-IQ" sz="1400" dirty="0"/>
          </a:p>
        </p:txBody>
      </p:sp>
      <p:sp>
        <p:nvSpPr>
          <p:cNvPr id="14" name="control-3"/>
          <p:cNvSpPr/>
          <p:nvPr/>
        </p:nvSpPr>
        <p:spPr>
          <a:xfrm>
            <a:off x="548640" y="1554480"/>
            <a:ext cx="3515258" cy="1965960"/>
          </a:xfrm>
          <a:prstGeom prst="roundRect">
            <a:avLst>
              <a:gd name="adj" fmla="val 5581"/>
            </a:avLst>
          </a:prstGeom>
          <a:solidFill>
            <a:schemeClr val="bg2"/>
          </a:solidFill>
          <a:ln/>
        </p:spPr>
      </p:sp>
      <p:sp>
        <p:nvSpPr>
          <p:cNvPr id="15" name="control-icon-3-circle"/>
          <p:cNvSpPr/>
          <p:nvPr/>
        </p:nvSpPr>
        <p:spPr>
          <a:xfrm>
            <a:off x="3286658" y="1828800"/>
            <a:ext cx="502920" cy="502920"/>
          </a:xfrm>
          <a:prstGeom prst="ellipse">
            <a:avLst/>
          </a:prstGeom>
          <a:solidFill>
            <a:schemeClr val="accent1"/>
          </a:solidFill>
          <a:ln/>
        </p:spPr>
      </p:sp>
      <p:pic>
        <p:nvPicPr>
          <p:cNvPr id="16" name="control-icon-3" descr="preencoded.png">    </p:cNvPr>
          <p:cNvPicPr>
            <a:picLocks noChangeAspect="1"/>
          </p:cNvPicPr>
          <p:nvPr/>
        </p:nvPicPr>
        <p:blipFill>
          <a:blip r:embed="rId3"/>
          <a:stretch>
            <a:fillRect/>
          </a:stretch>
        </p:blipFill>
        <p:spPr>
          <a:xfrm>
            <a:off x="3397301" y="1939442"/>
            <a:ext cx="281635" cy="281635"/>
          </a:xfrm>
          <a:prstGeom prst="rect">
            <a:avLst/>
          </a:prstGeom>
        </p:spPr>
      </p:pic>
      <p:sp>
        <p:nvSpPr>
          <p:cNvPr id="17" name="Text 12"/>
          <p:cNvSpPr txBox="1"/>
          <p:nvPr/>
        </p:nvSpPr>
        <p:spPr>
          <a:xfrm>
            <a:off x="822960" y="1847088"/>
            <a:ext cx="2417978" cy="457200"/>
          </a:xfrm>
          <a:prstGeom prst="rect">
            <a:avLst/>
          </a:prstGeom>
          <a:noFill/>
          <a:ln/>
        </p:spPr>
        <p:txBody>
          <a:bodyPr wrap="square" lIns="0" tIns="0" rIns="0" bIns="0" rtlCol="0" anchor="ctr"/>
          <a:lstStyle/>
          <a:p>
            <a:pPr rtl="1" algn="r" indent="0" marL="0">
              <a:buNone/>
            </a:pPr>
            <a:r>
              <a:rPr lang="ar-IQ" altLang="en-US" sz="1800" b="1" dirty="0">
                <a:solidFill>
                  <a:schemeClr val="tx1"/>
                </a:solidFill>
              </a:rPr>
              <a:t>دخول آمن</a:t>
            </a:r>
            <a:endParaRPr lang="ar-IQ" sz="1800" dirty="0"/>
          </a:p>
        </p:txBody>
      </p:sp>
      <p:sp>
        <p:nvSpPr>
          <p:cNvPr id="18" name="Text 13"/>
          <p:cNvSpPr txBox="1"/>
          <p:nvPr/>
        </p:nvSpPr>
        <p:spPr>
          <a:xfrm>
            <a:off x="822960" y="2514600"/>
            <a:ext cx="2966618" cy="8686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تشفير كلمات المرور، وقفل بعد 5 محاولات فاشلة، وإنهاء الجلسة الخاملة.</a:t>
            </a:r>
            <a:endParaRPr lang="ar-IQ" sz="1400" dirty="0"/>
          </a:p>
        </p:txBody>
      </p:sp>
      <p:sp>
        <p:nvSpPr>
          <p:cNvPr id="19" name="control-4"/>
          <p:cNvSpPr/>
          <p:nvPr/>
        </p:nvSpPr>
        <p:spPr>
          <a:xfrm>
            <a:off x="8127797" y="3794760"/>
            <a:ext cx="3515258" cy="1965960"/>
          </a:xfrm>
          <a:prstGeom prst="roundRect">
            <a:avLst>
              <a:gd name="adj" fmla="val 5581"/>
            </a:avLst>
          </a:prstGeom>
          <a:solidFill>
            <a:schemeClr val="bg2"/>
          </a:solidFill>
          <a:ln/>
        </p:spPr>
      </p:sp>
      <p:sp>
        <p:nvSpPr>
          <p:cNvPr id="20" name="control-icon-4-circle"/>
          <p:cNvSpPr/>
          <p:nvPr/>
        </p:nvSpPr>
        <p:spPr>
          <a:xfrm>
            <a:off x="10865815" y="4069080"/>
            <a:ext cx="502920" cy="502920"/>
          </a:xfrm>
          <a:prstGeom prst="ellipse">
            <a:avLst/>
          </a:prstGeom>
          <a:solidFill>
            <a:schemeClr val="accent1"/>
          </a:solidFill>
          <a:ln/>
        </p:spPr>
      </p:sp>
      <p:pic>
        <p:nvPicPr>
          <p:cNvPr id="21" name="control-icon-4" descr="preencoded.png">    </p:cNvPr>
          <p:cNvPicPr>
            <a:picLocks noChangeAspect="1"/>
          </p:cNvPicPr>
          <p:nvPr/>
        </p:nvPicPr>
        <p:blipFill>
          <a:blip r:embed="rId4"/>
          <a:stretch>
            <a:fillRect/>
          </a:stretch>
        </p:blipFill>
        <p:spPr>
          <a:xfrm>
            <a:off x="10976458" y="4179722"/>
            <a:ext cx="281635" cy="281635"/>
          </a:xfrm>
          <a:prstGeom prst="rect">
            <a:avLst/>
          </a:prstGeom>
        </p:spPr>
      </p:pic>
      <p:sp>
        <p:nvSpPr>
          <p:cNvPr id="22" name="Text 16"/>
          <p:cNvSpPr txBox="1"/>
          <p:nvPr/>
        </p:nvSpPr>
        <p:spPr>
          <a:xfrm>
            <a:off x="8402117" y="4087368"/>
            <a:ext cx="2417978" cy="457200"/>
          </a:xfrm>
          <a:prstGeom prst="rect">
            <a:avLst/>
          </a:prstGeom>
          <a:noFill/>
          <a:ln/>
        </p:spPr>
        <p:txBody>
          <a:bodyPr wrap="square" lIns="0" tIns="0" rIns="0" bIns="0" rtlCol="0" anchor="ctr"/>
          <a:lstStyle/>
          <a:p>
            <a:pPr rtl="1" algn="r" indent="0" marL="0">
              <a:buNone/>
            </a:pPr>
            <a:r>
              <a:rPr lang="ar-IQ" altLang="en-US" sz="1800" b="1" dirty="0">
                <a:solidFill>
                  <a:schemeClr val="tx1"/>
                </a:solidFill>
              </a:rPr>
              <a:t>مستندات موثوقة</a:t>
            </a:r>
            <a:endParaRPr lang="ar-IQ" sz="1800" dirty="0"/>
          </a:p>
        </p:txBody>
      </p:sp>
      <p:sp>
        <p:nvSpPr>
          <p:cNvPr id="23" name="Text 17"/>
          <p:cNvSpPr txBox="1"/>
          <p:nvPr/>
        </p:nvSpPr>
        <p:spPr>
          <a:xfrm>
            <a:off x="8402117" y="4754880"/>
            <a:ext cx="2966618" cy="8686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فحص النوع الحقيقي للملف، وبصمة لكل إصدار، وسحب بسبب بدل الحذف.</a:t>
            </a:r>
            <a:endParaRPr lang="ar-IQ" sz="1400" dirty="0"/>
          </a:p>
        </p:txBody>
      </p:sp>
      <p:sp>
        <p:nvSpPr>
          <p:cNvPr id="24" name="control-5"/>
          <p:cNvSpPr/>
          <p:nvPr/>
        </p:nvSpPr>
        <p:spPr>
          <a:xfrm>
            <a:off x="4338218" y="3794760"/>
            <a:ext cx="3515258" cy="1965960"/>
          </a:xfrm>
          <a:prstGeom prst="roundRect">
            <a:avLst>
              <a:gd name="adj" fmla="val 5581"/>
            </a:avLst>
          </a:prstGeom>
          <a:solidFill>
            <a:schemeClr val="bg2"/>
          </a:solidFill>
          <a:ln/>
        </p:spPr>
      </p:sp>
      <p:sp>
        <p:nvSpPr>
          <p:cNvPr id="25" name="control-icon-5-circle"/>
          <p:cNvSpPr/>
          <p:nvPr/>
        </p:nvSpPr>
        <p:spPr>
          <a:xfrm>
            <a:off x="7076237" y="4069080"/>
            <a:ext cx="502920" cy="502920"/>
          </a:xfrm>
          <a:prstGeom prst="ellipse">
            <a:avLst/>
          </a:prstGeom>
          <a:solidFill>
            <a:schemeClr val="accent1"/>
          </a:solidFill>
          <a:ln/>
        </p:spPr>
      </p:sp>
      <p:pic>
        <p:nvPicPr>
          <p:cNvPr id="26" name="control-icon-5" descr="preencoded.png">    </p:cNvPr>
          <p:cNvPicPr>
            <a:picLocks noChangeAspect="1"/>
          </p:cNvPicPr>
          <p:nvPr/>
        </p:nvPicPr>
        <p:blipFill>
          <a:blip r:embed="rId5"/>
          <a:stretch>
            <a:fillRect/>
          </a:stretch>
        </p:blipFill>
        <p:spPr>
          <a:xfrm>
            <a:off x="7186879" y="4179722"/>
            <a:ext cx="281635" cy="281635"/>
          </a:xfrm>
          <a:prstGeom prst="rect">
            <a:avLst/>
          </a:prstGeom>
        </p:spPr>
      </p:pic>
      <p:sp>
        <p:nvSpPr>
          <p:cNvPr id="27" name="Text 20"/>
          <p:cNvSpPr txBox="1"/>
          <p:nvPr/>
        </p:nvSpPr>
        <p:spPr>
          <a:xfrm>
            <a:off x="4612538" y="4087368"/>
            <a:ext cx="2417978" cy="457200"/>
          </a:xfrm>
          <a:prstGeom prst="rect">
            <a:avLst/>
          </a:prstGeom>
          <a:noFill/>
          <a:ln/>
        </p:spPr>
        <p:txBody>
          <a:bodyPr wrap="square" lIns="0" tIns="0" rIns="0" bIns="0" rtlCol="0" anchor="ctr"/>
          <a:lstStyle/>
          <a:p>
            <a:pPr rtl="1" algn="r" indent="0" marL="0">
              <a:buNone/>
            </a:pPr>
            <a:r>
              <a:rPr lang="ar-IQ" altLang="en-US" sz="1800" b="1" dirty="0">
                <a:solidFill>
                  <a:schemeClr val="tx1"/>
                </a:solidFill>
              </a:rPr>
              <a:t>نسخ احتياطي مشفّر</a:t>
            </a:r>
            <a:endParaRPr lang="ar-IQ" sz="1800" dirty="0"/>
          </a:p>
        </p:txBody>
      </p:sp>
      <p:sp>
        <p:nvSpPr>
          <p:cNvPr id="28" name="Text 21"/>
          <p:cNvSpPr txBox="1"/>
          <p:nvPr/>
        </p:nvSpPr>
        <p:spPr>
          <a:xfrm>
            <a:off x="4612538" y="4754880"/>
            <a:ext cx="2966618" cy="8686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مع استعادة مختبرة فعلياً تتحقق من كل جدول ومن سلامة السجل.</a:t>
            </a:r>
            <a:endParaRPr lang="ar-IQ" sz="1400" dirty="0"/>
          </a:p>
        </p:txBody>
      </p:sp>
      <p:sp>
        <p:nvSpPr>
          <p:cNvPr id="29" name="control-6"/>
          <p:cNvSpPr/>
          <p:nvPr/>
        </p:nvSpPr>
        <p:spPr>
          <a:xfrm>
            <a:off x="548640" y="3794760"/>
            <a:ext cx="3515258" cy="1965960"/>
          </a:xfrm>
          <a:prstGeom prst="roundRect">
            <a:avLst>
              <a:gd name="adj" fmla="val 5581"/>
            </a:avLst>
          </a:prstGeom>
          <a:solidFill>
            <a:schemeClr val="bg2"/>
          </a:solidFill>
          <a:ln/>
        </p:spPr>
      </p:sp>
      <p:sp>
        <p:nvSpPr>
          <p:cNvPr id="30" name="control-icon-6-circle"/>
          <p:cNvSpPr/>
          <p:nvPr/>
        </p:nvSpPr>
        <p:spPr>
          <a:xfrm>
            <a:off x="3286658" y="4069080"/>
            <a:ext cx="502920" cy="502920"/>
          </a:xfrm>
          <a:prstGeom prst="ellipse">
            <a:avLst/>
          </a:prstGeom>
          <a:solidFill>
            <a:schemeClr val="accent1"/>
          </a:solidFill>
          <a:ln/>
        </p:spPr>
      </p:sp>
      <p:pic>
        <p:nvPicPr>
          <p:cNvPr id="31" name="control-icon-6" descr="preencoded.png">    </p:cNvPr>
          <p:cNvPicPr>
            <a:picLocks noChangeAspect="1"/>
          </p:cNvPicPr>
          <p:nvPr/>
        </p:nvPicPr>
        <p:blipFill>
          <a:blip r:embed="rId6"/>
          <a:stretch>
            <a:fillRect/>
          </a:stretch>
        </p:blipFill>
        <p:spPr>
          <a:xfrm>
            <a:off x="3397301" y="4179722"/>
            <a:ext cx="281635" cy="281635"/>
          </a:xfrm>
          <a:prstGeom prst="rect">
            <a:avLst/>
          </a:prstGeom>
        </p:spPr>
      </p:pic>
      <p:sp>
        <p:nvSpPr>
          <p:cNvPr id="32" name="Text 24"/>
          <p:cNvSpPr txBox="1"/>
          <p:nvPr/>
        </p:nvSpPr>
        <p:spPr>
          <a:xfrm>
            <a:off x="822960" y="4087368"/>
            <a:ext cx="2417978" cy="457200"/>
          </a:xfrm>
          <a:prstGeom prst="rect">
            <a:avLst/>
          </a:prstGeom>
          <a:noFill/>
          <a:ln/>
        </p:spPr>
        <p:txBody>
          <a:bodyPr wrap="square" lIns="0" tIns="0" rIns="0" bIns="0" rtlCol="0" anchor="ctr"/>
          <a:lstStyle/>
          <a:p>
            <a:pPr rtl="1" algn="r" indent="0" marL="0">
              <a:buNone/>
            </a:pPr>
            <a:r>
              <a:rPr lang="ar-IQ" altLang="en-US" sz="1800" b="1" dirty="0">
                <a:solidFill>
                  <a:schemeClr val="tx1"/>
                </a:solidFill>
              </a:rPr>
              <a:t>لا أسرار في الكود</a:t>
            </a:r>
            <a:endParaRPr lang="ar-IQ" sz="1800" dirty="0"/>
          </a:p>
        </p:txBody>
      </p:sp>
      <p:sp>
        <p:nvSpPr>
          <p:cNvPr id="33" name="Text 25"/>
          <p:cNvSpPr txBox="1"/>
          <p:nvPr/>
        </p:nvSpPr>
        <p:spPr>
          <a:xfrm>
            <a:off x="822960" y="4754880"/>
            <a:ext cx="2966618" cy="8686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ولا حسابات افتراضية بكلمات مرور معروفة.</a:t>
            </a:r>
            <a:endParaRPr lang="ar-IQ" sz="14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مختبرة ومنشورة وتعمل الآن</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الجودة والجاهزية</a:t>
            </a:r>
            <a:endParaRPr lang="ar-IQ" sz="1300" dirty="0"/>
          </a:p>
        </p:txBody>
      </p:sp>
      <p:sp>
        <p:nvSpPr>
          <p:cNvPr id="4" name="quality-1"/>
          <p:cNvSpPr/>
          <p:nvPr/>
        </p:nvSpPr>
        <p:spPr>
          <a:xfrm>
            <a:off x="8127797" y="1554480"/>
            <a:ext cx="3515258" cy="1737360"/>
          </a:xfrm>
          <a:prstGeom prst="roundRect">
            <a:avLst>
              <a:gd name="adj" fmla="val 6316"/>
            </a:avLst>
          </a:prstGeom>
          <a:solidFill>
            <a:schemeClr val="bg2"/>
          </a:solidFill>
          <a:ln/>
        </p:spPr>
      </p:sp>
      <p:sp>
        <p:nvSpPr>
          <p:cNvPr id="5" name="Text 3"/>
          <p:cNvSpPr txBox="1"/>
          <p:nvPr/>
        </p:nvSpPr>
        <p:spPr>
          <a:xfrm>
            <a:off x="8402117" y="1691640"/>
            <a:ext cx="2966618" cy="868680"/>
          </a:xfrm>
          <a:prstGeom prst="rect">
            <a:avLst/>
          </a:prstGeom>
          <a:noFill/>
          <a:ln/>
        </p:spPr>
        <p:txBody>
          <a:bodyPr wrap="square" lIns="0" tIns="0" rIns="0" bIns="0" rtlCol="0" anchor="ctr"/>
          <a:lstStyle/>
          <a:p>
            <a:pPr rtl="1" algn="r" indent="0" marL="0">
              <a:buNone/>
            </a:pPr>
            <a:r>
              <a:rPr lang="ar-IQ" altLang="en-US" sz="4800" b="1" dirty="0">
                <a:solidFill>
                  <a:schemeClr val="accent4"/>
                </a:solidFill>
              </a:rPr>
              <a:t>98</a:t>
            </a:r>
            <a:endParaRPr lang="ar-IQ" sz="4800" dirty="0"/>
          </a:p>
        </p:txBody>
      </p:sp>
      <p:sp>
        <p:nvSpPr>
          <p:cNvPr id="6" name="Text 4"/>
          <p:cNvSpPr txBox="1"/>
          <p:nvPr/>
        </p:nvSpPr>
        <p:spPr>
          <a:xfrm>
            <a:off x="8402117" y="2560320"/>
            <a:ext cx="2966618" cy="6400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اختباراً آلياً لمنطق العمل والصلاحيات والمدد، كلها ناجحة</a:t>
            </a:r>
            <a:endParaRPr lang="ar-IQ" sz="1400" dirty="0"/>
          </a:p>
        </p:txBody>
      </p:sp>
      <p:sp>
        <p:nvSpPr>
          <p:cNvPr id="7" name="quality-2"/>
          <p:cNvSpPr/>
          <p:nvPr/>
        </p:nvSpPr>
        <p:spPr>
          <a:xfrm>
            <a:off x="4338218" y="1554480"/>
            <a:ext cx="3515258" cy="1737360"/>
          </a:xfrm>
          <a:prstGeom prst="roundRect">
            <a:avLst>
              <a:gd name="adj" fmla="val 6316"/>
            </a:avLst>
          </a:prstGeom>
          <a:solidFill>
            <a:schemeClr val="bg2"/>
          </a:solidFill>
          <a:ln/>
        </p:spPr>
      </p:sp>
      <p:sp>
        <p:nvSpPr>
          <p:cNvPr id="8" name="Text 6"/>
          <p:cNvSpPr txBox="1"/>
          <p:nvPr/>
        </p:nvSpPr>
        <p:spPr>
          <a:xfrm>
            <a:off x="4612538" y="1691640"/>
            <a:ext cx="2966618" cy="868680"/>
          </a:xfrm>
          <a:prstGeom prst="rect">
            <a:avLst/>
          </a:prstGeom>
          <a:noFill/>
          <a:ln/>
        </p:spPr>
        <p:txBody>
          <a:bodyPr wrap="square" lIns="0" tIns="0" rIns="0" bIns="0" rtlCol="0" anchor="ctr"/>
          <a:lstStyle/>
          <a:p>
            <a:pPr rtl="1" algn="r" indent="0" marL="0">
              <a:buNone/>
            </a:pPr>
            <a:r>
              <a:rPr lang="ar-IQ" altLang="en-US" sz="4800" b="1" dirty="0">
                <a:solidFill>
                  <a:schemeClr val="accent4"/>
                </a:solidFill>
              </a:rPr>
              <a:t>24</a:t>
            </a:r>
            <a:endParaRPr lang="ar-IQ" sz="4800" dirty="0"/>
          </a:p>
        </p:txBody>
      </p:sp>
      <p:sp>
        <p:nvSpPr>
          <p:cNvPr id="9" name="Text 7"/>
          <p:cNvSpPr txBox="1"/>
          <p:nvPr/>
        </p:nvSpPr>
        <p:spPr>
          <a:xfrm>
            <a:off x="4612538" y="2560320"/>
            <a:ext cx="2966618" cy="6400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اختبار واجهة على الحاسوب والهاتف، كلها ناجحة</a:t>
            </a:r>
            <a:endParaRPr lang="ar-IQ" sz="1400" dirty="0"/>
          </a:p>
        </p:txBody>
      </p:sp>
      <p:sp>
        <p:nvSpPr>
          <p:cNvPr id="10" name="quality-3"/>
          <p:cNvSpPr/>
          <p:nvPr/>
        </p:nvSpPr>
        <p:spPr>
          <a:xfrm>
            <a:off x="548640" y="1554480"/>
            <a:ext cx="3515258" cy="1737360"/>
          </a:xfrm>
          <a:prstGeom prst="roundRect">
            <a:avLst>
              <a:gd name="adj" fmla="val 6316"/>
            </a:avLst>
          </a:prstGeom>
          <a:solidFill>
            <a:schemeClr val="bg2"/>
          </a:solidFill>
          <a:ln/>
        </p:spPr>
      </p:sp>
      <p:sp>
        <p:nvSpPr>
          <p:cNvPr id="11" name="Text 9"/>
          <p:cNvSpPr txBox="1"/>
          <p:nvPr/>
        </p:nvSpPr>
        <p:spPr>
          <a:xfrm>
            <a:off x="822960" y="1691640"/>
            <a:ext cx="2966618" cy="868680"/>
          </a:xfrm>
          <a:prstGeom prst="rect">
            <a:avLst/>
          </a:prstGeom>
          <a:noFill/>
          <a:ln/>
        </p:spPr>
        <p:txBody>
          <a:bodyPr wrap="square" lIns="0" tIns="0" rIns="0" bIns="0" rtlCol="0" anchor="ctr"/>
          <a:lstStyle/>
          <a:p>
            <a:pPr rtl="1" algn="r" indent="0" marL="0">
              <a:buNone/>
            </a:pPr>
            <a:r>
              <a:rPr lang="ar-IQ" altLang="en-US" sz="4800" b="1" dirty="0">
                <a:solidFill>
                  <a:schemeClr val="accent4"/>
                </a:solidFill>
              </a:rPr>
              <a:t>55</a:t>
            </a:r>
            <a:endParaRPr lang="ar-IQ" sz="4800" dirty="0"/>
          </a:p>
        </p:txBody>
      </p:sp>
      <p:sp>
        <p:nvSpPr>
          <p:cNvPr id="12" name="Text 10"/>
          <p:cNvSpPr txBox="1"/>
          <p:nvPr/>
        </p:nvSpPr>
        <p:spPr>
          <a:xfrm>
            <a:off x="822960" y="2560320"/>
            <a:ext cx="2966618" cy="640080"/>
          </a:xfrm>
          <a:prstGeom prst="rect">
            <a:avLst/>
          </a:prstGeom>
          <a:noFill/>
          <a:ln/>
        </p:spPr>
        <p:txBody>
          <a:bodyPr wrap="square" lIns="0" tIns="0" rIns="0" bIns="0" rtlCol="0" anchor="t"/>
          <a:lstStyle/>
          <a:p>
            <a:pPr rtl="1" algn="r" indent="0" marL="0">
              <a:buNone/>
            </a:pPr>
            <a:r>
              <a:rPr lang="ar-IQ" altLang="en-US" sz="1400" dirty="0">
                <a:solidFill>
                  <a:schemeClr val="accent2"/>
                </a:solidFill>
              </a:rPr>
              <a:t>جدولاً استُعيدت من نسخة احتياطية مطابقة تماماً</a:t>
            </a:r>
            <a:endParaRPr lang="ar-IQ" sz="1400" dirty="0"/>
          </a:p>
        </p:txBody>
      </p:sp>
      <p:sp>
        <p:nvSpPr>
          <p:cNvPr id="13" name="deployed"/>
          <p:cNvSpPr/>
          <p:nvPr/>
        </p:nvSpPr>
        <p:spPr>
          <a:xfrm>
            <a:off x="6233008" y="3566160"/>
            <a:ext cx="5410048" cy="2194560"/>
          </a:xfrm>
          <a:prstGeom prst="roundRect">
            <a:avLst>
              <a:gd name="adj" fmla="val 5000"/>
            </a:avLst>
          </a:prstGeom>
          <a:solidFill>
            <a:schemeClr val="tx1"/>
          </a:solidFill>
          <a:ln/>
        </p:spPr>
      </p:sp>
      <p:sp>
        <p:nvSpPr>
          <p:cNvPr id="14" name="Text 12"/>
          <p:cNvSpPr txBox="1"/>
          <p:nvPr/>
        </p:nvSpPr>
        <p:spPr>
          <a:xfrm>
            <a:off x="6553048" y="3840480"/>
            <a:ext cx="4769968" cy="457200"/>
          </a:xfrm>
          <a:prstGeom prst="rect">
            <a:avLst/>
          </a:prstGeom>
          <a:noFill/>
          <a:ln/>
        </p:spPr>
        <p:txBody>
          <a:bodyPr wrap="square" lIns="0" tIns="0" rIns="0" bIns="0" rtlCol="0" anchor="t"/>
          <a:lstStyle/>
          <a:p>
            <a:pPr rtl="1" algn="r" indent="0" marL="0">
              <a:buNone/>
            </a:pPr>
            <a:r>
              <a:rPr lang="ar-IQ" altLang="en-US" sz="1900" b="1" dirty="0">
                <a:solidFill>
                  <a:schemeClr val="bg1"/>
                </a:solidFill>
              </a:rPr>
              <a:t>منشورة ومُتحقَّق منها</a:t>
            </a:r>
            <a:endParaRPr lang="ar-IQ" sz="1900" dirty="0"/>
          </a:p>
        </p:txBody>
      </p:sp>
      <p:sp>
        <p:nvSpPr>
          <p:cNvPr id="15" name="Text 13"/>
          <p:cNvSpPr txBox="1"/>
          <p:nvPr/>
        </p:nvSpPr>
        <p:spPr>
          <a:xfrm>
            <a:off x="6553048" y="4389120"/>
            <a:ext cx="4769968" cy="1234440"/>
          </a:xfrm>
          <a:prstGeom prst="rect">
            <a:avLst/>
          </a:prstGeom>
          <a:noFill/>
          <a:ln/>
        </p:spPr>
        <p:txBody>
          <a:bodyPr wrap="square" lIns="0" tIns="0" rIns="0" bIns="0" rtlCol="0" anchor="t"/>
          <a:lstStyle/>
          <a:p>
            <a:pPr rtl="1" algn="r" indent="0" marL="0">
              <a:buNone/>
            </a:pPr>
            <a:r>
              <a:rPr lang="ar-IQ" altLang="en-US" sz="1400" dirty="0">
                <a:solidFill>
                  <a:srgbClr val="D5D9E6"/>
                </a:solidFill>
              </a:rPr>
              <a:t>على الإنترنت (Netlify) بقاعدة بيانات في فرانكفورت (Supabase)، مع بيانات تجريبية موسومة. جُرّب الدخول والبحث والمرفقات والتصدير وتسجيل مخالفة على النسخة المنشورة.</a:t>
            </a:r>
            <a:endParaRPr lang="ar-IQ" sz="1400" dirty="0"/>
          </a:p>
        </p:txBody>
      </p:sp>
      <p:sp>
        <p:nvSpPr>
          <p:cNvPr id="16" name="pending"/>
          <p:cNvSpPr/>
          <p:nvPr/>
        </p:nvSpPr>
        <p:spPr>
          <a:xfrm>
            <a:off x="548640" y="3566160"/>
            <a:ext cx="5410048" cy="2194560"/>
          </a:xfrm>
          <a:prstGeom prst="roundRect">
            <a:avLst>
              <a:gd name="adj" fmla="val 5000"/>
            </a:avLst>
          </a:prstGeom>
          <a:solidFill>
            <a:schemeClr val="bg1"/>
          </a:solidFill>
          <a:ln w="15875">
            <a:solidFill>
              <a:srgbClr val="2A314D"/>
            </a:solidFill>
            <a:prstDash val="solid"/>
          </a:ln>
        </p:spPr>
      </p:sp>
      <p:sp>
        <p:nvSpPr>
          <p:cNvPr id="17" name="Text 15"/>
          <p:cNvSpPr txBox="1"/>
          <p:nvPr/>
        </p:nvSpPr>
        <p:spPr>
          <a:xfrm>
            <a:off x="868680" y="3840480"/>
            <a:ext cx="4769968" cy="457200"/>
          </a:xfrm>
          <a:prstGeom prst="rect">
            <a:avLst/>
          </a:prstGeom>
          <a:noFill/>
          <a:ln/>
        </p:spPr>
        <p:txBody>
          <a:bodyPr wrap="square" lIns="0" tIns="0" rIns="0" bIns="0" rtlCol="0" anchor="t"/>
          <a:lstStyle/>
          <a:p>
            <a:pPr rtl="1" algn="r" indent="0" marL="0">
              <a:buNone/>
            </a:pPr>
            <a:r>
              <a:rPr lang="ar-IQ" altLang="en-US" sz="1900" b="1" dirty="0">
                <a:solidFill>
                  <a:schemeClr val="tx1"/>
                </a:solidFill>
              </a:rPr>
              <a:t>لم يُنجز بعد</a:t>
            </a:r>
            <a:endParaRPr lang="ar-IQ" sz="1900" dirty="0"/>
          </a:p>
        </p:txBody>
      </p:sp>
      <p:sp>
        <p:nvSpPr>
          <p:cNvPr id="18" name="Text 16"/>
          <p:cNvSpPr txBox="1"/>
          <p:nvPr/>
        </p:nvSpPr>
        <p:spPr>
          <a:xfrm>
            <a:off x="868680" y="4389120"/>
            <a:ext cx="4769968" cy="1234440"/>
          </a:xfrm>
          <a:prstGeom prst="rect">
            <a:avLst/>
          </a:prstGeom>
          <a:noFill/>
          <a:ln/>
        </p:spPr>
        <p:txBody>
          <a:bodyPr wrap="square" lIns="0" tIns="0" rIns="0" bIns="0" rtlCol="0" anchor="t"/>
          <a:lstStyle/>
          <a:p>
            <a:pPr rtl="1" algn="r" indent="0" marL="0">
              <a:buNone/>
            </a:pPr>
            <a:r>
              <a:rPr lang="ar-IQ" altLang="en-US" sz="1400" dirty="0">
                <a:solidFill>
                  <a:schemeClr val="accent2"/>
                </a:solidFill>
              </a:rPr>
              <a:t>المصادقة الثنائية، وفحص الملفات بمضاد فيروسات فعلي، وتجربة التشغيل على خادم الهيئة الداخلي. والاستجابة حالياً 3 إلى 7 ثوانٍ للصفحة.</a:t>
            </a:r>
            <a:endParaRPr lang="ar-IQ" sz="14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tx1"/>
                </a:solidFill>
              </a:rPr>
              <a:t>ست خطوات قبل إدخال بيانات حقيقية</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5"/>
                </a:solidFill>
              </a:rPr>
              <a:t>الطريق إلى التشغيل الفعلي</a:t>
            </a:r>
            <a:endParaRPr lang="ar-IQ" sz="1300" dirty="0"/>
          </a:p>
        </p:txBody>
      </p:sp>
      <p:graphicFrame>
        <p:nvGraphicFramePr>
          <p:cNvPr id="14" name="golive-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7068312"/>
                <a:gridCol w="1097280"/>
              </a:tblGrid>
              <a:tr h="566928">
                <a:tc>
                  <a:txBody>
                    <a:bodyPr/>
                    <a:lstStyle/>
                    <a:p>
                      <a:pPr rtl="1" algn="r" indent="0" marL="0">
                        <a:buNone/>
                      </a:pPr>
                      <a:r>
                        <a:rPr lang="ar-IQ" altLang="en-US" sz="1500" b="1" dirty="0">
                          <a:solidFill>
                            <a:srgbClr val="FFFFFF"/>
                          </a:solidFill>
                        </a:rPr>
                        <a:t>الجهة المسؤولة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2A314D"/>
                    </a:solidFill>
                  </a:tcPr>
                </a:tc>
                <a:tc>
                  <a:txBody>
                    <a:bodyPr/>
                    <a:lstStyle/>
                    <a:p>
                      <a:pPr rtl="1" algn="r" indent="0" marL="0">
                        <a:buNone/>
                      </a:pPr>
                      <a:r>
                        <a:rPr lang="ar-IQ" altLang="en-US" sz="1500" b="1" dirty="0">
                          <a:solidFill>
                            <a:srgbClr val="FFFFFF"/>
                          </a:solidFill>
                        </a:rPr>
                        <a:t>الخطوة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2A314D"/>
                    </a:solidFill>
                  </a:tcPr>
                </a:tc>
                <a:tc>
                  <a:txBody>
                    <a:bodyPr/>
                    <a:lstStyle/>
                    <a:p>
                      <a:pPr rtl="1" algn="r" indent="0" marL="0">
                        <a:buNone/>
                      </a:pPr>
                      <a:r>
                        <a:rPr lang="ar-IQ" altLang="en-US" sz="1500" b="1" dirty="0">
                          <a:solidFill>
                            <a:srgbClr val="FFFFFF"/>
                          </a:solidFill>
                        </a:rPr>
                        <a:t>#</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2A314D"/>
                    </a:solidFill>
                  </a:tcPr>
                </a:tc>
              </a:tr>
              <a:tr h="566928">
                <a:tc>
                  <a:txBody>
                    <a:bodyPr/>
                    <a:lstStyle/>
                    <a:p>
                      <a:pPr rtl="1" algn="r" indent="0" marL="0">
                        <a:buNone/>
                      </a:pPr>
                      <a:r>
                        <a:rPr lang="ar-IQ" altLang="en-US" sz="1500" dirty="0">
                          <a:solidFill>
                            <a:srgbClr val="2A314D"/>
                          </a:solidFill>
                        </a:rPr>
                        <a:t>الدائرة القانونية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500" dirty="0">
                          <a:solidFill>
                            <a:srgbClr val="2A314D"/>
                          </a:solidFill>
                        </a:rPr>
                        <a:t>إدخال قواعد المدد القانونية لكل نوع مخالفة مع سندها</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ctr" indent="0" marL="0">
                        <a:buNone/>
                      </a:pPr>
                      <a:r>
                        <a:rPr lang="ar-IQ" altLang="en-US" sz="1500" b="1" dirty="0">
                          <a:solidFill>
                            <a:srgbClr val="B4560A"/>
                          </a:solidFill>
                        </a:rPr>
                        <a:t>1</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566928">
                <a:tc>
                  <a:txBody>
                    <a:bodyPr/>
                    <a:lstStyle/>
                    <a:p>
                      <a:pPr rtl="1" algn="r" indent="0" marL="0">
                        <a:buNone/>
                      </a:pPr>
                      <a:r>
                        <a:rPr lang="ar-IQ" altLang="en-US" sz="1500" dirty="0">
                          <a:solidFill>
                            <a:srgbClr val="2A314D"/>
                          </a:solidFill>
                        </a:rPr>
                        <a:t>الدائرة القانونية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500" dirty="0">
                          <a:solidFill>
                            <a:srgbClr val="2A314D"/>
                          </a:solidFill>
                        </a:rPr>
                        <a:t>اعتماد قوالب الإنذار والكتب الرسمية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ctr" indent="0" marL="0">
                        <a:buNone/>
                      </a:pPr>
                      <a:r>
                        <a:rPr lang="ar-IQ" altLang="en-US" sz="1500" b="1" dirty="0">
                          <a:solidFill>
                            <a:srgbClr val="B4560A"/>
                          </a:solidFill>
                        </a:rPr>
                        <a:t>2</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r h="566928">
                <a:tc>
                  <a:txBody>
                    <a:bodyPr/>
                    <a:lstStyle/>
                    <a:p>
                      <a:pPr rtl="1" algn="r" indent="0" marL="0">
                        <a:buNone/>
                      </a:pPr>
                      <a:r>
                        <a:rPr lang="ar-IQ" altLang="en-US" sz="1500" dirty="0">
                          <a:solidFill>
                            <a:srgbClr val="2A314D"/>
                          </a:solidFill>
                        </a:rPr>
                        <a:t>تقنية المعلومات</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500" dirty="0">
                          <a:solidFill>
                            <a:srgbClr val="2A314D"/>
                          </a:solidFill>
                        </a:rPr>
                        <a:t>حسم الاستضافة: سحابية في فرانكفورت أم خادم الهيئة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ctr" indent="0" marL="0">
                        <a:buNone/>
                      </a:pPr>
                      <a:r>
                        <a:rPr lang="ar-IQ" altLang="en-US" sz="1500" b="1" dirty="0">
                          <a:solidFill>
                            <a:srgbClr val="B4560A"/>
                          </a:solidFill>
                        </a:rPr>
                        <a:t>3</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566928">
                <a:tc>
                  <a:txBody>
                    <a:bodyPr/>
                    <a:lstStyle/>
                    <a:p>
                      <a:pPr rtl="1" algn="r" indent="0" marL="0">
                        <a:buNone/>
                      </a:pPr>
                      <a:r>
                        <a:rPr lang="ar-IQ" altLang="en-US" sz="1500" dirty="0">
                          <a:solidFill>
                            <a:srgbClr val="2A314D"/>
                          </a:solidFill>
                        </a:rPr>
                        <a:t>مدير النظام</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500" dirty="0">
                          <a:solidFill>
                            <a:srgbClr val="2A314D"/>
                          </a:solidFill>
                        </a:rPr>
                        <a:t>حسابات الموظفين وأدوارهم ونطاقاتهم</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ctr" indent="0" marL="0">
                        <a:buNone/>
                      </a:pPr>
                      <a:r>
                        <a:rPr lang="ar-IQ" altLang="en-US" sz="1500" b="1" dirty="0">
                          <a:solidFill>
                            <a:srgbClr val="B4560A"/>
                          </a:solidFill>
                        </a:rPr>
                        <a:t>4</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r h="566928">
                <a:tc>
                  <a:txBody>
                    <a:bodyPr/>
                    <a:lstStyle/>
                    <a:p>
                      <a:pPr rtl="1" algn="r" indent="0" marL="0">
                        <a:buNone/>
                      </a:pPr>
                      <a:r>
                        <a:rPr lang="ar-IQ" altLang="en-US" sz="1500" dirty="0">
                          <a:solidFill>
                            <a:srgbClr val="2A314D"/>
                          </a:solidFill>
                        </a:rPr>
                        <a:t>مدير النظام</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r" indent="0" marL="0">
                        <a:buNone/>
                      </a:pPr>
                      <a:r>
                        <a:rPr lang="ar-IQ" altLang="en-US" sz="1500" dirty="0">
                          <a:solidFill>
                            <a:srgbClr val="2A314D"/>
                          </a:solidFill>
                        </a:rPr>
                        <a:t>حذف البيانات التجريبية وتعطيل حساباتها</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c>
                  <a:txBody>
                    <a:bodyPr/>
                    <a:lstStyle/>
                    <a:p>
                      <a:pPr rtl="1" algn="ctr" indent="0" marL="0">
                        <a:buNone/>
                      </a:pPr>
                      <a:r>
                        <a:rPr lang="ar-IQ" altLang="en-US" sz="1500" b="1" dirty="0">
                          <a:solidFill>
                            <a:srgbClr val="B4560A"/>
                          </a:solidFill>
                        </a:rPr>
                        <a:t>5</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FFFFF"/>
                    </a:solidFill>
                  </a:tcPr>
                </a:tc>
              </a:tr>
              <a:tr h="566928">
                <a:tc>
                  <a:txBody>
                    <a:bodyPr/>
                    <a:lstStyle/>
                    <a:p>
                      <a:pPr rtl="1" algn="r" indent="0" marL="0">
                        <a:buNone/>
                      </a:pPr>
                      <a:r>
                        <a:rPr lang="ar-IQ" altLang="en-US" sz="1500" dirty="0">
                          <a:solidFill>
                            <a:srgbClr val="2A314D"/>
                          </a:solidFill>
                        </a:rPr>
                        <a:t>تقنية المعلومات</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r" indent="0" marL="0">
                        <a:buNone/>
                      </a:pPr>
                      <a:r>
                        <a:rPr lang="ar-IQ" altLang="en-US" sz="1500" dirty="0">
                          <a:solidFill>
                            <a:srgbClr val="2A314D"/>
                          </a:solidFill>
                        </a:rPr>
                        <a:t>تقييد الوصول وتفعيل المصادقة الثنائية</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c>
                  <a:txBody>
                    <a:bodyPr/>
                    <a:lstStyle/>
                    <a:p>
                      <a:pPr rtl="1" algn="ctr" indent="0" marL="0">
                        <a:buNone/>
                      </a:pPr>
                      <a:r>
                        <a:rPr lang="ar-IQ" altLang="en-US" sz="1500" b="1" dirty="0">
                          <a:solidFill>
                            <a:srgbClr val="B4560A"/>
                          </a:solidFill>
                        </a:rPr>
                        <a:t>6</a:t>
                      </a:r>
                      <a:endParaRPr lang="ar-IQ" sz="1500" dirty="0"/>
                    </a:p>
                  </a:txBody>
                  <a:tcPr marL="137160" marR="137160" marT="54864" marB="54864" anchor="ctr">
                    <a:lnL w="6350" cap="flat" cmpd="sng" algn="ctr">
                      <a:solidFill>
                        <a:srgbClr val="D8DBE2"/>
                      </a:solidFill>
                      <a:prstDash val="solid"/>
                      <a:round/>
                      <a:headEnd type="none" w="med" len="med"/>
                      <a:tailEnd type="none" w="med" len="med"/>
                    </a:lnL>
                    <a:lnR w="6350" cap="flat" cmpd="sng" algn="ctr">
                      <a:solidFill>
                        <a:srgbClr val="D8DBE2"/>
                      </a:solidFill>
                      <a:prstDash val="solid"/>
                      <a:round/>
                      <a:headEnd type="none" w="med" len="med"/>
                      <a:tailEnd type="none" w="med" len="med"/>
                    </a:lnR>
                    <a:lnT w="6350" cap="flat" cmpd="sng" algn="ctr">
                      <a:solidFill>
                        <a:srgbClr val="D8DBE2"/>
                      </a:solidFill>
                      <a:prstDash val="solid"/>
                      <a:round/>
                      <a:headEnd type="none" w="med" len="med"/>
                      <a:tailEnd type="none" w="med" len="med"/>
                    </a:lnT>
                    <a:lnB w="6350" cap="flat" cmpd="sng" algn="ctr">
                      <a:solidFill>
                        <a:srgbClr val="D8DBE2"/>
                      </a:solidFill>
                      <a:prstDash val="solid"/>
                      <a:round/>
                      <a:headEnd type="none" w="med" len="med"/>
                      <a:tailEnd type="none" w="med" len="med"/>
                    </a:lnB>
                    <a:solidFill>
                      <a:srgbClr val="F2F2F2"/>
                    </a:solidFill>
                  </a:tcPr>
                </a:tc>
              </a:tr>
            </a:tbl>
          </a:graphicData>
        </a:graphic>
      </p:graphicFrame>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06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45775" cy="594360"/>
          </a:xfrm>
          <a:prstGeom prst="rect">
            <a:avLst/>
          </a:prstGeom>
          <a:noFill/>
          <a:ln/>
        </p:spPr>
        <p:txBody>
          <a:bodyPr wrap="square" lIns="0" tIns="0" rIns="0" bIns="0" rtlCol="0" anchor="ctr"/>
          <a:lstStyle/>
          <a:p>
            <a:pPr rtl="1" algn="r" indent="0" marL="0">
              <a:buNone/>
            </a:pPr>
            <a:r>
              <a:rPr lang="ar-IQ" altLang="en-US" sz="3000" b="1" dirty="0">
                <a:solidFill>
                  <a:schemeClr val="bg1"/>
                </a:solidFill>
              </a:rPr>
              <a:t>أربعة قرارات للانتقال إلى التشغيل</a:t>
            </a:r>
            <a:endParaRPr lang="ar-IQ" sz="3000" dirty="0"/>
          </a:p>
        </p:txBody>
      </p:sp>
      <p:sp>
        <p:nvSpPr>
          <p:cNvPr id="3" name="Text 1"/>
          <p:cNvSpPr/>
          <p:nvPr>
            <p:ph idx="103" type="body" hasCustomPrompt="1"/>
          </p:nvPr>
        </p:nvSpPr>
        <p:spPr>
          <a:xfrm>
            <a:off x="548640" y="914400"/>
            <a:ext cx="10545775" cy="320040"/>
          </a:xfrm>
          <a:prstGeom prst="rect">
            <a:avLst/>
          </a:prstGeom>
          <a:noFill/>
          <a:ln/>
        </p:spPr>
        <p:txBody>
          <a:bodyPr wrap="square" lIns="0" tIns="0" rIns="0" bIns="0" rtlCol="0"/>
          <a:lstStyle/>
          <a:p>
            <a:pPr rtl="1" algn="r" indent="0" marL="0">
              <a:buNone/>
            </a:pPr>
            <a:r>
              <a:rPr lang="ar-IQ" altLang="en-US" sz="1300" dirty="0">
                <a:solidFill>
                  <a:schemeClr val="accent3"/>
                </a:solidFill>
              </a:rPr>
              <a:t>المطلوب من الإدارة العليا</a:t>
            </a:r>
            <a:endParaRPr lang="ar-IQ" sz="1300" dirty="0"/>
          </a:p>
        </p:txBody>
      </p:sp>
      <p:sp>
        <p:nvSpPr>
          <p:cNvPr id="4" name="decision-num-1"/>
          <p:cNvSpPr/>
          <p:nvPr/>
        </p:nvSpPr>
        <p:spPr>
          <a:xfrm>
            <a:off x="10957255" y="1645920"/>
            <a:ext cx="685800" cy="685800"/>
          </a:xfrm>
          <a:prstGeom prst="ellipse">
            <a:avLst/>
          </a:prstGeom>
          <a:solidFill>
            <a:schemeClr val="accent1"/>
          </a:solidFill>
          <a:ln/>
        </p:spPr>
      </p:sp>
      <p:sp>
        <p:nvSpPr>
          <p:cNvPr id="5" name="Text 3"/>
          <p:cNvSpPr txBox="1"/>
          <p:nvPr/>
        </p:nvSpPr>
        <p:spPr>
          <a:xfrm>
            <a:off x="10957255" y="1645920"/>
            <a:ext cx="685800" cy="685800"/>
          </a:xfrm>
          <a:prstGeom prst="rect">
            <a:avLst/>
          </a:prstGeom>
          <a:noFill/>
          <a:ln/>
        </p:spPr>
        <p:txBody>
          <a:bodyPr wrap="square" lIns="0" tIns="0" rIns="0" bIns="0" rtlCol="0" anchor="ctr"/>
          <a:lstStyle/>
          <a:p>
            <a:pPr rtl="1" algn="ctr" indent="0" marL="0">
              <a:buNone/>
            </a:pPr>
            <a:r>
              <a:rPr lang="ar-IQ" altLang="en-US" sz="2400" b="1" dirty="0">
                <a:solidFill>
                  <a:schemeClr val="tx1"/>
                </a:solidFill>
              </a:rPr>
              <a:t>1</a:t>
            </a:r>
            <a:endParaRPr lang="ar-IQ" sz="2400" dirty="0"/>
          </a:p>
        </p:txBody>
      </p:sp>
      <p:sp>
        <p:nvSpPr>
          <p:cNvPr id="6" name="Text 4"/>
          <p:cNvSpPr txBox="1"/>
          <p:nvPr/>
        </p:nvSpPr>
        <p:spPr>
          <a:xfrm>
            <a:off x="548640" y="1645920"/>
            <a:ext cx="10134295" cy="685800"/>
          </a:xfrm>
          <a:prstGeom prst="rect">
            <a:avLst/>
          </a:prstGeom>
          <a:noFill/>
          <a:ln/>
        </p:spPr>
        <p:txBody>
          <a:bodyPr wrap="square" lIns="0" tIns="0" rIns="0" bIns="0" rtlCol="0" anchor="ctr"/>
          <a:lstStyle/>
          <a:p>
            <a:pPr rtl="1" algn="r" indent="0" marL="0">
              <a:buNone/>
            </a:pPr>
            <a:r>
              <a:rPr lang="ar-IQ" altLang="en-US" sz="1900" b="1" dirty="0">
                <a:solidFill>
                  <a:schemeClr val="bg1"/>
                </a:solidFill>
              </a:rPr>
              <a:t>اعتماد مكان الاستضافة: </a:t>
            </a:r>
            <a:pPr rtl="1" algn="r" indent="0" marL="0">
              <a:buNone/>
            </a:pPr>
            <a:r>
              <a:rPr lang="ar-IQ" altLang="en-US" sz="1900" dirty="0">
                <a:solidFill>
                  <a:schemeClr val="bg1"/>
                </a:solidFill>
              </a:rPr>
              <a:t>السحابة الحالية بعد نقلها إلى فرانكفورت، أم خادم الهيئة الداخلي.</a:t>
            </a:r>
            <a:endParaRPr lang="ar-IQ" sz="1900" dirty="0"/>
          </a:p>
        </p:txBody>
      </p:sp>
      <p:sp>
        <p:nvSpPr>
          <p:cNvPr id="7" name="decision-num-2"/>
          <p:cNvSpPr/>
          <p:nvPr/>
        </p:nvSpPr>
        <p:spPr>
          <a:xfrm>
            <a:off x="10957255" y="2633472"/>
            <a:ext cx="685800" cy="685800"/>
          </a:xfrm>
          <a:prstGeom prst="ellipse">
            <a:avLst/>
          </a:prstGeom>
          <a:solidFill>
            <a:schemeClr val="accent1"/>
          </a:solidFill>
          <a:ln/>
        </p:spPr>
      </p:sp>
      <p:sp>
        <p:nvSpPr>
          <p:cNvPr id="8" name="Text 6"/>
          <p:cNvSpPr txBox="1"/>
          <p:nvPr/>
        </p:nvSpPr>
        <p:spPr>
          <a:xfrm>
            <a:off x="10957255" y="2633472"/>
            <a:ext cx="685800" cy="685800"/>
          </a:xfrm>
          <a:prstGeom prst="rect">
            <a:avLst/>
          </a:prstGeom>
          <a:noFill/>
          <a:ln/>
        </p:spPr>
        <p:txBody>
          <a:bodyPr wrap="square" lIns="0" tIns="0" rIns="0" bIns="0" rtlCol="0" anchor="ctr"/>
          <a:lstStyle/>
          <a:p>
            <a:pPr rtl="1" algn="ctr" indent="0" marL="0">
              <a:buNone/>
            </a:pPr>
            <a:r>
              <a:rPr lang="ar-IQ" altLang="en-US" sz="2400" b="1" dirty="0">
                <a:solidFill>
                  <a:schemeClr val="tx1"/>
                </a:solidFill>
              </a:rPr>
              <a:t>2</a:t>
            </a:r>
            <a:endParaRPr lang="ar-IQ" sz="2400" dirty="0"/>
          </a:p>
        </p:txBody>
      </p:sp>
      <p:sp>
        <p:nvSpPr>
          <p:cNvPr id="9" name="Text 7"/>
          <p:cNvSpPr txBox="1"/>
          <p:nvPr/>
        </p:nvSpPr>
        <p:spPr>
          <a:xfrm>
            <a:off x="548640" y="2633472"/>
            <a:ext cx="10134295" cy="685800"/>
          </a:xfrm>
          <a:prstGeom prst="rect">
            <a:avLst/>
          </a:prstGeom>
          <a:noFill/>
          <a:ln/>
        </p:spPr>
        <p:txBody>
          <a:bodyPr wrap="square" lIns="0" tIns="0" rIns="0" bIns="0" rtlCol="0" anchor="ctr"/>
          <a:lstStyle/>
          <a:p>
            <a:pPr rtl="1" algn="r" indent="0" marL="0">
              <a:buNone/>
            </a:pPr>
            <a:r>
              <a:rPr lang="ar-IQ" altLang="en-US" sz="1900" b="1" dirty="0">
                <a:solidFill>
                  <a:schemeClr val="bg1"/>
                </a:solidFill>
              </a:rPr>
              <a:t>تكليف الدائرة القانونية </a:t>
            </a:r>
            <a:pPr rtl="1" algn="r" indent="0" marL="0">
              <a:buNone/>
            </a:pPr>
            <a:r>
              <a:rPr lang="ar-IQ" altLang="en-US" sz="1900" dirty="0">
                <a:solidFill>
                  <a:schemeClr val="bg1"/>
                </a:solidFill>
              </a:rPr>
              <a:t>بإدخال قواعد المدد وسندها واعتماد القوالب.</a:t>
            </a:r>
            <a:endParaRPr lang="ar-IQ" sz="1900" dirty="0"/>
          </a:p>
        </p:txBody>
      </p:sp>
      <p:sp>
        <p:nvSpPr>
          <p:cNvPr id="10" name="decision-num-3"/>
          <p:cNvSpPr/>
          <p:nvPr/>
        </p:nvSpPr>
        <p:spPr>
          <a:xfrm>
            <a:off x="10957255" y="3621024"/>
            <a:ext cx="685800" cy="685800"/>
          </a:xfrm>
          <a:prstGeom prst="ellipse">
            <a:avLst/>
          </a:prstGeom>
          <a:solidFill>
            <a:schemeClr val="accent1"/>
          </a:solidFill>
          <a:ln/>
        </p:spPr>
      </p:sp>
      <p:sp>
        <p:nvSpPr>
          <p:cNvPr id="11" name="Text 9"/>
          <p:cNvSpPr txBox="1"/>
          <p:nvPr/>
        </p:nvSpPr>
        <p:spPr>
          <a:xfrm>
            <a:off x="10957255" y="3621024"/>
            <a:ext cx="685800" cy="685800"/>
          </a:xfrm>
          <a:prstGeom prst="rect">
            <a:avLst/>
          </a:prstGeom>
          <a:noFill/>
          <a:ln/>
        </p:spPr>
        <p:txBody>
          <a:bodyPr wrap="square" lIns="0" tIns="0" rIns="0" bIns="0" rtlCol="0" anchor="ctr"/>
          <a:lstStyle/>
          <a:p>
            <a:pPr rtl="1" algn="ctr" indent="0" marL="0">
              <a:buNone/>
            </a:pPr>
            <a:r>
              <a:rPr lang="ar-IQ" altLang="en-US" sz="2400" b="1" dirty="0">
                <a:solidFill>
                  <a:schemeClr val="tx1"/>
                </a:solidFill>
              </a:rPr>
              <a:t>3</a:t>
            </a:r>
            <a:endParaRPr lang="ar-IQ" sz="2400" dirty="0"/>
          </a:p>
        </p:txBody>
      </p:sp>
      <p:sp>
        <p:nvSpPr>
          <p:cNvPr id="12" name="Text 10"/>
          <p:cNvSpPr txBox="1"/>
          <p:nvPr/>
        </p:nvSpPr>
        <p:spPr>
          <a:xfrm>
            <a:off x="548640" y="3621024"/>
            <a:ext cx="10134295" cy="685800"/>
          </a:xfrm>
          <a:prstGeom prst="rect">
            <a:avLst/>
          </a:prstGeom>
          <a:noFill/>
          <a:ln/>
        </p:spPr>
        <p:txBody>
          <a:bodyPr wrap="square" lIns="0" tIns="0" rIns="0" bIns="0" rtlCol="0" anchor="ctr"/>
          <a:lstStyle/>
          <a:p>
            <a:pPr rtl="1" algn="r" indent="0" marL="0">
              <a:buNone/>
            </a:pPr>
            <a:r>
              <a:rPr lang="ar-IQ" altLang="en-US" sz="1900" b="1" dirty="0">
                <a:solidFill>
                  <a:schemeClr val="bg1"/>
                </a:solidFill>
              </a:rPr>
              <a:t>تجربة تشغيلية </a:t>
            </a:r>
            <a:pPr rtl="1" algn="r" indent="0" marL="0">
              <a:buNone/>
            </a:pPr>
            <a:r>
              <a:rPr lang="ar-IQ" altLang="en-US" sz="1900" dirty="0">
                <a:solidFill>
                  <a:schemeClr val="bg1"/>
                </a:solidFill>
              </a:rPr>
              <a:t>في مكتب ذي قار لمدة شهر واحد قبل التعميم على المحافظات.</a:t>
            </a:r>
            <a:endParaRPr lang="ar-IQ" sz="1900" dirty="0"/>
          </a:p>
        </p:txBody>
      </p:sp>
      <p:sp>
        <p:nvSpPr>
          <p:cNvPr id="13" name="decision-num-4"/>
          <p:cNvSpPr/>
          <p:nvPr/>
        </p:nvSpPr>
        <p:spPr>
          <a:xfrm>
            <a:off x="10957255" y="4608576"/>
            <a:ext cx="685800" cy="685800"/>
          </a:xfrm>
          <a:prstGeom prst="ellipse">
            <a:avLst/>
          </a:prstGeom>
          <a:solidFill>
            <a:schemeClr val="accent1"/>
          </a:solidFill>
          <a:ln/>
        </p:spPr>
      </p:sp>
      <p:sp>
        <p:nvSpPr>
          <p:cNvPr id="14" name="Text 12"/>
          <p:cNvSpPr txBox="1"/>
          <p:nvPr/>
        </p:nvSpPr>
        <p:spPr>
          <a:xfrm>
            <a:off x="10957255" y="4608576"/>
            <a:ext cx="685800" cy="685800"/>
          </a:xfrm>
          <a:prstGeom prst="rect">
            <a:avLst/>
          </a:prstGeom>
          <a:noFill/>
          <a:ln/>
        </p:spPr>
        <p:txBody>
          <a:bodyPr wrap="square" lIns="0" tIns="0" rIns="0" bIns="0" rtlCol="0" anchor="ctr"/>
          <a:lstStyle/>
          <a:p>
            <a:pPr rtl="1" algn="ctr" indent="0" marL="0">
              <a:buNone/>
            </a:pPr>
            <a:r>
              <a:rPr lang="ar-IQ" altLang="en-US" sz="2400" b="1" dirty="0">
                <a:solidFill>
                  <a:schemeClr val="tx1"/>
                </a:solidFill>
              </a:rPr>
              <a:t>4</a:t>
            </a:r>
            <a:endParaRPr lang="ar-IQ" sz="2400" dirty="0"/>
          </a:p>
        </p:txBody>
      </p:sp>
      <p:sp>
        <p:nvSpPr>
          <p:cNvPr id="15" name="Text 13"/>
          <p:cNvSpPr txBox="1"/>
          <p:nvPr/>
        </p:nvSpPr>
        <p:spPr>
          <a:xfrm>
            <a:off x="548640" y="4608576"/>
            <a:ext cx="10134295" cy="685800"/>
          </a:xfrm>
          <a:prstGeom prst="rect">
            <a:avLst/>
          </a:prstGeom>
          <a:noFill/>
          <a:ln/>
        </p:spPr>
        <p:txBody>
          <a:bodyPr wrap="square" lIns="0" tIns="0" rIns="0" bIns="0" rtlCol="0" anchor="ctr"/>
          <a:lstStyle/>
          <a:p>
            <a:pPr rtl="1" algn="r" indent="0" marL="0">
              <a:buNone/>
            </a:pPr>
            <a:r>
              <a:rPr lang="ar-IQ" altLang="en-US" sz="1900" b="1" dirty="0">
                <a:solidFill>
                  <a:schemeClr val="bg1"/>
                </a:solidFill>
              </a:rPr>
              <a:t>تسمية مسؤول المنصة </a:t>
            </a:r>
            <a:pPr rtl="1" algn="r" indent="0" marL="0">
              <a:buNone/>
            </a:pPr>
            <a:r>
              <a:rPr lang="ar-IQ" altLang="en-US" sz="1900" dirty="0">
                <a:solidFill>
                  <a:schemeClr val="bg1"/>
                </a:solidFill>
              </a:rPr>
              <a:t>ومدير النظام من الجهة المختصة.</a:t>
            </a:r>
            <a:endParaRPr lang="ar-IQ" sz="1900" dirty="0"/>
          </a:p>
        </p:txBody>
      </p:sp>
      <p:sp>
        <p:nvSpPr>
          <p:cNvPr id="16" name="Text 14"/>
          <p:cNvSpPr txBox="1"/>
          <p:nvPr/>
        </p:nvSpPr>
        <p:spPr>
          <a:xfrm>
            <a:off x="548640" y="5760720"/>
            <a:ext cx="11094415" cy="411480"/>
          </a:xfrm>
          <a:prstGeom prst="rect">
            <a:avLst/>
          </a:prstGeom>
          <a:noFill/>
          <a:ln/>
        </p:spPr>
        <p:txBody>
          <a:bodyPr wrap="square" lIns="0" tIns="0" rIns="0" bIns="0" rtlCol="0" anchor="t"/>
          <a:lstStyle/>
          <a:p>
            <a:pPr rtl="1" algn="r" indent="0" marL="0">
              <a:buNone/>
            </a:pPr>
            <a:r>
              <a:rPr lang="ar-IQ" altLang="en-US" sz="1600" dirty="0">
                <a:solidFill>
                  <a:srgbClr val="D5D9E6"/>
                </a:solidFill>
              </a:rPr>
              <a:t>للتجربة الآن: </a:t>
            </a:r>
            <a:pPr rtl="1" algn="r" indent="0" marL="0">
              <a:buNone/>
            </a:pPr>
            <a:r>
              <a:rPr lang="ar-IQ" altLang="en-US" sz="1600" u="sng" dirty="0">
                <a:solidFill>
                  <a:srgbClr val="F47505"/>
                </a:solidFill>
                <a:hlinkClick r:id="rId1" invalidUrl="" action="" tgtFrame="" tooltip="" history="1" highlightClick="0" endSnd="0">
                  <a:extLst>
                    <a:ext uri="{A12FA001-AC4F-418D-AE19-62706E023703}">
                      <ahyp:hlinkClr xmlns:ahyp="http://schemas.microsoft.com/office/drawing/2018/hyperlinkcolor" val="tx"/>
                    </a:ext>
                  </a:extLst>
                </a:hlinkClick>
              </a:rPr>
              <a:t>https://my-platform-0l1t.netlify.app</a:t>
            </a:r>
            <a:endParaRPr lang="ar-IQ" sz="16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D5D9E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MC Violations">
  <a:themeElements>
    <a:clrScheme name="CMC Violations">
      <a:dk1>
        <a:srgbClr val="2A314D"/>
      </a:dk1>
      <a:lt1>
        <a:srgbClr val="FFFFFF"/>
      </a:lt1>
      <a:dk2>
        <a:srgbClr val="1F2438"/>
      </a:dk2>
      <a:lt2>
        <a:srgbClr val="F2F2F2"/>
      </a:lt2>
      <a:accent1>
        <a:srgbClr val="F47505"/>
      </a:accent1>
      <a:accent2>
        <a:srgbClr val="4A5068"/>
      </a:accent2>
      <a:accent3>
        <a:srgbClr val="D8DBE2"/>
      </a:accent3>
      <a:accent4>
        <a:srgbClr val="B4560A"/>
      </a:accent4>
      <a:accent5>
        <a:srgbClr val="5A6070"/>
      </a:accent5>
      <a:accent6>
        <a:srgbClr val="ECEAE3"/>
      </a:accent6>
      <a:hlink>
        <a:srgbClr val="2A314D"/>
      </a:hlink>
      <a:folHlink>
        <a:srgbClr val="5A6070"/>
      </a:folHlink>
    </a:clrScheme>
    <a:fontScheme name="CMC Violatio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منصة إدارة المخالفات — عرض للإدارة العليا</dc:title>
  <dc:subject>PptxGenJS Presentation</dc:subject>
  <dc:creator>هيئة الإعلام والاتصالات</dc:creator>
  <cp:lastModifiedBy>هيئة الإعلام والاتصالات</cp:lastModifiedBy>
  <cp:revision>1</cp:revision>
  <dcterms:created xsi:type="dcterms:W3CDTF">2026-10-27T08:27:31Z</dcterms:created>
  <dcterms:modified xsi:type="dcterms:W3CDTF">2026-10-27T08:27:31Z</dcterms:modified>
</cp:coreProperties>
</file>